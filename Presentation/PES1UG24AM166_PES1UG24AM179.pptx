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8827AF-0E16-4E07-BC47-9B74C1F3DEC6}" v="30" dt="2026-10-13T07:20:01.9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BDCB3F3-D686-47DA-852D-2861F4669221}" type="datetimeFigureOut">
              <a:t>10/13/2026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73500477-27F8-4F7B-B519-47A0BE305889}" type="slidenum">
              <a:t>‹#›</a:t>
            </a:fld>
            <a:endParaRPr lang="en-US"/>
          </a:p>
        </p:txBody>
      </p:sp>
    </p:spTree>
    <p:extLst>
      <p:ext uri="{BB962C8B-B14F-4D97-AF65-F5344CB8AC3E}">
        <p14:creationId xmlns:p14="http://schemas.microsoft.com/office/powerpoint/2010/main" val="1948522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“Our mini-project looks at whether earthquake data can help identify volcanic eruptive activity at Kīlauea in Hawaii. We reproduce two research tasks: identifying whether an eruption is underway, and estimating time until the next eruption. This is a retrospective experiment on historical records, not a real-world warning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 targets distinctly. Classification is a yes/no question about the time of an earthquake. Regression estimates a number of days until an eruption starts. An important note is that these are retrospective labels created from historical eruption episodes. The output should not be described as a guaranteed warning.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data simply: the raw earthquake catalogue contained 6,485 records; spatial filtering kept 3,764 earthquakes in the East Rift Zone, matching the reference paper. The eruption chronology contains 49 episode rows. Each earthquake is represented by seven model inputs: location, magnitude, depth, and earthquake counts in the last one, seven and thirty days. Only about 22% of retained earthquakes are labelled as erupting, so the dataset is imbalanced.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first the earthquake catalogue is cleaned and filtered; then the team creates event-rate features and labels using the eruption chronology. Models are tuned on the development set, and final metrics are measured on a held-out test set. Logistic Regression is used only for classification. K-Means, Random Forest and a neural network are explored for both tasks. Explain that AUROC and Kappa are used because plain accuracy can be misleading when most records are non-erupting.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Random Forest has the highest AUROC of 0.83 on the random held-out test split. AUROC measures how well the model ranks eruption versus repose examples; 0.5 is random ranking and 1.0 is perfect ranking. But ranking performance does not mean it catches most eruptions at the chosen threshold. Recall is 0.32: of 84 erupting cases in the test set, it correctly found 27 and missed 57. It also produced 9 false alarms. This is why we should not describe it as ready for real warning use.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regression, Random Forest has the lowest test RMSE at about 10.1 days and the highest R-squared at 0.47 among these models. K-Means performs poorly here, with negative R-squared, meaning it is worse than a simple mean prediction on this test split. Feature importance indicates the count of earthquakes over the previous 30 days is the strongest input, at about 41%. Emphasize that a roughly ten-day error is still large, and feature importance is not proof of causation.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about validation. Under random folds, AUROC is 0.83 and regression R-squared is 0.39. When validation folds are grouped by calendar month, AUROC falls to 0.58, Kappa falls to 0.03, and R-squared becomes negative. The report attributes this to similar earthquake swarms and labels appearing across random train/test folds. The stricter temporal check suggests that the model may not generalize well to genuinely later time periods. This caveat is central to the conclusion.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that Random Forest had the strongest metrics on the random held-out split and the 30-day event rate was the most influential feature in regression. However, the month-grouped experiment drops close to chance for classification and below zero for regression fit. So the result is a useful ML investigation, not evidence that earthquakes alone can reliably predict future eruptions. In the live demo, show data loading, feature/label creation, model results, and then explicitly mention the grouped validation limitation. Further work should use stronger time-based splits and additional signals such as ground deformation and gas emissions, as suggested by the reference paper.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if someone asks for sources. The original research paper provides the two prediction tasks and benchmark study. The earthquake catalogue is attributed to ANSS via WOVOdat, and eruption dates are from the Hawaii Center for Volcanology chronology. The reported evaluation numbers come from the supplied results package recorded as a Colab run on 13 October 2026. Be transparent that this presentation is based on the supplied result record rather than a run independently reproduced during slide preparation.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LIGHT">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6A1"/>
          </a:solidFill>
          <a:ln w="12700">
            <a:solidFill>
              <a:srgbClr val="16A6A1">
                <a:alpha val="0"/>
              </a:srgbClr>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STER_DARK">
    <p:bg>
      <p:bgPr>
        <a:solidFill>
          <a:srgbClr val="101A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6A6A1"/>
          </a:solidFill>
          <a:ln w="12700">
            <a:solidFill>
              <a:srgbClr val="16A6A1">
                <a:alpha val="0"/>
              </a:srgbClr>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052560" y="640080"/>
            <a:ext cx="2468880" cy="2468880"/>
          </a:xfrm>
          <a:prstGeom prst="ellipse">
            <a:avLst/>
          </a:prstGeom>
          <a:solidFill>
            <a:srgbClr val="172740"/>
          </a:solidFill>
          <a:ln w="12700">
            <a:solidFill>
              <a:srgbClr val="172740">
                <a:alpha val="0"/>
              </a:srgbClr>
            </a:solidFill>
            <a:prstDash val="solid"/>
          </a:ln>
        </p:spPr>
      </p:sp>
      <p:sp>
        <p:nvSpPr>
          <p:cNvPr id="3" name="Shape 1"/>
          <p:cNvSpPr/>
          <p:nvPr/>
        </p:nvSpPr>
        <p:spPr>
          <a:xfrm>
            <a:off x="9646920" y="1234440"/>
            <a:ext cx="1737360" cy="1737360"/>
          </a:xfrm>
          <a:prstGeom prst="ellipse">
            <a:avLst/>
          </a:prstGeom>
          <a:solidFill>
            <a:srgbClr val="1D314C"/>
          </a:solidFill>
          <a:ln w="12700">
            <a:solidFill>
              <a:srgbClr val="1D314C">
                <a:alpha val="0"/>
              </a:srgbClr>
            </a:solidFill>
            <a:prstDash val="solid"/>
          </a:ln>
        </p:spPr>
      </p:sp>
      <p:sp>
        <p:nvSpPr>
          <p:cNvPr id="4" name="Shape 2"/>
          <p:cNvSpPr/>
          <p:nvPr/>
        </p:nvSpPr>
        <p:spPr>
          <a:xfrm>
            <a:off x="10332720" y="1965960"/>
            <a:ext cx="960120" cy="960120"/>
          </a:xfrm>
          <a:prstGeom prst="ellipse">
            <a:avLst/>
          </a:prstGeom>
          <a:solidFill>
            <a:srgbClr val="244A5B"/>
          </a:solidFill>
          <a:ln w="12700">
            <a:solidFill>
              <a:srgbClr val="244A5B">
                <a:alpha val="0"/>
              </a:srgbClr>
            </a:solidFill>
            <a:prstDash val="solid"/>
          </a:ln>
        </p:spPr>
      </p:sp>
      <p:sp>
        <p:nvSpPr>
          <p:cNvPr id="5" name="Shape 3"/>
          <p:cNvSpPr/>
          <p:nvPr/>
        </p:nvSpPr>
        <p:spPr>
          <a:xfrm>
            <a:off x="6812280" y="3977640"/>
            <a:ext cx="365760" cy="0"/>
          </a:xfrm>
          <a:prstGeom prst="line">
            <a:avLst/>
          </a:prstGeom>
          <a:noFill/>
          <a:ln w="27940">
            <a:solidFill>
              <a:srgbClr val="16A6A1"/>
            </a:solidFill>
            <a:prstDash val="solid"/>
            <a:headEnd type="none"/>
            <a:tailEnd type="none"/>
          </a:ln>
        </p:spPr>
      </p:sp>
      <p:sp>
        <p:nvSpPr>
          <p:cNvPr id="6" name="Shape 4"/>
          <p:cNvSpPr/>
          <p:nvPr/>
        </p:nvSpPr>
        <p:spPr>
          <a:xfrm>
            <a:off x="7178040" y="3977640"/>
            <a:ext cx="228600" cy="0"/>
          </a:xfrm>
          <a:prstGeom prst="line">
            <a:avLst/>
          </a:prstGeom>
          <a:noFill/>
          <a:ln w="27940">
            <a:solidFill>
              <a:srgbClr val="16A6A1"/>
            </a:solidFill>
            <a:prstDash val="solid"/>
            <a:headEnd type="none"/>
            <a:tailEnd type="none"/>
          </a:ln>
        </p:spPr>
      </p:sp>
      <p:sp>
        <p:nvSpPr>
          <p:cNvPr id="7" name="Shape 5"/>
          <p:cNvSpPr/>
          <p:nvPr/>
        </p:nvSpPr>
        <p:spPr>
          <a:xfrm>
            <a:off x="7406640" y="3767328"/>
            <a:ext cx="192024" cy="548640"/>
          </a:xfrm>
          <a:prstGeom prst="line">
            <a:avLst/>
          </a:prstGeom>
          <a:noFill/>
          <a:ln w="27940">
            <a:solidFill>
              <a:srgbClr val="16A6A1"/>
            </a:solidFill>
            <a:prstDash val="solid"/>
            <a:headEnd type="none"/>
            <a:tailEnd type="none"/>
          </a:ln>
        </p:spPr>
      </p:sp>
      <p:sp>
        <p:nvSpPr>
          <p:cNvPr id="8" name="Shape 6"/>
          <p:cNvSpPr/>
          <p:nvPr/>
        </p:nvSpPr>
        <p:spPr>
          <a:xfrm>
            <a:off x="7598664" y="4315968"/>
            <a:ext cx="219456" cy="0"/>
          </a:xfrm>
          <a:prstGeom prst="line">
            <a:avLst/>
          </a:prstGeom>
          <a:noFill/>
          <a:ln w="27940">
            <a:solidFill>
              <a:srgbClr val="16A6A1"/>
            </a:solidFill>
            <a:prstDash val="solid"/>
            <a:headEnd type="none"/>
            <a:tailEnd type="none"/>
          </a:ln>
        </p:spPr>
      </p:sp>
      <p:sp>
        <p:nvSpPr>
          <p:cNvPr id="9" name="Shape 7"/>
          <p:cNvSpPr/>
          <p:nvPr/>
        </p:nvSpPr>
        <p:spPr>
          <a:xfrm>
            <a:off x="7818120" y="2971800"/>
            <a:ext cx="246888" cy="1828800"/>
          </a:xfrm>
          <a:prstGeom prst="line">
            <a:avLst/>
          </a:prstGeom>
          <a:noFill/>
          <a:ln w="27940">
            <a:solidFill>
              <a:srgbClr val="F4C15D"/>
            </a:solidFill>
            <a:prstDash val="solid"/>
            <a:headEnd type="none"/>
            <a:tailEnd type="none"/>
          </a:ln>
        </p:spPr>
      </p:sp>
      <p:sp>
        <p:nvSpPr>
          <p:cNvPr id="10" name="Shape 8"/>
          <p:cNvSpPr/>
          <p:nvPr/>
        </p:nvSpPr>
        <p:spPr>
          <a:xfrm>
            <a:off x="8065008" y="4800600"/>
            <a:ext cx="274320" cy="0"/>
          </a:xfrm>
          <a:prstGeom prst="line">
            <a:avLst/>
          </a:prstGeom>
          <a:noFill/>
          <a:ln w="27940">
            <a:solidFill>
              <a:srgbClr val="16A6A1"/>
            </a:solidFill>
            <a:prstDash val="solid"/>
            <a:headEnd type="none"/>
            <a:tailEnd type="none"/>
          </a:ln>
        </p:spPr>
      </p:sp>
      <p:sp>
        <p:nvSpPr>
          <p:cNvPr id="11" name="Shape 9"/>
          <p:cNvSpPr/>
          <p:nvPr/>
        </p:nvSpPr>
        <p:spPr>
          <a:xfrm>
            <a:off x="8339328" y="3547872"/>
            <a:ext cx="274320" cy="612648"/>
          </a:xfrm>
          <a:prstGeom prst="line">
            <a:avLst/>
          </a:prstGeom>
          <a:noFill/>
          <a:ln w="27940">
            <a:solidFill>
              <a:srgbClr val="16A6A1"/>
            </a:solidFill>
            <a:prstDash val="solid"/>
            <a:headEnd type="none"/>
            <a:tailEnd type="none"/>
          </a:ln>
        </p:spPr>
      </p:sp>
      <p:sp>
        <p:nvSpPr>
          <p:cNvPr id="12" name="Shape 10"/>
          <p:cNvSpPr/>
          <p:nvPr/>
        </p:nvSpPr>
        <p:spPr>
          <a:xfrm>
            <a:off x="8613648" y="4160520"/>
            <a:ext cx="292608" cy="0"/>
          </a:xfrm>
          <a:prstGeom prst="line">
            <a:avLst/>
          </a:prstGeom>
          <a:noFill/>
          <a:ln w="27940">
            <a:solidFill>
              <a:srgbClr val="16A6A1"/>
            </a:solidFill>
            <a:prstDash val="solid"/>
            <a:headEnd type="none"/>
            <a:tailEnd type="none"/>
          </a:ln>
        </p:spPr>
      </p:sp>
      <p:sp>
        <p:nvSpPr>
          <p:cNvPr id="13" name="Shape 11"/>
          <p:cNvSpPr/>
          <p:nvPr/>
        </p:nvSpPr>
        <p:spPr>
          <a:xfrm>
            <a:off x="8906256" y="3822192"/>
            <a:ext cx="265176" cy="155448"/>
          </a:xfrm>
          <a:prstGeom prst="line">
            <a:avLst/>
          </a:prstGeom>
          <a:noFill/>
          <a:ln w="27940">
            <a:solidFill>
              <a:srgbClr val="16A6A1"/>
            </a:solidFill>
            <a:prstDash val="solid"/>
            <a:headEnd type="none"/>
            <a:tailEnd type="none"/>
          </a:ln>
        </p:spPr>
      </p:sp>
      <p:sp>
        <p:nvSpPr>
          <p:cNvPr id="14" name="Shape 12"/>
          <p:cNvSpPr/>
          <p:nvPr/>
        </p:nvSpPr>
        <p:spPr>
          <a:xfrm>
            <a:off x="9171432" y="3977640"/>
            <a:ext cx="338328" cy="0"/>
          </a:xfrm>
          <a:prstGeom prst="line">
            <a:avLst/>
          </a:prstGeom>
          <a:noFill/>
          <a:ln w="27940">
            <a:solidFill>
              <a:srgbClr val="16A6A1"/>
            </a:solidFill>
            <a:prstDash val="solid"/>
            <a:headEnd type="none"/>
            <a:tailEnd type="none"/>
          </a:ln>
        </p:spPr>
      </p:sp>
      <p:sp>
        <p:nvSpPr>
          <p:cNvPr id="15" name="Shape 13"/>
          <p:cNvSpPr/>
          <p:nvPr/>
        </p:nvSpPr>
        <p:spPr>
          <a:xfrm>
            <a:off x="9509760" y="3977640"/>
            <a:ext cx="274320" cy="0"/>
          </a:xfrm>
          <a:prstGeom prst="line">
            <a:avLst/>
          </a:prstGeom>
          <a:noFill/>
          <a:ln w="27940">
            <a:solidFill>
              <a:srgbClr val="16A6A1"/>
            </a:solidFill>
            <a:prstDash val="solid"/>
            <a:headEnd type="none"/>
            <a:tailEnd type="none"/>
          </a:ln>
        </p:spPr>
      </p:sp>
      <p:sp>
        <p:nvSpPr>
          <p:cNvPr id="16" name="Shape 14"/>
          <p:cNvSpPr/>
          <p:nvPr/>
        </p:nvSpPr>
        <p:spPr>
          <a:xfrm>
            <a:off x="9784080" y="3785616"/>
            <a:ext cx="228600" cy="475488"/>
          </a:xfrm>
          <a:prstGeom prst="line">
            <a:avLst/>
          </a:prstGeom>
          <a:noFill/>
          <a:ln w="27940">
            <a:solidFill>
              <a:srgbClr val="16A6A1"/>
            </a:solidFill>
            <a:prstDash val="solid"/>
            <a:headEnd type="none"/>
            <a:tailEnd type="none"/>
          </a:ln>
        </p:spPr>
      </p:sp>
      <p:sp>
        <p:nvSpPr>
          <p:cNvPr id="17" name="Shape 15"/>
          <p:cNvSpPr/>
          <p:nvPr/>
        </p:nvSpPr>
        <p:spPr>
          <a:xfrm>
            <a:off x="10012680" y="4261104"/>
            <a:ext cx="228600" cy="0"/>
          </a:xfrm>
          <a:prstGeom prst="line">
            <a:avLst/>
          </a:prstGeom>
          <a:noFill/>
          <a:ln w="27940">
            <a:solidFill>
              <a:srgbClr val="16A6A1"/>
            </a:solidFill>
            <a:prstDash val="solid"/>
            <a:headEnd type="none"/>
            <a:tailEnd type="none"/>
          </a:ln>
        </p:spPr>
      </p:sp>
      <p:sp>
        <p:nvSpPr>
          <p:cNvPr id="18" name="Shape 16"/>
          <p:cNvSpPr/>
          <p:nvPr/>
        </p:nvSpPr>
        <p:spPr>
          <a:xfrm>
            <a:off x="10241280" y="3456432"/>
            <a:ext cx="256032" cy="932688"/>
          </a:xfrm>
          <a:prstGeom prst="line">
            <a:avLst/>
          </a:prstGeom>
          <a:noFill/>
          <a:ln w="27940">
            <a:solidFill>
              <a:srgbClr val="16A6A1"/>
            </a:solidFill>
            <a:prstDash val="solid"/>
            <a:headEnd type="none"/>
            <a:tailEnd type="none"/>
          </a:ln>
        </p:spPr>
      </p:sp>
      <p:sp>
        <p:nvSpPr>
          <p:cNvPr id="19" name="Shape 17"/>
          <p:cNvSpPr/>
          <p:nvPr/>
        </p:nvSpPr>
        <p:spPr>
          <a:xfrm>
            <a:off x="10497312" y="4389120"/>
            <a:ext cx="228600" cy="0"/>
          </a:xfrm>
          <a:prstGeom prst="line">
            <a:avLst/>
          </a:prstGeom>
          <a:noFill/>
          <a:ln w="27940">
            <a:solidFill>
              <a:srgbClr val="16A6A1"/>
            </a:solidFill>
            <a:prstDash val="solid"/>
            <a:headEnd type="none"/>
            <a:tailEnd type="none"/>
          </a:ln>
        </p:spPr>
      </p:sp>
      <p:sp>
        <p:nvSpPr>
          <p:cNvPr id="20" name="Shape 18"/>
          <p:cNvSpPr/>
          <p:nvPr/>
        </p:nvSpPr>
        <p:spPr>
          <a:xfrm>
            <a:off x="10725912" y="3977640"/>
            <a:ext cx="475488" cy="0"/>
          </a:xfrm>
          <a:prstGeom prst="line">
            <a:avLst/>
          </a:prstGeom>
          <a:noFill/>
          <a:ln w="27940">
            <a:solidFill>
              <a:srgbClr val="16A6A1"/>
            </a:solidFill>
            <a:prstDash val="solid"/>
            <a:headEnd type="none"/>
            <a:tailEnd type="none"/>
          </a:ln>
        </p:spPr>
      </p:sp>
      <p:sp>
        <p:nvSpPr>
          <p:cNvPr id="21" name="Shape 19"/>
          <p:cNvSpPr/>
          <p:nvPr/>
        </p:nvSpPr>
        <p:spPr>
          <a:xfrm>
            <a:off x="7758684" y="2912364"/>
            <a:ext cx="118872" cy="118872"/>
          </a:xfrm>
          <a:prstGeom prst="ellipse">
            <a:avLst/>
          </a:prstGeom>
          <a:solidFill>
            <a:srgbClr val="F4C15D"/>
          </a:solidFill>
          <a:ln w="12700">
            <a:solidFill>
              <a:srgbClr val="F4C15D">
                <a:alpha val="0"/>
              </a:srgbClr>
            </a:solidFill>
            <a:prstDash val="solid"/>
          </a:ln>
        </p:spPr>
      </p:sp>
      <p:sp>
        <p:nvSpPr>
          <p:cNvPr id="22" name="Shape 20"/>
          <p:cNvSpPr/>
          <p:nvPr/>
        </p:nvSpPr>
        <p:spPr>
          <a:xfrm>
            <a:off x="8279892" y="3488436"/>
            <a:ext cx="118872" cy="118872"/>
          </a:xfrm>
          <a:prstGeom prst="ellipse">
            <a:avLst/>
          </a:prstGeom>
          <a:solidFill>
            <a:srgbClr val="F4C15D"/>
          </a:solidFill>
          <a:ln w="12700">
            <a:solidFill>
              <a:srgbClr val="F4C15D">
                <a:alpha val="0"/>
              </a:srgbClr>
            </a:solidFill>
            <a:prstDash val="solid"/>
          </a:ln>
        </p:spPr>
      </p:sp>
      <p:sp>
        <p:nvSpPr>
          <p:cNvPr id="23" name="Shape 21"/>
          <p:cNvSpPr/>
          <p:nvPr/>
        </p:nvSpPr>
        <p:spPr>
          <a:xfrm>
            <a:off x="10181844" y="3396996"/>
            <a:ext cx="118872" cy="118872"/>
          </a:xfrm>
          <a:prstGeom prst="ellipse">
            <a:avLst/>
          </a:prstGeom>
          <a:solidFill>
            <a:srgbClr val="F4C15D"/>
          </a:solidFill>
          <a:ln w="12700">
            <a:solidFill>
              <a:srgbClr val="F4C15D">
                <a:alpha val="0"/>
              </a:srgbClr>
            </a:solidFill>
            <a:prstDash val="solid"/>
          </a:ln>
        </p:spPr>
      </p:sp>
      <p:sp>
        <p:nvSpPr>
          <p:cNvPr id="24" name="Shape 22"/>
          <p:cNvSpPr/>
          <p:nvPr/>
        </p:nvSpPr>
        <p:spPr>
          <a:xfrm>
            <a:off x="713232" y="768096"/>
            <a:ext cx="3584448" cy="283464"/>
          </a:xfrm>
          <a:prstGeom prst="roundRect">
            <a:avLst>
              <a:gd name="adj" fmla="val 45161"/>
            </a:avLst>
          </a:prstGeom>
          <a:solidFill>
            <a:srgbClr val="20394D"/>
          </a:solidFill>
          <a:ln w="12700">
            <a:solidFill>
              <a:srgbClr val="20394D">
                <a:alpha val="0"/>
              </a:srgbClr>
            </a:solidFill>
            <a:prstDash val="solid"/>
          </a:ln>
        </p:spPr>
      </p:sp>
      <p:sp>
        <p:nvSpPr>
          <p:cNvPr id="25" name="Text 23"/>
          <p:cNvSpPr txBox="1"/>
          <p:nvPr/>
        </p:nvSpPr>
        <p:spPr>
          <a:xfrm>
            <a:off x="804672" y="781812"/>
            <a:ext cx="3401568" cy="246888"/>
          </a:xfrm>
          <a:prstGeom prst="rect">
            <a:avLst/>
          </a:prstGeom>
          <a:noFill/>
          <a:ln/>
        </p:spPr>
        <p:txBody>
          <a:bodyPr wrap="square" lIns="0" tIns="0" rIns="0" bIns="0" rtlCol="0" anchor="ctr">
            <a:normAutofit/>
          </a:bodyPr>
          <a:lstStyle/>
          <a:p>
            <a:pPr marL="0" indent="0" algn="ctr">
              <a:buNone/>
            </a:pPr>
            <a:r>
              <a:rPr lang="en-US" sz="800" b="1" dirty="0">
                <a:solidFill>
                  <a:srgbClr val="BFEFEB"/>
                </a:solidFill>
                <a:latin typeface="Inter" pitchFamily="34" charset="0"/>
                <a:ea typeface="Inter" pitchFamily="34" charset="-122"/>
                <a:cs typeface="Inter" pitchFamily="34" charset="-120"/>
              </a:rPr>
              <a:t>UE24CS352A  ·  MACHINE LEARNING MINI-PROJECT</a:t>
            </a:r>
            <a:endParaRPr lang="en-US" sz="800" dirty="0"/>
          </a:p>
        </p:txBody>
      </p:sp>
      <p:sp>
        <p:nvSpPr>
          <p:cNvPr id="26" name="Text 24"/>
          <p:cNvSpPr txBox="1"/>
          <p:nvPr/>
        </p:nvSpPr>
        <p:spPr>
          <a:xfrm>
            <a:off x="713232" y="1389888"/>
            <a:ext cx="5897880" cy="1481328"/>
          </a:xfrm>
          <a:prstGeom prst="rect">
            <a:avLst/>
          </a:prstGeom>
          <a:noFill/>
          <a:ln/>
        </p:spPr>
        <p:txBody>
          <a:bodyPr wrap="square" lIns="0" tIns="0" rIns="0" bIns="0" rtlCol="0" anchor="t">
            <a:normAutofit/>
          </a:bodyPr>
          <a:lstStyle/>
          <a:p>
            <a:pPr marL="0" indent="0" algn="l">
              <a:buNone/>
            </a:pPr>
            <a:r>
              <a:rPr lang="en-US" sz="3200" b="1" dirty="0">
                <a:solidFill>
                  <a:srgbClr val="FFFFFF"/>
                </a:solidFill>
                <a:latin typeface="Inter" pitchFamily="34" charset="0"/>
                <a:ea typeface="Inter" pitchFamily="34" charset="-122"/>
                <a:cs typeface="Inter" pitchFamily="34" charset="-120"/>
              </a:rPr>
              <a:t>Predicting eruptive</a:t>
            </a:r>
            <a:endParaRPr lang="en-US" sz="3200" dirty="0"/>
          </a:p>
          <a:p>
            <a:pPr marL="0" indent="0" algn="l">
              <a:buNone/>
            </a:pPr>
            <a:r>
              <a:rPr lang="en-US" sz="3200" b="1" dirty="0">
                <a:solidFill>
                  <a:srgbClr val="FFFFFF"/>
                </a:solidFill>
                <a:latin typeface="Inter" pitchFamily="34" charset="0"/>
                <a:ea typeface="Inter" pitchFamily="34" charset="-122"/>
                <a:cs typeface="Inter" pitchFamily="34" charset="-120"/>
              </a:rPr>
              <a:t>events at Kīlauea</a:t>
            </a:r>
            <a:endParaRPr lang="en-US" sz="3200" dirty="0"/>
          </a:p>
        </p:txBody>
      </p:sp>
      <p:sp>
        <p:nvSpPr>
          <p:cNvPr id="27" name="Text 25"/>
          <p:cNvSpPr txBox="1"/>
          <p:nvPr/>
        </p:nvSpPr>
        <p:spPr>
          <a:xfrm>
            <a:off x="749808" y="3090672"/>
            <a:ext cx="5303520" cy="475488"/>
          </a:xfrm>
          <a:prstGeom prst="rect">
            <a:avLst/>
          </a:prstGeom>
          <a:noFill/>
          <a:ln/>
        </p:spPr>
        <p:txBody>
          <a:bodyPr wrap="square" lIns="0" tIns="0" rIns="0" bIns="0" rtlCol="0" anchor="t">
            <a:normAutofit/>
          </a:bodyPr>
          <a:lstStyle/>
          <a:p>
            <a:pPr marL="0" indent="0" algn="l">
              <a:buNone/>
            </a:pPr>
            <a:r>
              <a:rPr lang="en-US" sz="1700" dirty="0">
                <a:solidFill>
                  <a:srgbClr val="D5E2EF"/>
                </a:solidFill>
                <a:latin typeface="Inter" pitchFamily="34" charset="0"/>
                <a:ea typeface="Inter" pitchFamily="34" charset="-122"/>
                <a:cs typeface="Inter" pitchFamily="34" charset="-120"/>
              </a:rPr>
              <a:t>Can earthquake patterns reveal volcanic activity?</a:t>
            </a:r>
            <a:endParaRPr lang="en-US" sz="1700" dirty="0"/>
          </a:p>
        </p:txBody>
      </p:sp>
      <p:sp>
        <p:nvSpPr>
          <p:cNvPr id="28" name="Shape 26"/>
          <p:cNvSpPr/>
          <p:nvPr/>
        </p:nvSpPr>
        <p:spPr>
          <a:xfrm>
            <a:off x="749808" y="3822192"/>
            <a:ext cx="4553712" cy="0"/>
          </a:xfrm>
          <a:prstGeom prst="line">
            <a:avLst/>
          </a:prstGeom>
          <a:noFill/>
          <a:ln w="15240">
            <a:solidFill>
              <a:srgbClr val="3D526B"/>
            </a:solidFill>
            <a:prstDash val="solid"/>
            <a:headEnd type="none"/>
            <a:tailEnd type="none"/>
          </a:ln>
        </p:spPr>
      </p:sp>
      <p:sp>
        <p:nvSpPr>
          <p:cNvPr id="29" name="Text 27"/>
          <p:cNvSpPr txBox="1"/>
          <p:nvPr/>
        </p:nvSpPr>
        <p:spPr>
          <a:xfrm>
            <a:off x="749808" y="4041648"/>
            <a:ext cx="5394960" cy="329184"/>
          </a:xfrm>
          <a:prstGeom prst="rect">
            <a:avLst/>
          </a:prstGeom>
          <a:noFill/>
          <a:ln/>
        </p:spPr>
        <p:txBody>
          <a:bodyPr wrap="square" lIns="0" tIns="0" rIns="0" bIns="0" rtlCol="0" anchor="ctr">
            <a:normAutofit/>
          </a:bodyPr>
          <a:lstStyle/>
          <a:p>
            <a:pPr marL="0" indent="0" algn="l">
              <a:buNone/>
            </a:pPr>
            <a:r>
              <a:rPr lang="en-US" sz="1150" dirty="0">
                <a:solidFill>
                  <a:srgbClr val="A9BBCD"/>
                </a:solidFill>
                <a:latin typeface="Inter" pitchFamily="34" charset="0"/>
                <a:ea typeface="Inter" pitchFamily="34" charset="-122"/>
                <a:cs typeface="Inter" pitchFamily="34" charset="-120"/>
              </a:rPr>
              <a:t>Two tasks · Four model families · One important limitation</a:t>
            </a:r>
            <a:endParaRPr lang="en-US" sz="1150" dirty="0"/>
          </a:p>
        </p:txBody>
      </p:sp>
      <p:sp>
        <p:nvSpPr>
          <p:cNvPr id="30" name="Text 28"/>
          <p:cNvSpPr txBox="1"/>
          <p:nvPr/>
        </p:nvSpPr>
        <p:spPr>
          <a:xfrm>
            <a:off x="749808" y="5742432"/>
            <a:ext cx="5852160" cy="219456"/>
          </a:xfrm>
          <a:prstGeom prst="rect">
            <a:avLst/>
          </a:prstGeom>
          <a:noFill/>
          <a:ln/>
        </p:spPr>
        <p:txBody>
          <a:bodyPr wrap="square" lIns="0" tIns="0" rIns="0" bIns="0" rtlCol="0" anchor="ctr">
            <a:normAutofit/>
          </a:bodyPr>
          <a:lstStyle/>
          <a:p>
            <a:r>
              <a:rPr lang="en-US" sz="950" dirty="0">
                <a:solidFill>
                  <a:srgbClr val="C1CEDB"/>
                </a:solidFill>
                <a:latin typeface="Inter"/>
                <a:ea typeface="Inter"/>
                <a:cs typeface="Inter" pitchFamily="34" charset="-120"/>
              </a:rPr>
              <a:t>Presented by: Mohit S &amp; Nishanth N </a:t>
            </a:r>
            <a:r>
              <a:rPr lang="en-US" sz="950" dirty="0" err="1">
                <a:solidFill>
                  <a:srgbClr val="C1CEDB"/>
                </a:solidFill>
                <a:latin typeface="Inter"/>
                <a:ea typeface="Inter"/>
                <a:cs typeface="Inter" pitchFamily="34" charset="-120"/>
              </a:rPr>
              <a:t>Aralaguppe</a:t>
            </a:r>
          </a:p>
        </p:txBody>
      </p:sp>
      <p:sp>
        <p:nvSpPr>
          <p:cNvPr id="31" name="Text 29"/>
          <p:cNvSpPr txBox="1"/>
          <p:nvPr/>
        </p:nvSpPr>
        <p:spPr>
          <a:xfrm>
            <a:off x="749808" y="6044184"/>
            <a:ext cx="5852160" cy="201168"/>
          </a:xfrm>
          <a:prstGeom prst="rect">
            <a:avLst/>
          </a:prstGeom>
          <a:noFill/>
          <a:ln/>
        </p:spPr>
        <p:txBody>
          <a:bodyPr wrap="square" lIns="0" tIns="0" rIns="0" bIns="0" rtlCol="0" anchor="ctr">
            <a:normAutofit/>
          </a:bodyPr>
          <a:lstStyle/>
          <a:p>
            <a:pPr marL="0" indent="0" algn="l">
              <a:buNone/>
            </a:pPr>
            <a:r>
              <a:rPr lang="en-US" sz="900" dirty="0">
                <a:solidFill>
                  <a:srgbClr val="93A7BA"/>
                </a:solidFill>
                <a:latin typeface="Inter" pitchFamily="34" charset="0"/>
                <a:ea typeface="Inter" pitchFamily="34" charset="-122"/>
                <a:cs typeface="Inter" pitchFamily="34" charset="-120"/>
              </a:rPr>
              <a:t>UE24CS352A · Machine Learning Mini-Project</a:t>
            </a:r>
            <a:endParaRPr lang="en-US" sz="900" dirty="0"/>
          </a:p>
        </p:txBody>
      </p:sp>
      <p:sp>
        <p:nvSpPr>
          <p:cNvPr id="32" name="Text 30"/>
          <p:cNvSpPr txBox="1"/>
          <p:nvPr/>
        </p:nvSpPr>
        <p:spPr>
          <a:xfrm>
            <a:off x="7863840" y="5257800"/>
            <a:ext cx="3474720" cy="256032"/>
          </a:xfrm>
          <a:prstGeom prst="rect">
            <a:avLst/>
          </a:prstGeom>
          <a:noFill/>
          <a:ln/>
        </p:spPr>
        <p:txBody>
          <a:bodyPr wrap="square" lIns="0" tIns="0" rIns="0" bIns="0" rtlCol="0" anchor="ctr">
            <a:normAutofit/>
          </a:bodyPr>
          <a:lstStyle/>
          <a:p>
            <a:pPr marL="0" indent="0" algn="ctr">
              <a:buNone/>
            </a:pPr>
            <a:r>
              <a:rPr lang="en-US" sz="900" b="1" kern="0" spc="110" dirty="0">
                <a:solidFill>
                  <a:srgbClr val="9FE4DF"/>
                </a:solidFill>
                <a:latin typeface="Inter" pitchFamily="34" charset="0"/>
                <a:ea typeface="Inter" pitchFamily="34" charset="-122"/>
                <a:cs typeface="Inter" pitchFamily="34" charset="-120"/>
              </a:rPr>
              <a:t>RETROSPECTIVE RESEARCH PROTOTYPE</a:t>
            </a:r>
            <a:endParaRPr lang="en-US" sz="900" dirty="0"/>
          </a:p>
        </p:txBody>
      </p:sp>
      <p:sp>
        <p:nvSpPr>
          <p:cNvPr id="33" name="Text 31"/>
          <p:cNvSpPr txBox="1"/>
          <p:nvPr/>
        </p:nvSpPr>
        <p:spPr>
          <a:xfrm>
            <a:off x="7589520" y="5577840"/>
            <a:ext cx="4023360" cy="256032"/>
          </a:xfrm>
          <a:prstGeom prst="rect">
            <a:avLst/>
          </a:prstGeom>
          <a:noFill/>
          <a:ln/>
        </p:spPr>
        <p:txBody>
          <a:bodyPr wrap="square" lIns="0" tIns="0" rIns="0" bIns="0" rtlCol="0" anchor="ctr">
            <a:normAutofit/>
          </a:bodyPr>
          <a:lstStyle/>
          <a:p>
            <a:pPr marL="0" indent="0" algn="ctr">
              <a:buNone/>
            </a:pPr>
            <a:r>
              <a:rPr lang="en-US" sz="900" dirty="0">
                <a:solidFill>
                  <a:srgbClr val="BCCAD8"/>
                </a:solidFill>
                <a:latin typeface="Inter" pitchFamily="34" charset="0"/>
                <a:ea typeface="Inter" pitchFamily="34" charset="-122"/>
                <a:cs typeface="Inter" pitchFamily="34" charset="-120"/>
              </a:rPr>
              <a:t>Not an operational eruption-warning system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21792" y="320040"/>
            <a:ext cx="5303520" cy="201168"/>
          </a:xfrm>
          <a:prstGeom prst="rect">
            <a:avLst/>
          </a:prstGeom>
          <a:noFill/>
          <a:ln/>
        </p:spPr>
        <p:txBody>
          <a:bodyPr wrap="square" lIns="0" tIns="0" rIns="0" bIns="0" rtlCol="0" anchor="ctr">
            <a:normAutofit/>
          </a:bodyPr>
          <a:lstStyle/>
          <a:p>
            <a:pPr marL="0" indent="0" algn="l">
              <a:buNone/>
            </a:pPr>
            <a:r>
              <a:rPr lang="en-US" sz="900" b="1" kern="0" spc="130" dirty="0">
                <a:solidFill>
                  <a:srgbClr val="087F7A"/>
                </a:solidFill>
                <a:latin typeface="Inter" pitchFamily="34" charset="0"/>
                <a:ea typeface="Inter" pitchFamily="34" charset="-122"/>
                <a:cs typeface="Inter" pitchFamily="34" charset="-120"/>
              </a:rPr>
              <a:t>01 / PROBLEM</a:t>
            </a:r>
            <a:endParaRPr lang="en-US" sz="900" dirty="0"/>
          </a:p>
        </p:txBody>
      </p:sp>
      <p:sp>
        <p:nvSpPr>
          <p:cNvPr id="3" name="Text 1"/>
          <p:cNvSpPr txBox="1"/>
          <p:nvPr/>
        </p:nvSpPr>
        <p:spPr>
          <a:xfrm>
            <a:off x="621792" y="576072"/>
            <a:ext cx="10972800" cy="429768"/>
          </a:xfrm>
          <a:prstGeom prst="rect">
            <a:avLst/>
          </a:prstGeom>
          <a:noFill/>
          <a:ln/>
        </p:spPr>
        <p:txBody>
          <a:bodyPr wrap="square" lIns="0" tIns="0" rIns="0" bIns="0" rtlCol="0" anchor="ctr">
            <a:normAutofit/>
          </a:bodyPr>
          <a:lstStyle/>
          <a:p>
            <a:pPr marL="0" indent="0" algn="l">
              <a:buNone/>
            </a:pPr>
            <a:r>
              <a:rPr lang="en-US" sz="2500" b="1" dirty="0">
                <a:solidFill>
                  <a:srgbClr val="101A2C"/>
                </a:solidFill>
                <a:latin typeface="Inter" pitchFamily="34" charset="0"/>
                <a:ea typeface="Inter" pitchFamily="34" charset="-122"/>
                <a:cs typeface="Inter" pitchFamily="34" charset="-120"/>
              </a:rPr>
              <a:t>The problem has two different prediction goals</a:t>
            </a:r>
            <a:endParaRPr lang="en-US" sz="2500" dirty="0"/>
          </a:p>
        </p:txBody>
      </p:sp>
      <p:sp>
        <p:nvSpPr>
          <p:cNvPr id="4" name="Text 2"/>
          <p:cNvSpPr txBox="1"/>
          <p:nvPr/>
        </p:nvSpPr>
        <p:spPr>
          <a:xfrm>
            <a:off x="640080" y="1033272"/>
            <a:ext cx="10881360" cy="256032"/>
          </a:xfrm>
          <a:prstGeom prst="rect">
            <a:avLst/>
          </a:prstGeom>
          <a:noFill/>
          <a:ln/>
        </p:spPr>
        <p:txBody>
          <a:bodyPr wrap="square" lIns="0" tIns="0" rIns="0" bIns="0" rtlCol="0" anchor="ctr">
            <a:normAutofit/>
          </a:bodyPr>
          <a:lstStyle/>
          <a:p>
            <a:pPr marL="0" indent="0" algn="l">
              <a:buNone/>
            </a:pPr>
            <a:r>
              <a:rPr lang="en-US" sz="1050" dirty="0">
                <a:solidFill>
                  <a:srgbClr val="65748B"/>
                </a:solidFill>
                <a:latin typeface="Inter" pitchFamily="34" charset="0"/>
                <a:ea typeface="Inter" pitchFamily="34" charset="-122"/>
                <a:cs typeface="Inter" pitchFamily="34" charset="-120"/>
              </a:rPr>
              <a:t>The project follows the research paper on Kīlauea and its East Rift Zone.</a:t>
            </a:r>
            <a:endParaRPr lang="en-US" sz="1050" dirty="0"/>
          </a:p>
        </p:txBody>
      </p:sp>
      <p:sp>
        <p:nvSpPr>
          <p:cNvPr id="5" name="Shape 3"/>
          <p:cNvSpPr/>
          <p:nvPr/>
        </p:nvSpPr>
        <p:spPr>
          <a:xfrm>
            <a:off x="658368" y="1536192"/>
            <a:ext cx="5349240" cy="3364992"/>
          </a:xfrm>
          <a:prstGeom prst="roundRect">
            <a:avLst>
              <a:gd name="adj" fmla="val 3804"/>
            </a:avLst>
          </a:prstGeom>
          <a:solidFill>
            <a:srgbClr val="FFFFFF"/>
          </a:solidFill>
          <a:ln w="9525">
            <a:solidFill>
              <a:srgbClr val="DDE4ED"/>
            </a:solidFill>
            <a:prstDash val="solid"/>
          </a:ln>
        </p:spPr>
      </p:sp>
      <p:sp>
        <p:nvSpPr>
          <p:cNvPr id="6" name="Shape 4"/>
          <p:cNvSpPr/>
          <p:nvPr/>
        </p:nvSpPr>
        <p:spPr>
          <a:xfrm>
            <a:off x="6199632" y="1536192"/>
            <a:ext cx="5340096" cy="3364992"/>
          </a:xfrm>
          <a:prstGeom prst="roundRect">
            <a:avLst>
              <a:gd name="adj" fmla="val 3804"/>
            </a:avLst>
          </a:prstGeom>
          <a:solidFill>
            <a:srgbClr val="FFFFFF"/>
          </a:solidFill>
          <a:ln w="9525">
            <a:solidFill>
              <a:srgbClr val="DDE4ED"/>
            </a:solidFill>
            <a:prstDash val="solid"/>
          </a:ln>
        </p:spPr>
      </p:sp>
      <p:sp>
        <p:nvSpPr>
          <p:cNvPr id="7" name="Shape 5"/>
          <p:cNvSpPr/>
          <p:nvPr/>
        </p:nvSpPr>
        <p:spPr>
          <a:xfrm>
            <a:off x="950976" y="1847088"/>
            <a:ext cx="512064" cy="512064"/>
          </a:xfrm>
          <a:prstGeom prst="ellipse">
            <a:avLst/>
          </a:prstGeom>
          <a:solidFill>
            <a:srgbClr val="DDF5F1"/>
          </a:solidFill>
          <a:ln w="12700">
            <a:solidFill>
              <a:srgbClr val="DDF5F1">
                <a:alpha val="0"/>
              </a:srgbClr>
            </a:solidFill>
            <a:prstDash val="solid"/>
          </a:ln>
        </p:spPr>
      </p:sp>
      <p:sp>
        <p:nvSpPr>
          <p:cNvPr id="8" name="Text 6"/>
          <p:cNvSpPr txBox="1"/>
          <p:nvPr/>
        </p:nvSpPr>
        <p:spPr>
          <a:xfrm>
            <a:off x="950976" y="1847088"/>
            <a:ext cx="512064" cy="512064"/>
          </a:xfrm>
          <a:prstGeom prst="rect">
            <a:avLst/>
          </a:prstGeom>
          <a:noFill/>
          <a:ln/>
        </p:spPr>
        <p:txBody>
          <a:bodyPr wrap="square" lIns="0" tIns="0" rIns="0" bIns="0" rtlCol="0" anchor="ctr">
            <a:normAutofit/>
          </a:bodyPr>
          <a:lstStyle/>
          <a:p>
            <a:pPr marL="0" indent="0" algn="ctr">
              <a:buNone/>
            </a:pPr>
            <a:r>
              <a:rPr lang="en-US" sz="1800" b="1" dirty="0">
                <a:solidFill>
                  <a:srgbClr val="087F7A"/>
                </a:solidFill>
                <a:latin typeface="Inter" pitchFamily="34" charset="0"/>
                <a:ea typeface="Inter" pitchFamily="34" charset="-122"/>
                <a:cs typeface="Inter" pitchFamily="34" charset="-120"/>
              </a:rPr>
              <a:t>A</a:t>
            </a:r>
            <a:endParaRPr lang="en-US" sz="1800" dirty="0"/>
          </a:p>
        </p:txBody>
      </p:sp>
      <p:sp>
        <p:nvSpPr>
          <p:cNvPr id="9" name="Text 7"/>
          <p:cNvSpPr txBox="1"/>
          <p:nvPr/>
        </p:nvSpPr>
        <p:spPr>
          <a:xfrm>
            <a:off x="1627632" y="1847088"/>
            <a:ext cx="3566160" cy="320040"/>
          </a:xfrm>
          <a:prstGeom prst="rect">
            <a:avLst/>
          </a:prstGeom>
          <a:noFill/>
          <a:ln/>
        </p:spPr>
        <p:txBody>
          <a:bodyPr wrap="square" lIns="0" tIns="0" rIns="0" bIns="0" rtlCol="0" anchor="ctr">
            <a:normAutofit/>
          </a:bodyPr>
          <a:lstStyle/>
          <a:p>
            <a:pPr marL="0" indent="0" algn="l">
              <a:buNone/>
            </a:pPr>
            <a:r>
              <a:rPr lang="en-US" sz="1900" b="1" dirty="0">
                <a:solidFill>
                  <a:srgbClr val="101A2C"/>
                </a:solidFill>
                <a:latin typeface="Inter" pitchFamily="34" charset="0"/>
                <a:ea typeface="Inter" pitchFamily="34" charset="-122"/>
                <a:cs typeface="Inter" pitchFamily="34" charset="-120"/>
              </a:rPr>
              <a:t>Classification</a:t>
            </a:r>
            <a:endParaRPr lang="en-US" sz="1900" dirty="0"/>
          </a:p>
        </p:txBody>
      </p:sp>
      <p:sp>
        <p:nvSpPr>
          <p:cNvPr id="10" name="Text 8"/>
          <p:cNvSpPr txBox="1"/>
          <p:nvPr/>
        </p:nvSpPr>
        <p:spPr>
          <a:xfrm>
            <a:off x="960120" y="2578608"/>
            <a:ext cx="4526280" cy="713232"/>
          </a:xfrm>
          <a:prstGeom prst="rect">
            <a:avLst/>
          </a:prstGeom>
          <a:noFill/>
          <a:ln/>
        </p:spPr>
        <p:txBody>
          <a:bodyPr wrap="square" lIns="0" tIns="0" rIns="0" bIns="0" rtlCol="0" anchor="t">
            <a:normAutofit/>
          </a:bodyPr>
          <a:lstStyle/>
          <a:p>
            <a:pPr marL="0" indent="0" algn="l">
              <a:buNone/>
            </a:pPr>
            <a:r>
              <a:rPr lang="en-US" sz="1700" b="1" dirty="0">
                <a:solidFill>
                  <a:srgbClr val="253246"/>
                </a:solidFill>
                <a:latin typeface="Inter" pitchFamily="34" charset="0"/>
                <a:ea typeface="Inter" pitchFamily="34" charset="-122"/>
                <a:cs typeface="Inter" pitchFamily="34" charset="-120"/>
              </a:rPr>
              <a:t>Is Kīlauea erupting when this earthquake occurs?</a:t>
            </a:r>
            <a:endParaRPr lang="en-US" sz="1700" dirty="0"/>
          </a:p>
        </p:txBody>
      </p:sp>
      <p:sp>
        <p:nvSpPr>
          <p:cNvPr id="11" name="Shape 9"/>
          <p:cNvSpPr/>
          <p:nvPr/>
        </p:nvSpPr>
        <p:spPr>
          <a:xfrm>
            <a:off x="960120" y="3575304"/>
            <a:ext cx="1463040" cy="283464"/>
          </a:xfrm>
          <a:prstGeom prst="roundRect">
            <a:avLst>
              <a:gd name="adj" fmla="val 45161"/>
            </a:avLst>
          </a:prstGeom>
          <a:solidFill>
            <a:srgbClr val="DDF5F1"/>
          </a:solidFill>
          <a:ln w="12700">
            <a:solidFill>
              <a:srgbClr val="DDF5F1">
                <a:alpha val="0"/>
              </a:srgbClr>
            </a:solidFill>
            <a:prstDash val="solid"/>
          </a:ln>
        </p:spPr>
      </p:sp>
      <p:sp>
        <p:nvSpPr>
          <p:cNvPr id="12" name="Text 10"/>
          <p:cNvSpPr txBox="1"/>
          <p:nvPr/>
        </p:nvSpPr>
        <p:spPr>
          <a:xfrm>
            <a:off x="1051560" y="3589020"/>
            <a:ext cx="1280160" cy="246888"/>
          </a:xfrm>
          <a:prstGeom prst="rect">
            <a:avLst/>
          </a:prstGeom>
          <a:noFill/>
          <a:ln/>
        </p:spPr>
        <p:txBody>
          <a:bodyPr wrap="square" lIns="0" tIns="0" rIns="0" bIns="0" rtlCol="0" anchor="ctr">
            <a:normAutofit/>
          </a:bodyPr>
          <a:lstStyle/>
          <a:p>
            <a:pPr marL="0" indent="0" algn="ctr">
              <a:buNone/>
            </a:pPr>
            <a:r>
              <a:rPr lang="en-US" sz="800" b="1" dirty="0">
                <a:solidFill>
                  <a:srgbClr val="087F7A"/>
                </a:solidFill>
                <a:latin typeface="Inter" pitchFamily="34" charset="0"/>
                <a:ea typeface="Inter" pitchFamily="34" charset="-122"/>
                <a:cs typeface="Inter" pitchFamily="34" charset="-120"/>
              </a:rPr>
              <a:t>OUTPUT: 0 OR 1</a:t>
            </a:r>
            <a:endParaRPr lang="en-US" sz="800" dirty="0"/>
          </a:p>
        </p:txBody>
      </p:sp>
      <p:sp>
        <p:nvSpPr>
          <p:cNvPr id="13" name="Shape 11"/>
          <p:cNvSpPr/>
          <p:nvPr/>
        </p:nvSpPr>
        <p:spPr>
          <a:xfrm>
            <a:off x="969264" y="4133088"/>
            <a:ext cx="73152" cy="73152"/>
          </a:xfrm>
          <a:prstGeom prst="ellipse">
            <a:avLst/>
          </a:prstGeom>
          <a:solidFill>
            <a:srgbClr val="16A6A1"/>
          </a:solidFill>
          <a:ln w="12700">
            <a:solidFill>
              <a:srgbClr val="16A6A1">
                <a:alpha val="0"/>
              </a:srgbClr>
            </a:solidFill>
            <a:prstDash val="solid"/>
          </a:ln>
        </p:spPr>
      </p:sp>
      <p:sp>
        <p:nvSpPr>
          <p:cNvPr id="14" name="Text 12"/>
          <p:cNvSpPr txBox="1"/>
          <p:nvPr/>
        </p:nvSpPr>
        <p:spPr>
          <a:xfrm>
            <a:off x="1133856" y="4041648"/>
            <a:ext cx="4315968" cy="292608"/>
          </a:xfrm>
          <a:prstGeom prst="rect">
            <a:avLst/>
          </a:prstGeom>
          <a:noFill/>
          <a:ln/>
        </p:spPr>
        <p:txBody>
          <a:bodyPr wrap="square" lIns="0" tIns="0" rIns="0" bIns="0" rtlCol="0" anchor="t">
            <a:normAutofit/>
          </a:bodyPr>
          <a:lstStyle/>
          <a:p>
            <a:pPr marL="0" indent="0" algn="l">
              <a:buNone/>
            </a:pPr>
            <a:r>
              <a:rPr lang="en-US" sz="1100" dirty="0">
                <a:solidFill>
                  <a:srgbClr val="65748B"/>
                </a:solidFill>
                <a:latin typeface="Inter" pitchFamily="34" charset="0"/>
                <a:ea typeface="Inter" pitchFamily="34" charset="-122"/>
                <a:cs typeface="Inter" pitchFamily="34" charset="-120"/>
              </a:rPr>
              <a:t>0 = repose / not erupting</a:t>
            </a:r>
            <a:endParaRPr lang="en-US" sz="1100" dirty="0"/>
          </a:p>
        </p:txBody>
      </p:sp>
      <p:sp>
        <p:nvSpPr>
          <p:cNvPr id="15" name="Shape 13"/>
          <p:cNvSpPr/>
          <p:nvPr/>
        </p:nvSpPr>
        <p:spPr>
          <a:xfrm>
            <a:off x="969264" y="4489704"/>
            <a:ext cx="73152" cy="73152"/>
          </a:xfrm>
          <a:prstGeom prst="ellipse">
            <a:avLst/>
          </a:prstGeom>
          <a:solidFill>
            <a:srgbClr val="16A6A1"/>
          </a:solidFill>
          <a:ln w="12700">
            <a:solidFill>
              <a:srgbClr val="16A6A1">
                <a:alpha val="0"/>
              </a:srgbClr>
            </a:solidFill>
            <a:prstDash val="solid"/>
          </a:ln>
        </p:spPr>
      </p:sp>
      <p:sp>
        <p:nvSpPr>
          <p:cNvPr id="16" name="Text 14"/>
          <p:cNvSpPr txBox="1"/>
          <p:nvPr/>
        </p:nvSpPr>
        <p:spPr>
          <a:xfrm>
            <a:off x="1133856" y="4398264"/>
            <a:ext cx="4315968" cy="292608"/>
          </a:xfrm>
          <a:prstGeom prst="rect">
            <a:avLst/>
          </a:prstGeom>
          <a:noFill/>
          <a:ln/>
        </p:spPr>
        <p:txBody>
          <a:bodyPr wrap="square" lIns="0" tIns="0" rIns="0" bIns="0" rtlCol="0" anchor="t">
            <a:normAutofit/>
          </a:bodyPr>
          <a:lstStyle/>
          <a:p>
            <a:pPr marL="0" indent="0" algn="l">
              <a:buNone/>
            </a:pPr>
            <a:r>
              <a:rPr lang="en-US" sz="1100" dirty="0">
                <a:solidFill>
                  <a:srgbClr val="65748B"/>
                </a:solidFill>
                <a:latin typeface="Inter" pitchFamily="34" charset="0"/>
                <a:ea typeface="Inter" pitchFamily="34" charset="-122"/>
                <a:cs typeface="Inter" pitchFamily="34" charset="-120"/>
              </a:rPr>
              <a:t>1 = erupting</a:t>
            </a:r>
            <a:endParaRPr lang="en-US" sz="1100" dirty="0"/>
          </a:p>
        </p:txBody>
      </p:sp>
      <p:sp>
        <p:nvSpPr>
          <p:cNvPr id="17" name="Shape 15"/>
          <p:cNvSpPr/>
          <p:nvPr/>
        </p:nvSpPr>
        <p:spPr>
          <a:xfrm>
            <a:off x="6492240" y="1847088"/>
            <a:ext cx="512064" cy="512064"/>
          </a:xfrm>
          <a:prstGeom prst="ellipse">
            <a:avLst/>
          </a:prstGeom>
          <a:solidFill>
            <a:srgbClr val="FFF4D9"/>
          </a:solidFill>
          <a:ln w="12700">
            <a:solidFill>
              <a:srgbClr val="FFF4D9">
                <a:alpha val="0"/>
              </a:srgbClr>
            </a:solidFill>
            <a:prstDash val="solid"/>
          </a:ln>
        </p:spPr>
      </p:sp>
      <p:sp>
        <p:nvSpPr>
          <p:cNvPr id="18" name="Text 16"/>
          <p:cNvSpPr txBox="1"/>
          <p:nvPr/>
        </p:nvSpPr>
        <p:spPr>
          <a:xfrm>
            <a:off x="6492240" y="1847088"/>
            <a:ext cx="512064" cy="512064"/>
          </a:xfrm>
          <a:prstGeom prst="rect">
            <a:avLst/>
          </a:prstGeom>
          <a:noFill/>
          <a:ln/>
        </p:spPr>
        <p:txBody>
          <a:bodyPr wrap="square" lIns="0" tIns="0" rIns="0" bIns="0" rtlCol="0" anchor="ctr">
            <a:normAutofit/>
          </a:bodyPr>
          <a:lstStyle/>
          <a:p>
            <a:pPr marL="0" indent="0" algn="ctr">
              <a:buNone/>
            </a:pPr>
            <a:r>
              <a:rPr lang="en-US" sz="1800" b="1" dirty="0">
                <a:solidFill>
                  <a:srgbClr val="9C6D12"/>
                </a:solidFill>
                <a:latin typeface="Inter" pitchFamily="34" charset="0"/>
                <a:ea typeface="Inter" pitchFamily="34" charset="-122"/>
                <a:cs typeface="Inter" pitchFamily="34" charset="-120"/>
              </a:rPr>
              <a:t>B</a:t>
            </a:r>
            <a:endParaRPr lang="en-US" sz="1800" dirty="0"/>
          </a:p>
        </p:txBody>
      </p:sp>
      <p:sp>
        <p:nvSpPr>
          <p:cNvPr id="19" name="Text 17"/>
          <p:cNvSpPr txBox="1"/>
          <p:nvPr/>
        </p:nvSpPr>
        <p:spPr>
          <a:xfrm>
            <a:off x="7168896" y="1847088"/>
            <a:ext cx="3566160" cy="320040"/>
          </a:xfrm>
          <a:prstGeom prst="rect">
            <a:avLst/>
          </a:prstGeom>
          <a:noFill/>
          <a:ln/>
        </p:spPr>
        <p:txBody>
          <a:bodyPr wrap="square" lIns="0" tIns="0" rIns="0" bIns="0" rtlCol="0" anchor="ctr">
            <a:normAutofit/>
          </a:bodyPr>
          <a:lstStyle/>
          <a:p>
            <a:pPr marL="0" indent="0" algn="l">
              <a:buNone/>
            </a:pPr>
            <a:r>
              <a:rPr lang="en-US" sz="1900" b="1" dirty="0">
                <a:solidFill>
                  <a:srgbClr val="101A2C"/>
                </a:solidFill>
                <a:latin typeface="Inter" pitchFamily="34" charset="0"/>
                <a:ea typeface="Inter" pitchFamily="34" charset="-122"/>
                <a:cs typeface="Inter" pitchFamily="34" charset="-120"/>
              </a:rPr>
              <a:t>Regression</a:t>
            </a:r>
            <a:endParaRPr lang="en-US" sz="1900" dirty="0"/>
          </a:p>
        </p:txBody>
      </p:sp>
      <p:sp>
        <p:nvSpPr>
          <p:cNvPr id="20" name="Text 18"/>
          <p:cNvSpPr txBox="1"/>
          <p:nvPr/>
        </p:nvSpPr>
        <p:spPr>
          <a:xfrm>
            <a:off x="6510528" y="2578608"/>
            <a:ext cx="4526280" cy="713232"/>
          </a:xfrm>
          <a:prstGeom prst="rect">
            <a:avLst/>
          </a:prstGeom>
          <a:noFill/>
          <a:ln/>
        </p:spPr>
        <p:txBody>
          <a:bodyPr wrap="square" lIns="0" tIns="0" rIns="0" bIns="0" rtlCol="0" anchor="t">
            <a:normAutofit/>
          </a:bodyPr>
          <a:lstStyle/>
          <a:p>
            <a:pPr marL="0" indent="0" algn="l">
              <a:buNone/>
            </a:pPr>
            <a:r>
              <a:rPr lang="en-US" sz="1700" b="1" dirty="0">
                <a:solidFill>
                  <a:srgbClr val="253246"/>
                </a:solidFill>
                <a:latin typeface="Inter" pitchFamily="34" charset="0"/>
                <a:ea typeface="Inter" pitchFamily="34" charset="-122"/>
                <a:cs typeface="Inter" pitchFamily="34" charset="-120"/>
              </a:rPr>
              <a:t>How many days until the next eruption begins?</a:t>
            </a:r>
            <a:endParaRPr lang="en-US" sz="1700" dirty="0"/>
          </a:p>
        </p:txBody>
      </p:sp>
      <p:sp>
        <p:nvSpPr>
          <p:cNvPr id="21" name="Shape 19"/>
          <p:cNvSpPr/>
          <p:nvPr/>
        </p:nvSpPr>
        <p:spPr>
          <a:xfrm>
            <a:off x="6510528" y="3575304"/>
            <a:ext cx="2121408" cy="283464"/>
          </a:xfrm>
          <a:prstGeom prst="roundRect">
            <a:avLst>
              <a:gd name="adj" fmla="val 45161"/>
            </a:avLst>
          </a:prstGeom>
          <a:solidFill>
            <a:srgbClr val="FFF4D9"/>
          </a:solidFill>
          <a:ln w="12700">
            <a:solidFill>
              <a:srgbClr val="FFF4D9">
                <a:alpha val="0"/>
              </a:srgbClr>
            </a:solidFill>
            <a:prstDash val="solid"/>
          </a:ln>
        </p:spPr>
      </p:sp>
      <p:sp>
        <p:nvSpPr>
          <p:cNvPr id="22" name="Text 20"/>
          <p:cNvSpPr txBox="1"/>
          <p:nvPr/>
        </p:nvSpPr>
        <p:spPr>
          <a:xfrm>
            <a:off x="6601968" y="3589020"/>
            <a:ext cx="1938528" cy="246888"/>
          </a:xfrm>
          <a:prstGeom prst="rect">
            <a:avLst/>
          </a:prstGeom>
          <a:noFill/>
          <a:ln/>
        </p:spPr>
        <p:txBody>
          <a:bodyPr wrap="square" lIns="0" tIns="0" rIns="0" bIns="0" rtlCol="0" anchor="ctr">
            <a:normAutofit/>
          </a:bodyPr>
          <a:lstStyle/>
          <a:p>
            <a:pPr marL="0" indent="0" algn="ctr">
              <a:buNone/>
            </a:pPr>
            <a:r>
              <a:rPr lang="en-US" sz="800" b="1" dirty="0">
                <a:solidFill>
                  <a:srgbClr val="8D671E"/>
                </a:solidFill>
                <a:latin typeface="Inter" pitchFamily="34" charset="0"/>
                <a:ea typeface="Inter" pitchFamily="34" charset="-122"/>
                <a:cs typeface="Inter" pitchFamily="34" charset="-120"/>
              </a:rPr>
              <a:t>OUTPUT: NUMBER OF DAYS</a:t>
            </a:r>
            <a:endParaRPr lang="en-US" sz="800" dirty="0"/>
          </a:p>
        </p:txBody>
      </p:sp>
      <p:sp>
        <p:nvSpPr>
          <p:cNvPr id="23" name="Shape 21"/>
          <p:cNvSpPr/>
          <p:nvPr/>
        </p:nvSpPr>
        <p:spPr>
          <a:xfrm>
            <a:off x="6519672" y="4133088"/>
            <a:ext cx="73152" cy="73152"/>
          </a:xfrm>
          <a:prstGeom prst="ellipse">
            <a:avLst/>
          </a:prstGeom>
          <a:solidFill>
            <a:srgbClr val="F4C15D"/>
          </a:solidFill>
          <a:ln w="12700">
            <a:solidFill>
              <a:srgbClr val="F4C15D">
                <a:alpha val="0"/>
              </a:srgbClr>
            </a:solidFill>
            <a:prstDash val="solid"/>
          </a:ln>
        </p:spPr>
      </p:sp>
      <p:sp>
        <p:nvSpPr>
          <p:cNvPr id="24" name="Text 22"/>
          <p:cNvSpPr txBox="1"/>
          <p:nvPr/>
        </p:nvSpPr>
        <p:spPr>
          <a:xfrm>
            <a:off x="6684264" y="4041648"/>
            <a:ext cx="4361688" cy="384048"/>
          </a:xfrm>
          <a:prstGeom prst="rect">
            <a:avLst/>
          </a:prstGeom>
          <a:noFill/>
          <a:ln/>
        </p:spPr>
        <p:txBody>
          <a:bodyPr wrap="square" lIns="0" tIns="0" rIns="0" bIns="0" rtlCol="0" anchor="t">
            <a:normAutofit/>
          </a:bodyPr>
          <a:lstStyle/>
          <a:p>
            <a:pPr marL="0" indent="0" algn="l">
              <a:buNone/>
            </a:pPr>
            <a:r>
              <a:rPr lang="en-US" sz="1100" dirty="0">
                <a:solidFill>
                  <a:srgbClr val="65748B"/>
                </a:solidFill>
                <a:latin typeface="Inter" pitchFamily="34" charset="0"/>
                <a:ea typeface="Inter" pitchFamily="34" charset="-122"/>
                <a:cs typeface="Inter" pitchFamily="34" charset="-120"/>
              </a:rPr>
              <a:t>0 if an eruption is already underway</a:t>
            </a:r>
            <a:endParaRPr lang="en-US" sz="1100" dirty="0"/>
          </a:p>
        </p:txBody>
      </p:sp>
      <p:sp>
        <p:nvSpPr>
          <p:cNvPr id="25" name="Shape 23"/>
          <p:cNvSpPr/>
          <p:nvPr/>
        </p:nvSpPr>
        <p:spPr>
          <a:xfrm>
            <a:off x="6519672" y="4572000"/>
            <a:ext cx="73152" cy="73152"/>
          </a:xfrm>
          <a:prstGeom prst="ellipse">
            <a:avLst/>
          </a:prstGeom>
          <a:solidFill>
            <a:srgbClr val="F4C15D"/>
          </a:solidFill>
          <a:ln w="12700">
            <a:solidFill>
              <a:srgbClr val="F4C15D">
                <a:alpha val="0"/>
              </a:srgbClr>
            </a:solidFill>
            <a:prstDash val="solid"/>
          </a:ln>
        </p:spPr>
      </p:sp>
      <p:sp>
        <p:nvSpPr>
          <p:cNvPr id="26" name="Text 24"/>
          <p:cNvSpPr txBox="1"/>
          <p:nvPr/>
        </p:nvSpPr>
        <p:spPr>
          <a:xfrm>
            <a:off x="6684264" y="4480560"/>
            <a:ext cx="4361688" cy="320040"/>
          </a:xfrm>
          <a:prstGeom prst="rect">
            <a:avLst/>
          </a:prstGeom>
          <a:noFill/>
          <a:ln/>
        </p:spPr>
        <p:txBody>
          <a:bodyPr wrap="square" lIns="0" tIns="0" rIns="0" bIns="0" rtlCol="0" anchor="t">
            <a:normAutofit/>
          </a:bodyPr>
          <a:lstStyle/>
          <a:p>
            <a:pPr marL="0" indent="0" algn="l">
              <a:buNone/>
            </a:pPr>
            <a:r>
              <a:rPr lang="en-US" sz="1100" dirty="0">
                <a:solidFill>
                  <a:srgbClr val="65748B"/>
                </a:solidFill>
                <a:latin typeface="Inter" pitchFamily="34" charset="0"/>
                <a:ea typeface="Inter" pitchFamily="34" charset="-122"/>
                <a:cs typeface="Inter" pitchFamily="34" charset="-120"/>
              </a:rPr>
              <a:t>A numeric estimate, not a guarantee</a:t>
            </a:r>
            <a:endParaRPr lang="en-US" sz="1100" dirty="0"/>
          </a:p>
        </p:txBody>
      </p:sp>
      <p:sp>
        <p:nvSpPr>
          <p:cNvPr id="27" name="Shape 25"/>
          <p:cNvSpPr/>
          <p:nvPr/>
        </p:nvSpPr>
        <p:spPr>
          <a:xfrm>
            <a:off x="658368" y="5230368"/>
            <a:ext cx="10881360" cy="749808"/>
          </a:xfrm>
          <a:prstGeom prst="roundRect">
            <a:avLst>
              <a:gd name="adj" fmla="val 14634"/>
            </a:avLst>
          </a:prstGeom>
          <a:solidFill>
            <a:srgbClr val="101A2C"/>
          </a:solidFill>
          <a:ln w="6350">
            <a:solidFill>
              <a:srgbClr val="101A2C">
                <a:alpha val="0"/>
              </a:srgbClr>
            </a:solidFill>
            <a:prstDash val="solid"/>
          </a:ln>
        </p:spPr>
      </p:sp>
      <p:sp>
        <p:nvSpPr>
          <p:cNvPr id="28" name="Text 26"/>
          <p:cNvSpPr txBox="1"/>
          <p:nvPr/>
        </p:nvSpPr>
        <p:spPr>
          <a:xfrm>
            <a:off x="896112" y="5404104"/>
            <a:ext cx="1508760" cy="201168"/>
          </a:xfrm>
          <a:prstGeom prst="rect">
            <a:avLst/>
          </a:prstGeom>
          <a:noFill/>
          <a:ln/>
        </p:spPr>
        <p:txBody>
          <a:bodyPr wrap="square" lIns="0" tIns="0" rIns="0" bIns="0" rtlCol="0" anchor="ctr">
            <a:normAutofit/>
          </a:bodyPr>
          <a:lstStyle/>
          <a:p>
            <a:pPr marL="0" indent="0" algn="l">
              <a:buNone/>
            </a:pPr>
            <a:r>
              <a:rPr lang="en-US" sz="1000" b="1" dirty="0">
                <a:solidFill>
                  <a:srgbClr val="9FE4DF"/>
                </a:solidFill>
                <a:latin typeface="Inter" pitchFamily="34" charset="0"/>
                <a:ea typeface="Inter" pitchFamily="34" charset="-122"/>
                <a:cs typeface="Inter" pitchFamily="34" charset="-120"/>
              </a:rPr>
              <a:t>Research question</a:t>
            </a:r>
            <a:endParaRPr lang="en-US" sz="1000" dirty="0"/>
          </a:p>
        </p:txBody>
      </p:sp>
      <p:sp>
        <p:nvSpPr>
          <p:cNvPr id="29" name="Text 27"/>
          <p:cNvSpPr txBox="1"/>
          <p:nvPr/>
        </p:nvSpPr>
        <p:spPr>
          <a:xfrm>
            <a:off x="2377440" y="5367528"/>
            <a:ext cx="8732520" cy="292608"/>
          </a:xfrm>
          <a:prstGeom prst="rect">
            <a:avLst/>
          </a:prstGeom>
          <a:noFill/>
          <a:ln/>
        </p:spPr>
        <p:txBody>
          <a:bodyPr wrap="square" lIns="0" tIns="0" rIns="0" bIns="0" rtlCol="0" anchor="ctr">
            <a:normAutofit/>
          </a:bodyPr>
          <a:lstStyle/>
          <a:p>
            <a:pPr marL="0" indent="0" algn="l">
              <a:buNone/>
            </a:pPr>
            <a:r>
              <a:rPr lang="en-US" sz="1300" b="1" dirty="0">
                <a:solidFill>
                  <a:srgbClr val="FFFFFF"/>
                </a:solidFill>
                <a:latin typeface="Inter" pitchFamily="34" charset="0"/>
                <a:ea typeface="Inter" pitchFamily="34" charset="-122"/>
                <a:cs typeface="Inter" pitchFamily="34" charset="-120"/>
              </a:rPr>
              <a:t>Do earthquake location, depth, magnitude and recent event rates contain useful signals?</a:t>
            </a:r>
            <a:endParaRPr lang="en-US" sz="1300" dirty="0"/>
          </a:p>
        </p:txBody>
      </p:sp>
      <p:sp>
        <p:nvSpPr>
          <p:cNvPr id="30" name="Shape 28"/>
          <p:cNvSpPr/>
          <p:nvPr/>
        </p:nvSpPr>
        <p:spPr>
          <a:xfrm>
            <a:off x="621792" y="6419088"/>
            <a:ext cx="10945368" cy="0"/>
          </a:xfrm>
          <a:prstGeom prst="line">
            <a:avLst/>
          </a:prstGeom>
          <a:noFill/>
          <a:ln w="8255">
            <a:solidFill>
              <a:srgbClr val="DDE4ED"/>
            </a:solidFill>
            <a:prstDash val="solid"/>
            <a:headEnd type="none"/>
            <a:tailEnd type="none"/>
          </a:ln>
        </p:spPr>
      </p:sp>
      <p:sp>
        <p:nvSpPr>
          <p:cNvPr id="31" name="Text 29"/>
          <p:cNvSpPr txBox="1"/>
          <p:nvPr/>
        </p:nvSpPr>
        <p:spPr>
          <a:xfrm>
            <a:off x="640080" y="6473952"/>
            <a:ext cx="9966960" cy="164592"/>
          </a:xfrm>
          <a:prstGeom prst="rect">
            <a:avLst/>
          </a:prstGeom>
          <a:noFill/>
          <a:ln/>
        </p:spPr>
        <p:txBody>
          <a:bodyPr wrap="square" lIns="0" tIns="0" rIns="0" bIns="0" rtlCol="0" anchor="ctr">
            <a:normAutofit/>
          </a:bodyPr>
          <a:lstStyle/>
          <a:p>
            <a:pPr marL="0" indent="0" algn="l">
              <a:buNone/>
            </a:pPr>
            <a:r>
              <a:rPr lang="en-US" sz="740" dirty="0">
                <a:solidFill>
                  <a:srgbClr val="8A97AA"/>
                </a:solidFill>
                <a:latin typeface="Inter" pitchFamily="34" charset="0"/>
                <a:ea typeface="Inter" pitchFamily="34" charset="-122"/>
                <a:cs typeface="Inter" pitchFamily="34" charset="-120"/>
              </a:rPr>
              <a:t>Source: Mullet, Singh &amp; Wong, “Predicting Eruptive Events at Volcanoes from Earthquake Data” (CS229, 2019)</a:t>
            </a:r>
            <a:endParaRPr lang="en-US" sz="740" dirty="0"/>
          </a:p>
        </p:txBody>
      </p:sp>
      <p:sp>
        <p:nvSpPr>
          <p:cNvPr id="32" name="Text 30"/>
          <p:cNvSpPr txBox="1"/>
          <p:nvPr/>
        </p:nvSpPr>
        <p:spPr>
          <a:xfrm>
            <a:off x="11109960" y="6455664"/>
            <a:ext cx="438912" cy="182880"/>
          </a:xfrm>
          <a:prstGeom prst="rect">
            <a:avLst/>
          </a:prstGeom>
          <a:noFill/>
          <a:ln/>
        </p:spPr>
        <p:txBody>
          <a:bodyPr wrap="square" lIns="0" tIns="0" rIns="0" bIns="0" rtlCol="0" anchor="ctr">
            <a:normAutofit/>
          </a:bodyPr>
          <a:lstStyle/>
          <a:p>
            <a:pPr marL="0" indent="0" algn="r">
              <a:buNone/>
            </a:pPr>
            <a:r>
              <a:rPr lang="en-US" sz="850" b="1" dirty="0">
                <a:solidFill>
                  <a:srgbClr val="65748B"/>
                </a:solidFill>
                <a:latin typeface="Inter" pitchFamily="34" charset="0"/>
                <a:ea typeface="Inter" pitchFamily="34" charset="-122"/>
                <a:cs typeface="Inter"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21792" y="320040"/>
            <a:ext cx="5303520" cy="201168"/>
          </a:xfrm>
          <a:prstGeom prst="rect">
            <a:avLst/>
          </a:prstGeom>
          <a:noFill/>
          <a:ln/>
        </p:spPr>
        <p:txBody>
          <a:bodyPr wrap="square" lIns="0" tIns="0" rIns="0" bIns="0" rtlCol="0" anchor="ctr">
            <a:normAutofit/>
          </a:bodyPr>
          <a:lstStyle/>
          <a:p>
            <a:pPr marL="0" indent="0" algn="l">
              <a:buNone/>
            </a:pPr>
            <a:r>
              <a:rPr lang="en-US" sz="900" b="1" kern="0" spc="130" dirty="0">
                <a:solidFill>
                  <a:srgbClr val="087F7A"/>
                </a:solidFill>
                <a:latin typeface="Inter" pitchFamily="34" charset="0"/>
                <a:ea typeface="Inter" pitchFamily="34" charset="-122"/>
                <a:cs typeface="Inter" pitchFamily="34" charset="-120"/>
              </a:rPr>
              <a:t>02 / DATA</a:t>
            </a:r>
            <a:endParaRPr lang="en-US" sz="900" dirty="0"/>
          </a:p>
        </p:txBody>
      </p:sp>
      <p:sp>
        <p:nvSpPr>
          <p:cNvPr id="3" name="Text 1"/>
          <p:cNvSpPr txBox="1"/>
          <p:nvPr/>
        </p:nvSpPr>
        <p:spPr>
          <a:xfrm>
            <a:off x="621792" y="576072"/>
            <a:ext cx="10972800" cy="429768"/>
          </a:xfrm>
          <a:prstGeom prst="rect">
            <a:avLst/>
          </a:prstGeom>
          <a:noFill/>
          <a:ln/>
        </p:spPr>
        <p:txBody>
          <a:bodyPr wrap="square" lIns="0" tIns="0" rIns="0" bIns="0" rtlCol="0" anchor="ctr">
            <a:normAutofit/>
          </a:bodyPr>
          <a:lstStyle/>
          <a:p>
            <a:pPr marL="0" indent="0" algn="l">
              <a:buNone/>
            </a:pPr>
            <a:r>
              <a:rPr lang="en-US" sz="2500" b="1" dirty="0">
                <a:solidFill>
                  <a:srgbClr val="101A2C"/>
                </a:solidFill>
                <a:latin typeface="Inter" pitchFamily="34" charset="0"/>
                <a:ea typeface="Inter" pitchFamily="34" charset="-122"/>
                <a:cs typeface="Inter" pitchFamily="34" charset="-120"/>
              </a:rPr>
              <a:t>The study combines earthquakes with eruption history</a:t>
            </a:r>
            <a:endParaRPr lang="en-US" sz="2500" dirty="0"/>
          </a:p>
        </p:txBody>
      </p:sp>
      <p:sp>
        <p:nvSpPr>
          <p:cNvPr id="4" name="Text 2"/>
          <p:cNvSpPr txBox="1"/>
          <p:nvPr/>
        </p:nvSpPr>
        <p:spPr>
          <a:xfrm>
            <a:off x="640080" y="1033272"/>
            <a:ext cx="10881360" cy="256032"/>
          </a:xfrm>
          <a:prstGeom prst="rect">
            <a:avLst/>
          </a:prstGeom>
          <a:noFill/>
          <a:ln/>
        </p:spPr>
        <p:txBody>
          <a:bodyPr wrap="square" lIns="0" tIns="0" rIns="0" bIns="0" rtlCol="0" anchor="ctr">
            <a:normAutofit/>
          </a:bodyPr>
          <a:lstStyle/>
          <a:p>
            <a:pPr marL="0" indent="0" algn="l">
              <a:buNone/>
            </a:pPr>
            <a:r>
              <a:rPr lang="en-US" sz="1050" dirty="0">
                <a:solidFill>
                  <a:srgbClr val="65748B"/>
                </a:solidFill>
                <a:latin typeface="Inter" pitchFamily="34" charset="0"/>
                <a:ea typeface="Inter" pitchFamily="34" charset="-122"/>
                <a:cs typeface="Inter" pitchFamily="34" charset="-120"/>
              </a:rPr>
              <a:t>Earthquake records span 1983–1986; inputs are computed for each retained East Rift Zone earthquake.</a:t>
            </a:r>
            <a:endParaRPr lang="en-US" sz="1050" dirty="0"/>
          </a:p>
        </p:txBody>
      </p:sp>
      <p:sp>
        <p:nvSpPr>
          <p:cNvPr id="5" name="Shape 3"/>
          <p:cNvSpPr/>
          <p:nvPr/>
        </p:nvSpPr>
        <p:spPr>
          <a:xfrm>
            <a:off x="658368" y="1417320"/>
            <a:ext cx="3401568" cy="777240"/>
          </a:xfrm>
          <a:prstGeom prst="roundRect">
            <a:avLst>
              <a:gd name="adj" fmla="val 16471"/>
            </a:avLst>
          </a:prstGeom>
          <a:solidFill>
            <a:srgbClr val="FFFFFF"/>
          </a:solidFill>
          <a:ln w="9525">
            <a:solidFill>
              <a:srgbClr val="DDE4ED"/>
            </a:solidFill>
            <a:prstDash val="solid"/>
          </a:ln>
        </p:spPr>
      </p:sp>
      <p:sp>
        <p:nvSpPr>
          <p:cNvPr id="6" name="Text 4"/>
          <p:cNvSpPr txBox="1"/>
          <p:nvPr/>
        </p:nvSpPr>
        <p:spPr>
          <a:xfrm>
            <a:off x="822960" y="1517904"/>
            <a:ext cx="3072384" cy="310896"/>
          </a:xfrm>
          <a:prstGeom prst="rect">
            <a:avLst/>
          </a:prstGeom>
          <a:noFill/>
          <a:ln/>
        </p:spPr>
        <p:txBody>
          <a:bodyPr wrap="square" lIns="0" tIns="0" rIns="0" bIns="0" rtlCol="0" anchor="ctr">
            <a:normAutofit/>
          </a:bodyPr>
          <a:lstStyle/>
          <a:p>
            <a:pPr marL="0" indent="0" algn="l">
              <a:buNone/>
            </a:pPr>
            <a:r>
              <a:rPr lang="en-US" sz="2100" b="1" dirty="0">
                <a:solidFill>
                  <a:srgbClr val="087F7A"/>
                </a:solidFill>
                <a:latin typeface="Inter" pitchFamily="34" charset="0"/>
                <a:ea typeface="Inter" pitchFamily="34" charset="-122"/>
                <a:cs typeface="Inter" pitchFamily="34" charset="-120"/>
              </a:rPr>
              <a:t>6,485 → 3,764</a:t>
            </a:r>
            <a:endParaRPr lang="en-US" sz="2100" dirty="0"/>
          </a:p>
        </p:txBody>
      </p:sp>
      <p:sp>
        <p:nvSpPr>
          <p:cNvPr id="7" name="Text 5"/>
          <p:cNvSpPr txBox="1"/>
          <p:nvPr/>
        </p:nvSpPr>
        <p:spPr>
          <a:xfrm>
            <a:off x="822960" y="1874520"/>
            <a:ext cx="3072384" cy="201168"/>
          </a:xfrm>
          <a:prstGeom prst="rect">
            <a:avLst/>
          </a:prstGeom>
          <a:noFill/>
          <a:ln/>
        </p:spPr>
        <p:txBody>
          <a:bodyPr wrap="square" lIns="0" tIns="0" rIns="0" bIns="0" rtlCol="0" anchor="ctr">
            <a:normAutofit/>
          </a:bodyPr>
          <a:lstStyle/>
          <a:p>
            <a:pPr marL="0" indent="0" algn="l">
              <a:buNone/>
            </a:pPr>
            <a:r>
              <a:rPr lang="en-US" sz="920" dirty="0">
                <a:solidFill>
                  <a:srgbClr val="65748B"/>
                </a:solidFill>
                <a:latin typeface="Inter" pitchFamily="34" charset="0"/>
                <a:ea typeface="Inter" pitchFamily="34" charset="-122"/>
                <a:cs typeface="Inter" pitchFamily="34" charset="-120"/>
              </a:rPr>
              <a:t>earthquakes after spatial filtering</a:t>
            </a:r>
            <a:endParaRPr lang="en-US" sz="920" dirty="0"/>
          </a:p>
        </p:txBody>
      </p:sp>
      <p:sp>
        <p:nvSpPr>
          <p:cNvPr id="8" name="Shape 6"/>
          <p:cNvSpPr/>
          <p:nvPr/>
        </p:nvSpPr>
        <p:spPr>
          <a:xfrm>
            <a:off x="4370832" y="1417320"/>
            <a:ext cx="3401568" cy="777240"/>
          </a:xfrm>
          <a:prstGeom prst="roundRect">
            <a:avLst>
              <a:gd name="adj" fmla="val 16471"/>
            </a:avLst>
          </a:prstGeom>
          <a:solidFill>
            <a:srgbClr val="FFFFFF"/>
          </a:solidFill>
          <a:ln w="9525">
            <a:solidFill>
              <a:srgbClr val="DDE4ED"/>
            </a:solidFill>
            <a:prstDash val="solid"/>
          </a:ln>
        </p:spPr>
      </p:sp>
      <p:sp>
        <p:nvSpPr>
          <p:cNvPr id="9" name="Text 7"/>
          <p:cNvSpPr txBox="1"/>
          <p:nvPr/>
        </p:nvSpPr>
        <p:spPr>
          <a:xfrm>
            <a:off x="4535424" y="1517904"/>
            <a:ext cx="3072384" cy="310896"/>
          </a:xfrm>
          <a:prstGeom prst="rect">
            <a:avLst/>
          </a:prstGeom>
          <a:noFill/>
          <a:ln/>
        </p:spPr>
        <p:txBody>
          <a:bodyPr wrap="square" lIns="0" tIns="0" rIns="0" bIns="0" rtlCol="0" anchor="ctr">
            <a:normAutofit/>
          </a:bodyPr>
          <a:lstStyle/>
          <a:p>
            <a:pPr marL="0" indent="0" algn="l">
              <a:buNone/>
            </a:pPr>
            <a:r>
              <a:rPr lang="en-US" sz="2100" b="1" dirty="0">
                <a:solidFill>
                  <a:srgbClr val="8D671E"/>
                </a:solidFill>
                <a:latin typeface="Inter" pitchFamily="34" charset="0"/>
                <a:ea typeface="Inter" pitchFamily="34" charset="-122"/>
                <a:cs typeface="Inter" pitchFamily="34" charset="-120"/>
              </a:rPr>
              <a:t>49</a:t>
            </a:r>
            <a:endParaRPr lang="en-US" sz="2100" dirty="0"/>
          </a:p>
        </p:txBody>
      </p:sp>
      <p:sp>
        <p:nvSpPr>
          <p:cNvPr id="10" name="Text 8"/>
          <p:cNvSpPr txBox="1"/>
          <p:nvPr/>
        </p:nvSpPr>
        <p:spPr>
          <a:xfrm>
            <a:off x="4535424" y="1874520"/>
            <a:ext cx="3072384" cy="201168"/>
          </a:xfrm>
          <a:prstGeom prst="rect">
            <a:avLst/>
          </a:prstGeom>
          <a:noFill/>
          <a:ln/>
        </p:spPr>
        <p:txBody>
          <a:bodyPr wrap="square" lIns="0" tIns="0" rIns="0" bIns="0" rtlCol="0" anchor="ctr">
            <a:normAutofit/>
          </a:bodyPr>
          <a:lstStyle/>
          <a:p>
            <a:pPr marL="0" indent="0" algn="l">
              <a:buNone/>
            </a:pPr>
            <a:r>
              <a:rPr lang="en-US" sz="920" dirty="0">
                <a:solidFill>
                  <a:srgbClr val="65748B"/>
                </a:solidFill>
                <a:latin typeface="Inter" pitchFamily="34" charset="0"/>
                <a:ea typeface="Inter" pitchFamily="34" charset="-122"/>
                <a:cs typeface="Inter" pitchFamily="34" charset="-120"/>
              </a:rPr>
              <a:t>eruption episodes in the chronology</a:t>
            </a:r>
            <a:endParaRPr lang="en-US" sz="920" dirty="0"/>
          </a:p>
        </p:txBody>
      </p:sp>
      <p:sp>
        <p:nvSpPr>
          <p:cNvPr id="11" name="Shape 9"/>
          <p:cNvSpPr/>
          <p:nvPr/>
        </p:nvSpPr>
        <p:spPr>
          <a:xfrm>
            <a:off x="8083296" y="1417320"/>
            <a:ext cx="3401568" cy="777240"/>
          </a:xfrm>
          <a:prstGeom prst="roundRect">
            <a:avLst>
              <a:gd name="adj" fmla="val 16471"/>
            </a:avLst>
          </a:prstGeom>
          <a:solidFill>
            <a:srgbClr val="FFFFFF"/>
          </a:solidFill>
          <a:ln w="9525">
            <a:solidFill>
              <a:srgbClr val="DDE4ED"/>
            </a:solidFill>
            <a:prstDash val="solid"/>
          </a:ln>
        </p:spPr>
      </p:sp>
      <p:sp>
        <p:nvSpPr>
          <p:cNvPr id="12" name="Text 10"/>
          <p:cNvSpPr txBox="1"/>
          <p:nvPr/>
        </p:nvSpPr>
        <p:spPr>
          <a:xfrm>
            <a:off x="8247888" y="1517904"/>
            <a:ext cx="3072384" cy="310896"/>
          </a:xfrm>
          <a:prstGeom prst="rect">
            <a:avLst/>
          </a:prstGeom>
          <a:noFill/>
          <a:ln/>
        </p:spPr>
        <p:txBody>
          <a:bodyPr wrap="square" lIns="0" tIns="0" rIns="0" bIns="0" rtlCol="0" anchor="ctr">
            <a:normAutofit/>
          </a:bodyPr>
          <a:lstStyle/>
          <a:p>
            <a:pPr marL="0" indent="0" algn="l">
              <a:buNone/>
            </a:pPr>
            <a:r>
              <a:rPr lang="en-US" sz="2100" b="1" dirty="0">
                <a:solidFill>
                  <a:srgbClr val="4A78C2"/>
                </a:solidFill>
                <a:latin typeface="Inter" pitchFamily="34" charset="0"/>
                <a:ea typeface="Inter" pitchFamily="34" charset="-122"/>
                <a:cs typeface="Inter" pitchFamily="34" charset="-120"/>
              </a:rPr>
              <a:t>7</a:t>
            </a:r>
            <a:endParaRPr lang="en-US" sz="2100" dirty="0"/>
          </a:p>
        </p:txBody>
      </p:sp>
      <p:sp>
        <p:nvSpPr>
          <p:cNvPr id="13" name="Text 11"/>
          <p:cNvSpPr txBox="1"/>
          <p:nvPr/>
        </p:nvSpPr>
        <p:spPr>
          <a:xfrm>
            <a:off x="8247888" y="1874520"/>
            <a:ext cx="3072384" cy="201168"/>
          </a:xfrm>
          <a:prstGeom prst="rect">
            <a:avLst/>
          </a:prstGeom>
          <a:noFill/>
          <a:ln/>
        </p:spPr>
        <p:txBody>
          <a:bodyPr wrap="square" lIns="0" tIns="0" rIns="0" bIns="0" rtlCol="0" anchor="ctr">
            <a:normAutofit/>
          </a:bodyPr>
          <a:lstStyle/>
          <a:p>
            <a:pPr marL="0" indent="0" algn="l">
              <a:buNone/>
            </a:pPr>
            <a:r>
              <a:rPr lang="en-US" sz="920" dirty="0">
                <a:solidFill>
                  <a:srgbClr val="65748B"/>
                </a:solidFill>
                <a:latin typeface="Inter" pitchFamily="34" charset="0"/>
                <a:ea typeface="Inter" pitchFamily="34" charset="-122"/>
                <a:cs typeface="Inter" pitchFamily="34" charset="-120"/>
              </a:rPr>
              <a:t>model input features</a:t>
            </a:r>
            <a:endParaRPr lang="en-US" sz="920" dirty="0"/>
          </a:p>
        </p:txBody>
      </p:sp>
      <p:sp>
        <p:nvSpPr>
          <p:cNvPr id="14" name="Shape 12"/>
          <p:cNvSpPr/>
          <p:nvPr/>
        </p:nvSpPr>
        <p:spPr>
          <a:xfrm>
            <a:off x="658368" y="2395728"/>
            <a:ext cx="4983480" cy="3456432"/>
          </a:xfrm>
          <a:prstGeom prst="roundRect">
            <a:avLst>
              <a:gd name="adj" fmla="val 3704"/>
            </a:avLst>
          </a:prstGeom>
          <a:solidFill>
            <a:srgbClr val="FFFFFF"/>
          </a:solidFill>
          <a:ln w="9525">
            <a:solidFill>
              <a:srgbClr val="DDE4ED"/>
            </a:solidFill>
            <a:prstDash val="solid"/>
          </a:ln>
        </p:spPr>
      </p:sp>
      <p:pic>
        <p:nvPicPr>
          <p:cNvPr id="15" name="Image 0" descr="/mnt/data/results_only/figures/01_earthquake_map.png"/>
          <p:cNvPicPr>
            <a:picLocks noChangeAspect="1"/>
          </p:cNvPicPr>
          <p:nvPr/>
        </p:nvPicPr>
        <p:blipFill>
          <a:blip r:embed="rId3"/>
          <a:stretch>
            <a:fillRect/>
          </a:stretch>
        </p:blipFill>
        <p:spPr>
          <a:xfrm>
            <a:off x="1170246" y="2487168"/>
            <a:ext cx="3950581" cy="2999232"/>
          </a:xfrm>
          <a:prstGeom prst="rect">
            <a:avLst/>
          </a:prstGeom>
        </p:spPr>
      </p:pic>
      <p:sp>
        <p:nvSpPr>
          <p:cNvPr id="16" name="Text 13"/>
          <p:cNvSpPr txBox="1"/>
          <p:nvPr/>
        </p:nvSpPr>
        <p:spPr>
          <a:xfrm>
            <a:off x="850392" y="5541264"/>
            <a:ext cx="4590288" cy="182880"/>
          </a:xfrm>
          <a:prstGeom prst="rect">
            <a:avLst/>
          </a:prstGeom>
          <a:noFill/>
          <a:ln/>
        </p:spPr>
        <p:txBody>
          <a:bodyPr wrap="square" lIns="0" tIns="0" rIns="0" bIns="0" rtlCol="0" anchor="ctr">
            <a:normAutofit/>
          </a:bodyPr>
          <a:lstStyle/>
          <a:p>
            <a:pPr marL="0" indent="0" algn="ctr">
              <a:buNone/>
            </a:pPr>
            <a:r>
              <a:rPr lang="en-US" sz="830" dirty="0">
                <a:solidFill>
                  <a:srgbClr val="65748B"/>
                </a:solidFill>
                <a:latin typeface="Inter" pitchFamily="34" charset="0"/>
                <a:ea typeface="Inter" pitchFamily="34" charset="-122"/>
                <a:cs typeface="Inter" pitchFamily="34" charset="-120"/>
              </a:rPr>
              <a:t>East Rift Zone filter: retained earthquakes in blue; removed events in gray.</a:t>
            </a:r>
            <a:endParaRPr lang="en-US" sz="830" dirty="0"/>
          </a:p>
        </p:txBody>
      </p:sp>
      <p:sp>
        <p:nvSpPr>
          <p:cNvPr id="17" name="Shape 14"/>
          <p:cNvSpPr/>
          <p:nvPr/>
        </p:nvSpPr>
        <p:spPr>
          <a:xfrm>
            <a:off x="5870448" y="2395728"/>
            <a:ext cx="5669280" cy="3456432"/>
          </a:xfrm>
          <a:prstGeom prst="roundRect">
            <a:avLst>
              <a:gd name="adj" fmla="val 3704"/>
            </a:avLst>
          </a:prstGeom>
          <a:solidFill>
            <a:srgbClr val="FFFFFF"/>
          </a:solidFill>
          <a:ln w="9525">
            <a:solidFill>
              <a:srgbClr val="DDE4ED"/>
            </a:solidFill>
            <a:prstDash val="solid"/>
          </a:ln>
        </p:spPr>
      </p:sp>
      <p:sp>
        <p:nvSpPr>
          <p:cNvPr id="18" name="Text 15"/>
          <p:cNvSpPr txBox="1"/>
          <p:nvPr/>
        </p:nvSpPr>
        <p:spPr>
          <a:xfrm>
            <a:off x="6153912" y="2651760"/>
            <a:ext cx="4389120" cy="301752"/>
          </a:xfrm>
          <a:prstGeom prst="rect">
            <a:avLst/>
          </a:prstGeom>
          <a:noFill/>
          <a:ln/>
        </p:spPr>
        <p:txBody>
          <a:bodyPr wrap="square" lIns="0" tIns="0" rIns="0" bIns="0" rtlCol="0" anchor="ctr">
            <a:normAutofit/>
          </a:bodyPr>
          <a:lstStyle/>
          <a:p>
            <a:pPr marL="0" indent="0" algn="l">
              <a:buNone/>
            </a:pPr>
            <a:r>
              <a:rPr lang="en-US" sz="1600" b="1" dirty="0">
                <a:solidFill>
                  <a:srgbClr val="101A2C"/>
                </a:solidFill>
                <a:latin typeface="Inter" pitchFamily="34" charset="0"/>
                <a:ea typeface="Inter" pitchFamily="34" charset="-122"/>
                <a:cs typeface="Inter" pitchFamily="34" charset="-120"/>
              </a:rPr>
              <a:t>Inputs used by the models</a:t>
            </a:r>
            <a:endParaRPr lang="en-US" sz="1600" dirty="0"/>
          </a:p>
        </p:txBody>
      </p:sp>
      <p:sp>
        <p:nvSpPr>
          <p:cNvPr id="19" name="Shape 16"/>
          <p:cNvSpPr/>
          <p:nvPr/>
        </p:nvSpPr>
        <p:spPr>
          <a:xfrm>
            <a:off x="6190488" y="3209544"/>
            <a:ext cx="256032" cy="256032"/>
          </a:xfrm>
          <a:prstGeom prst="ellipse">
            <a:avLst/>
          </a:prstGeom>
          <a:solidFill>
            <a:srgbClr val="DDF5F1"/>
          </a:solidFill>
          <a:ln w="12700">
            <a:solidFill>
              <a:srgbClr val="DDF5F1">
                <a:alpha val="0"/>
              </a:srgbClr>
            </a:solidFill>
            <a:prstDash val="solid"/>
          </a:ln>
        </p:spPr>
      </p:sp>
      <p:sp>
        <p:nvSpPr>
          <p:cNvPr id="20" name="Text 17"/>
          <p:cNvSpPr txBox="1"/>
          <p:nvPr/>
        </p:nvSpPr>
        <p:spPr>
          <a:xfrm>
            <a:off x="6190488" y="3209544"/>
            <a:ext cx="256032" cy="256032"/>
          </a:xfrm>
          <a:prstGeom prst="rect">
            <a:avLst/>
          </a:prstGeom>
          <a:noFill/>
          <a:ln/>
        </p:spPr>
        <p:txBody>
          <a:bodyPr wrap="square" lIns="0" tIns="0" rIns="0" bIns="0" rtlCol="0" anchor="ctr">
            <a:normAutofit/>
          </a:bodyPr>
          <a:lstStyle/>
          <a:p>
            <a:pPr marL="0" indent="0" algn="ctr">
              <a:buNone/>
            </a:pPr>
            <a:r>
              <a:rPr lang="en-US" sz="850" b="1" dirty="0">
                <a:solidFill>
                  <a:srgbClr val="087F7A"/>
                </a:solidFill>
                <a:latin typeface="Inter" pitchFamily="34" charset="0"/>
                <a:ea typeface="Inter" pitchFamily="34" charset="-122"/>
                <a:cs typeface="Inter" pitchFamily="34" charset="-120"/>
              </a:rPr>
              <a:t>1</a:t>
            </a:r>
            <a:endParaRPr lang="en-US" sz="850" dirty="0"/>
          </a:p>
        </p:txBody>
      </p:sp>
      <p:sp>
        <p:nvSpPr>
          <p:cNvPr id="21" name="Text 18"/>
          <p:cNvSpPr txBox="1"/>
          <p:nvPr/>
        </p:nvSpPr>
        <p:spPr>
          <a:xfrm>
            <a:off x="6583680" y="3191256"/>
            <a:ext cx="1481328" cy="201168"/>
          </a:xfrm>
          <a:prstGeom prst="rect">
            <a:avLst/>
          </a:prstGeom>
          <a:noFill/>
          <a:ln/>
        </p:spPr>
        <p:txBody>
          <a:bodyPr wrap="square" lIns="0" tIns="0" rIns="0" bIns="0" rtlCol="0" anchor="ctr">
            <a:normAutofit/>
          </a:bodyPr>
          <a:lstStyle/>
          <a:p>
            <a:pPr marL="0" indent="0" algn="l">
              <a:buNone/>
            </a:pPr>
            <a:r>
              <a:rPr lang="en-US" sz="1050" b="1" dirty="0">
                <a:solidFill>
                  <a:srgbClr val="253246"/>
                </a:solidFill>
                <a:latin typeface="Inter" pitchFamily="34" charset="0"/>
                <a:ea typeface="Inter" pitchFamily="34" charset="-122"/>
                <a:cs typeface="Inter" pitchFamily="34" charset="-120"/>
              </a:rPr>
              <a:t>Location</a:t>
            </a:r>
            <a:endParaRPr lang="en-US" sz="1050" dirty="0"/>
          </a:p>
        </p:txBody>
      </p:sp>
      <p:sp>
        <p:nvSpPr>
          <p:cNvPr id="22" name="Text 19"/>
          <p:cNvSpPr txBox="1"/>
          <p:nvPr/>
        </p:nvSpPr>
        <p:spPr>
          <a:xfrm>
            <a:off x="8046720" y="3191256"/>
            <a:ext cx="3063240" cy="292608"/>
          </a:xfrm>
          <a:prstGeom prst="rect">
            <a:avLst/>
          </a:prstGeom>
          <a:noFill/>
          <a:ln/>
        </p:spPr>
        <p:txBody>
          <a:bodyPr wrap="square" lIns="0" tIns="0" rIns="0" bIns="0" rtlCol="0" anchor="ctr">
            <a:normAutofit/>
          </a:bodyPr>
          <a:lstStyle/>
          <a:p>
            <a:pPr marL="0" indent="0" algn="l">
              <a:buNone/>
            </a:pPr>
            <a:r>
              <a:rPr lang="en-US" sz="1020" dirty="0">
                <a:solidFill>
                  <a:srgbClr val="65748B"/>
                </a:solidFill>
                <a:latin typeface="Inter" pitchFamily="34" charset="0"/>
                <a:ea typeface="Inter" pitchFamily="34" charset="-122"/>
                <a:cs typeface="Inter" pitchFamily="34" charset="-120"/>
              </a:rPr>
              <a:t>Latitude · longitude</a:t>
            </a:r>
            <a:endParaRPr lang="en-US" sz="1020" dirty="0"/>
          </a:p>
        </p:txBody>
      </p:sp>
      <p:sp>
        <p:nvSpPr>
          <p:cNvPr id="23" name="Shape 20"/>
          <p:cNvSpPr/>
          <p:nvPr/>
        </p:nvSpPr>
        <p:spPr>
          <a:xfrm>
            <a:off x="6190488" y="3831336"/>
            <a:ext cx="256032" cy="256032"/>
          </a:xfrm>
          <a:prstGeom prst="ellipse">
            <a:avLst/>
          </a:prstGeom>
          <a:solidFill>
            <a:srgbClr val="FFF4D9"/>
          </a:solidFill>
          <a:ln w="12700">
            <a:solidFill>
              <a:srgbClr val="FFF4D9">
                <a:alpha val="0"/>
              </a:srgbClr>
            </a:solidFill>
            <a:prstDash val="solid"/>
          </a:ln>
        </p:spPr>
      </p:sp>
      <p:sp>
        <p:nvSpPr>
          <p:cNvPr id="24" name="Text 21"/>
          <p:cNvSpPr txBox="1"/>
          <p:nvPr/>
        </p:nvSpPr>
        <p:spPr>
          <a:xfrm>
            <a:off x="6190488" y="3831336"/>
            <a:ext cx="256032" cy="256032"/>
          </a:xfrm>
          <a:prstGeom prst="rect">
            <a:avLst/>
          </a:prstGeom>
          <a:noFill/>
          <a:ln/>
        </p:spPr>
        <p:txBody>
          <a:bodyPr wrap="square" lIns="0" tIns="0" rIns="0" bIns="0" rtlCol="0" anchor="ctr">
            <a:normAutofit/>
          </a:bodyPr>
          <a:lstStyle/>
          <a:p>
            <a:pPr marL="0" indent="0" algn="ctr">
              <a:buNone/>
            </a:pPr>
            <a:r>
              <a:rPr lang="en-US" sz="850" b="1" dirty="0">
                <a:solidFill>
                  <a:srgbClr val="8D671E"/>
                </a:solidFill>
                <a:latin typeface="Inter" pitchFamily="34" charset="0"/>
                <a:ea typeface="Inter" pitchFamily="34" charset="-122"/>
                <a:cs typeface="Inter" pitchFamily="34" charset="-120"/>
              </a:rPr>
              <a:t>2</a:t>
            </a:r>
            <a:endParaRPr lang="en-US" sz="850" dirty="0"/>
          </a:p>
        </p:txBody>
      </p:sp>
      <p:sp>
        <p:nvSpPr>
          <p:cNvPr id="25" name="Text 22"/>
          <p:cNvSpPr txBox="1"/>
          <p:nvPr/>
        </p:nvSpPr>
        <p:spPr>
          <a:xfrm>
            <a:off x="6583680" y="3813048"/>
            <a:ext cx="1481328" cy="201168"/>
          </a:xfrm>
          <a:prstGeom prst="rect">
            <a:avLst/>
          </a:prstGeom>
          <a:noFill/>
          <a:ln/>
        </p:spPr>
        <p:txBody>
          <a:bodyPr wrap="square" lIns="0" tIns="0" rIns="0" bIns="0" rtlCol="0" anchor="ctr">
            <a:normAutofit/>
          </a:bodyPr>
          <a:lstStyle/>
          <a:p>
            <a:pPr marL="0" indent="0" algn="l">
              <a:buNone/>
            </a:pPr>
            <a:r>
              <a:rPr lang="en-US" sz="1050" b="1" dirty="0">
                <a:solidFill>
                  <a:srgbClr val="253246"/>
                </a:solidFill>
                <a:latin typeface="Inter" pitchFamily="34" charset="0"/>
                <a:ea typeface="Inter" pitchFamily="34" charset="-122"/>
                <a:cs typeface="Inter" pitchFamily="34" charset="-120"/>
              </a:rPr>
              <a:t>Seismic size</a:t>
            </a:r>
            <a:endParaRPr lang="en-US" sz="1050" dirty="0"/>
          </a:p>
        </p:txBody>
      </p:sp>
      <p:sp>
        <p:nvSpPr>
          <p:cNvPr id="26" name="Text 23"/>
          <p:cNvSpPr txBox="1"/>
          <p:nvPr/>
        </p:nvSpPr>
        <p:spPr>
          <a:xfrm>
            <a:off x="8046720" y="3813048"/>
            <a:ext cx="3063240" cy="292608"/>
          </a:xfrm>
          <a:prstGeom prst="rect">
            <a:avLst/>
          </a:prstGeom>
          <a:noFill/>
          <a:ln/>
        </p:spPr>
        <p:txBody>
          <a:bodyPr wrap="square" lIns="0" tIns="0" rIns="0" bIns="0" rtlCol="0" anchor="ctr">
            <a:normAutofit/>
          </a:bodyPr>
          <a:lstStyle/>
          <a:p>
            <a:pPr marL="0" indent="0" algn="l">
              <a:buNone/>
            </a:pPr>
            <a:r>
              <a:rPr lang="en-US" sz="1020" dirty="0">
                <a:solidFill>
                  <a:srgbClr val="65748B"/>
                </a:solidFill>
                <a:latin typeface="Inter" pitchFamily="34" charset="0"/>
                <a:ea typeface="Inter" pitchFamily="34" charset="-122"/>
                <a:cs typeface="Inter" pitchFamily="34" charset="-120"/>
              </a:rPr>
              <a:t>Magnitude · depth</a:t>
            </a:r>
            <a:endParaRPr lang="en-US" sz="1020" dirty="0"/>
          </a:p>
        </p:txBody>
      </p:sp>
      <p:sp>
        <p:nvSpPr>
          <p:cNvPr id="27" name="Shape 24"/>
          <p:cNvSpPr/>
          <p:nvPr/>
        </p:nvSpPr>
        <p:spPr>
          <a:xfrm>
            <a:off x="6190488" y="4453128"/>
            <a:ext cx="256032" cy="256032"/>
          </a:xfrm>
          <a:prstGeom prst="ellipse">
            <a:avLst/>
          </a:prstGeom>
          <a:solidFill>
            <a:srgbClr val="E9F0FC"/>
          </a:solidFill>
          <a:ln w="12700">
            <a:solidFill>
              <a:srgbClr val="E9F0FC">
                <a:alpha val="0"/>
              </a:srgbClr>
            </a:solidFill>
            <a:prstDash val="solid"/>
          </a:ln>
        </p:spPr>
      </p:sp>
      <p:sp>
        <p:nvSpPr>
          <p:cNvPr id="28" name="Text 25"/>
          <p:cNvSpPr txBox="1"/>
          <p:nvPr/>
        </p:nvSpPr>
        <p:spPr>
          <a:xfrm>
            <a:off x="6190488" y="4453128"/>
            <a:ext cx="256032" cy="256032"/>
          </a:xfrm>
          <a:prstGeom prst="rect">
            <a:avLst/>
          </a:prstGeom>
          <a:noFill/>
          <a:ln/>
        </p:spPr>
        <p:txBody>
          <a:bodyPr wrap="square" lIns="0" tIns="0" rIns="0" bIns="0" rtlCol="0" anchor="ctr">
            <a:normAutofit/>
          </a:bodyPr>
          <a:lstStyle/>
          <a:p>
            <a:pPr marL="0" indent="0" algn="ctr">
              <a:buNone/>
            </a:pPr>
            <a:r>
              <a:rPr lang="en-US" sz="850" b="1" dirty="0">
                <a:solidFill>
                  <a:srgbClr val="4A78C2"/>
                </a:solidFill>
                <a:latin typeface="Inter" pitchFamily="34" charset="0"/>
                <a:ea typeface="Inter" pitchFamily="34" charset="-122"/>
                <a:cs typeface="Inter" pitchFamily="34" charset="-120"/>
              </a:rPr>
              <a:t>3</a:t>
            </a:r>
            <a:endParaRPr lang="en-US" sz="850" dirty="0"/>
          </a:p>
        </p:txBody>
      </p:sp>
      <p:sp>
        <p:nvSpPr>
          <p:cNvPr id="29" name="Text 26"/>
          <p:cNvSpPr txBox="1"/>
          <p:nvPr/>
        </p:nvSpPr>
        <p:spPr>
          <a:xfrm>
            <a:off x="6583680" y="4434840"/>
            <a:ext cx="1481328" cy="201168"/>
          </a:xfrm>
          <a:prstGeom prst="rect">
            <a:avLst/>
          </a:prstGeom>
          <a:noFill/>
          <a:ln/>
        </p:spPr>
        <p:txBody>
          <a:bodyPr wrap="square" lIns="0" tIns="0" rIns="0" bIns="0" rtlCol="0" anchor="ctr">
            <a:normAutofit/>
          </a:bodyPr>
          <a:lstStyle/>
          <a:p>
            <a:pPr marL="0" indent="0" algn="l">
              <a:buNone/>
            </a:pPr>
            <a:r>
              <a:rPr lang="en-US" sz="1050" b="1" dirty="0">
                <a:solidFill>
                  <a:srgbClr val="253246"/>
                </a:solidFill>
                <a:latin typeface="Inter" pitchFamily="34" charset="0"/>
                <a:ea typeface="Inter" pitchFamily="34" charset="-122"/>
                <a:cs typeface="Inter" pitchFamily="34" charset="-120"/>
              </a:rPr>
              <a:t>Recent activity</a:t>
            </a:r>
            <a:endParaRPr lang="en-US" sz="1050" dirty="0"/>
          </a:p>
        </p:txBody>
      </p:sp>
      <p:sp>
        <p:nvSpPr>
          <p:cNvPr id="30" name="Text 27"/>
          <p:cNvSpPr txBox="1"/>
          <p:nvPr/>
        </p:nvSpPr>
        <p:spPr>
          <a:xfrm>
            <a:off x="8046720" y="4434840"/>
            <a:ext cx="3063240" cy="292608"/>
          </a:xfrm>
          <a:prstGeom prst="rect">
            <a:avLst/>
          </a:prstGeom>
          <a:noFill/>
          <a:ln/>
        </p:spPr>
        <p:txBody>
          <a:bodyPr wrap="square" lIns="0" tIns="0" rIns="0" bIns="0" rtlCol="0" anchor="ctr">
            <a:normAutofit/>
          </a:bodyPr>
          <a:lstStyle/>
          <a:p>
            <a:pPr marL="0" indent="0" algn="l">
              <a:buNone/>
            </a:pPr>
            <a:r>
              <a:rPr lang="en-US" sz="1020" dirty="0">
                <a:solidFill>
                  <a:srgbClr val="65748B"/>
                </a:solidFill>
                <a:latin typeface="Inter" pitchFamily="34" charset="0"/>
                <a:ea typeface="Inter" pitchFamily="34" charset="-122"/>
                <a:cs typeface="Inter" pitchFamily="34" charset="-120"/>
              </a:rPr>
              <a:t>Earthquake counts in prior 1, 7 and 30 days</a:t>
            </a:r>
            <a:endParaRPr lang="en-US" sz="1020" dirty="0"/>
          </a:p>
        </p:txBody>
      </p:sp>
      <p:sp>
        <p:nvSpPr>
          <p:cNvPr id="31" name="Shape 28"/>
          <p:cNvSpPr/>
          <p:nvPr/>
        </p:nvSpPr>
        <p:spPr>
          <a:xfrm>
            <a:off x="6144768" y="5175504"/>
            <a:ext cx="5056632" cy="0"/>
          </a:xfrm>
          <a:prstGeom prst="line">
            <a:avLst/>
          </a:prstGeom>
          <a:noFill/>
          <a:ln w="9525">
            <a:solidFill>
              <a:srgbClr val="DDE4ED"/>
            </a:solidFill>
            <a:prstDash val="solid"/>
            <a:headEnd type="none"/>
            <a:tailEnd type="none"/>
          </a:ln>
        </p:spPr>
      </p:sp>
      <p:sp>
        <p:nvSpPr>
          <p:cNvPr id="32" name="Text 29"/>
          <p:cNvSpPr txBox="1"/>
          <p:nvPr/>
        </p:nvSpPr>
        <p:spPr>
          <a:xfrm>
            <a:off x="6172200" y="5321808"/>
            <a:ext cx="640080" cy="228600"/>
          </a:xfrm>
          <a:prstGeom prst="rect">
            <a:avLst/>
          </a:prstGeom>
          <a:noFill/>
          <a:ln/>
        </p:spPr>
        <p:txBody>
          <a:bodyPr wrap="square" lIns="0" tIns="0" rIns="0" bIns="0" rtlCol="0" anchor="ctr">
            <a:normAutofit/>
          </a:bodyPr>
          <a:lstStyle/>
          <a:p>
            <a:pPr marL="0" indent="0" algn="l">
              <a:buNone/>
            </a:pPr>
            <a:r>
              <a:rPr lang="en-US" sz="1050" b="1" dirty="0">
                <a:solidFill>
                  <a:srgbClr val="101A2C"/>
                </a:solidFill>
                <a:latin typeface="Inter" pitchFamily="34" charset="0"/>
                <a:ea typeface="Inter" pitchFamily="34" charset="-122"/>
                <a:cs typeface="Inter" pitchFamily="34" charset="-120"/>
              </a:rPr>
              <a:t>Labels</a:t>
            </a:r>
            <a:endParaRPr lang="en-US" sz="1050" dirty="0"/>
          </a:p>
        </p:txBody>
      </p:sp>
      <p:sp>
        <p:nvSpPr>
          <p:cNvPr id="33" name="Text 30"/>
          <p:cNvSpPr txBox="1"/>
          <p:nvPr/>
        </p:nvSpPr>
        <p:spPr>
          <a:xfrm>
            <a:off x="6876288" y="5312664"/>
            <a:ext cx="4160520" cy="237744"/>
          </a:xfrm>
          <a:prstGeom prst="rect">
            <a:avLst/>
          </a:prstGeom>
          <a:noFill/>
          <a:ln/>
        </p:spPr>
        <p:txBody>
          <a:bodyPr wrap="square" lIns="0" tIns="0" rIns="0" bIns="0" rtlCol="0" anchor="ctr">
            <a:normAutofit/>
          </a:bodyPr>
          <a:lstStyle/>
          <a:p>
            <a:pPr marL="0" indent="0" algn="l">
              <a:buNone/>
            </a:pPr>
            <a:r>
              <a:rPr lang="en-US" sz="1010" b="1" dirty="0">
                <a:solidFill>
                  <a:srgbClr val="087F7A"/>
                </a:solidFill>
                <a:latin typeface="Inter" pitchFamily="34" charset="0"/>
                <a:ea typeface="Inter" pitchFamily="34" charset="-122"/>
                <a:cs typeface="Inter" pitchFamily="34" charset="-120"/>
              </a:rPr>
              <a:t>erupting (0/1)  ·  days_to_eruption (numeric)</a:t>
            </a:r>
            <a:endParaRPr lang="en-US" sz="1010" dirty="0"/>
          </a:p>
        </p:txBody>
      </p:sp>
      <p:sp>
        <p:nvSpPr>
          <p:cNvPr id="34" name="Text 31"/>
          <p:cNvSpPr txBox="1"/>
          <p:nvPr/>
        </p:nvSpPr>
        <p:spPr>
          <a:xfrm>
            <a:off x="6172200" y="5596128"/>
            <a:ext cx="4480560" cy="164592"/>
          </a:xfrm>
          <a:prstGeom prst="rect">
            <a:avLst/>
          </a:prstGeom>
          <a:noFill/>
          <a:ln/>
        </p:spPr>
        <p:txBody>
          <a:bodyPr wrap="square" lIns="0" tIns="0" rIns="0" bIns="0" rtlCol="0" anchor="ctr">
            <a:normAutofit/>
          </a:bodyPr>
          <a:lstStyle/>
          <a:p>
            <a:pPr marL="0" indent="0" algn="l">
              <a:buNone/>
            </a:pPr>
            <a:r>
              <a:rPr lang="en-US" sz="900" dirty="0">
                <a:solidFill>
                  <a:srgbClr val="65748B"/>
                </a:solidFill>
                <a:latin typeface="Inter" pitchFamily="34" charset="0"/>
                <a:ea typeface="Inter" pitchFamily="34" charset="-122"/>
                <a:cs typeface="Inter" pitchFamily="34" charset="-120"/>
              </a:rPr>
              <a:t>Class balance: 22.4% erupting / 77.6% repose</a:t>
            </a:r>
            <a:endParaRPr lang="en-US" sz="900" dirty="0"/>
          </a:p>
        </p:txBody>
      </p:sp>
      <p:sp>
        <p:nvSpPr>
          <p:cNvPr id="35" name="Shape 32"/>
          <p:cNvSpPr/>
          <p:nvPr/>
        </p:nvSpPr>
        <p:spPr>
          <a:xfrm>
            <a:off x="621792" y="6419088"/>
            <a:ext cx="10945368" cy="0"/>
          </a:xfrm>
          <a:prstGeom prst="line">
            <a:avLst/>
          </a:prstGeom>
          <a:noFill/>
          <a:ln w="8255">
            <a:solidFill>
              <a:srgbClr val="DDE4ED"/>
            </a:solidFill>
            <a:prstDash val="solid"/>
            <a:headEnd type="none"/>
            <a:tailEnd type="none"/>
          </a:ln>
        </p:spPr>
      </p:sp>
      <p:sp>
        <p:nvSpPr>
          <p:cNvPr id="36" name="Text 33"/>
          <p:cNvSpPr txBox="1"/>
          <p:nvPr/>
        </p:nvSpPr>
        <p:spPr>
          <a:xfrm>
            <a:off x="640080" y="6473952"/>
            <a:ext cx="9966960" cy="164592"/>
          </a:xfrm>
          <a:prstGeom prst="rect">
            <a:avLst/>
          </a:prstGeom>
          <a:noFill/>
          <a:ln/>
        </p:spPr>
        <p:txBody>
          <a:bodyPr wrap="square" lIns="0" tIns="0" rIns="0" bIns="0" rtlCol="0" anchor="ctr">
            <a:normAutofit/>
          </a:bodyPr>
          <a:lstStyle/>
          <a:p>
            <a:pPr marL="0" indent="0" algn="l">
              <a:buNone/>
            </a:pPr>
            <a:r>
              <a:rPr lang="en-US" sz="740" dirty="0">
                <a:solidFill>
                  <a:srgbClr val="8A97AA"/>
                </a:solidFill>
                <a:latin typeface="Inter" pitchFamily="34" charset="0"/>
                <a:ea typeface="Inter" pitchFamily="34" charset="-122"/>
                <a:cs typeface="Inter" pitchFamily="34" charset="-120"/>
              </a:rPr>
              <a:t>Dataset details: supplied data card and results package; earthquake source described as ANSS/WOVOdat</a:t>
            </a:r>
            <a:endParaRPr lang="en-US" sz="740" dirty="0"/>
          </a:p>
        </p:txBody>
      </p:sp>
      <p:sp>
        <p:nvSpPr>
          <p:cNvPr id="37" name="Text 34"/>
          <p:cNvSpPr txBox="1"/>
          <p:nvPr/>
        </p:nvSpPr>
        <p:spPr>
          <a:xfrm>
            <a:off x="11109960" y="6455664"/>
            <a:ext cx="438912" cy="182880"/>
          </a:xfrm>
          <a:prstGeom prst="rect">
            <a:avLst/>
          </a:prstGeom>
          <a:noFill/>
          <a:ln/>
        </p:spPr>
        <p:txBody>
          <a:bodyPr wrap="square" lIns="0" tIns="0" rIns="0" bIns="0" rtlCol="0" anchor="ctr">
            <a:normAutofit/>
          </a:bodyPr>
          <a:lstStyle/>
          <a:p>
            <a:pPr marL="0" indent="0" algn="r">
              <a:buNone/>
            </a:pPr>
            <a:r>
              <a:rPr lang="en-US" sz="850" b="1" dirty="0">
                <a:solidFill>
                  <a:srgbClr val="65748B"/>
                </a:solidFill>
                <a:latin typeface="Inter" pitchFamily="34" charset="0"/>
                <a:ea typeface="Inter" pitchFamily="34" charset="-122"/>
                <a:cs typeface="Inter"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21792" y="320040"/>
            <a:ext cx="5303520" cy="201168"/>
          </a:xfrm>
          <a:prstGeom prst="rect">
            <a:avLst/>
          </a:prstGeom>
          <a:noFill/>
          <a:ln/>
        </p:spPr>
        <p:txBody>
          <a:bodyPr wrap="square" lIns="0" tIns="0" rIns="0" bIns="0" rtlCol="0" anchor="ctr">
            <a:normAutofit/>
          </a:bodyPr>
          <a:lstStyle/>
          <a:p>
            <a:pPr marL="0" indent="0" algn="l">
              <a:buNone/>
            </a:pPr>
            <a:r>
              <a:rPr lang="en-US" sz="900" b="1" kern="0" spc="130" dirty="0">
                <a:solidFill>
                  <a:srgbClr val="087F7A"/>
                </a:solidFill>
                <a:latin typeface="Inter" pitchFamily="34" charset="0"/>
                <a:ea typeface="Inter" pitchFamily="34" charset="-122"/>
                <a:cs typeface="Inter" pitchFamily="34" charset="-120"/>
              </a:rPr>
              <a:t>03 / METHOD</a:t>
            </a:r>
            <a:endParaRPr lang="en-US" sz="900" dirty="0"/>
          </a:p>
        </p:txBody>
      </p:sp>
      <p:sp>
        <p:nvSpPr>
          <p:cNvPr id="3" name="Text 1"/>
          <p:cNvSpPr txBox="1"/>
          <p:nvPr/>
        </p:nvSpPr>
        <p:spPr>
          <a:xfrm>
            <a:off x="621792" y="576072"/>
            <a:ext cx="10972800" cy="429768"/>
          </a:xfrm>
          <a:prstGeom prst="rect">
            <a:avLst/>
          </a:prstGeom>
          <a:noFill/>
          <a:ln/>
        </p:spPr>
        <p:txBody>
          <a:bodyPr wrap="square" lIns="0" tIns="0" rIns="0" bIns="0" rtlCol="0" anchor="ctr">
            <a:normAutofit/>
          </a:bodyPr>
          <a:lstStyle/>
          <a:p>
            <a:pPr marL="0" indent="0" algn="l">
              <a:buNone/>
            </a:pPr>
            <a:r>
              <a:rPr lang="en-US" sz="2500" b="1" dirty="0">
                <a:solidFill>
                  <a:srgbClr val="101A2C"/>
                </a:solidFill>
                <a:latin typeface="Inter" pitchFamily="34" charset="0"/>
                <a:ea typeface="Inter" pitchFamily="34" charset="-122"/>
                <a:cs typeface="Inter" pitchFamily="34" charset="-120"/>
              </a:rPr>
              <a:t>A reproducible pipeline turns records into testable predictions</a:t>
            </a:r>
            <a:endParaRPr lang="en-US" sz="2500" dirty="0"/>
          </a:p>
        </p:txBody>
      </p:sp>
      <p:sp>
        <p:nvSpPr>
          <p:cNvPr id="4" name="Text 2"/>
          <p:cNvSpPr txBox="1"/>
          <p:nvPr/>
        </p:nvSpPr>
        <p:spPr>
          <a:xfrm>
            <a:off x="640080" y="1033272"/>
            <a:ext cx="10881360" cy="256032"/>
          </a:xfrm>
          <a:prstGeom prst="rect">
            <a:avLst/>
          </a:prstGeom>
          <a:noFill/>
          <a:ln/>
        </p:spPr>
        <p:txBody>
          <a:bodyPr wrap="square" lIns="0" tIns="0" rIns="0" bIns="0" rtlCol="0" anchor="ctr">
            <a:normAutofit/>
          </a:bodyPr>
          <a:lstStyle/>
          <a:p>
            <a:pPr marL="0" indent="0" algn="l">
              <a:buNone/>
            </a:pPr>
            <a:r>
              <a:rPr lang="en-US" sz="1050" dirty="0">
                <a:solidFill>
                  <a:srgbClr val="65748B"/>
                </a:solidFill>
                <a:latin typeface="Inter" pitchFamily="34" charset="0"/>
                <a:ea typeface="Inter" pitchFamily="34" charset="-122"/>
                <a:cs typeface="Inter" pitchFamily="34" charset="-120"/>
              </a:rPr>
              <a:t>The final results reported here use a stratified 70 / 20 / 10 train–development–test split.</a:t>
            </a:r>
            <a:endParaRPr lang="en-US" sz="1050" dirty="0"/>
          </a:p>
        </p:txBody>
      </p:sp>
      <p:sp>
        <p:nvSpPr>
          <p:cNvPr id="5" name="Shape 3"/>
          <p:cNvSpPr/>
          <p:nvPr/>
        </p:nvSpPr>
        <p:spPr>
          <a:xfrm>
            <a:off x="658368" y="1572768"/>
            <a:ext cx="2596896" cy="1371600"/>
          </a:xfrm>
          <a:prstGeom prst="roundRect">
            <a:avLst>
              <a:gd name="adj" fmla="val 9333"/>
            </a:avLst>
          </a:prstGeom>
          <a:solidFill>
            <a:srgbClr val="FFFFFF"/>
          </a:solidFill>
          <a:ln w="9525">
            <a:solidFill>
              <a:srgbClr val="DDE4ED"/>
            </a:solidFill>
            <a:prstDash val="solid"/>
          </a:ln>
        </p:spPr>
      </p:sp>
      <p:sp>
        <p:nvSpPr>
          <p:cNvPr id="6" name="Shape 4"/>
          <p:cNvSpPr/>
          <p:nvPr/>
        </p:nvSpPr>
        <p:spPr>
          <a:xfrm>
            <a:off x="822960" y="1709928"/>
            <a:ext cx="512064" cy="283464"/>
          </a:xfrm>
          <a:prstGeom prst="roundRect">
            <a:avLst>
              <a:gd name="adj" fmla="val 45161"/>
            </a:avLst>
          </a:prstGeom>
          <a:solidFill>
            <a:srgbClr val="DDF5F1"/>
          </a:solidFill>
          <a:ln w="12700">
            <a:solidFill>
              <a:srgbClr val="DDF5F1">
                <a:alpha val="0"/>
              </a:srgbClr>
            </a:solidFill>
            <a:prstDash val="solid"/>
          </a:ln>
        </p:spPr>
      </p:sp>
      <p:sp>
        <p:nvSpPr>
          <p:cNvPr id="7" name="Text 5"/>
          <p:cNvSpPr txBox="1"/>
          <p:nvPr/>
        </p:nvSpPr>
        <p:spPr>
          <a:xfrm>
            <a:off x="914400" y="1723644"/>
            <a:ext cx="329184" cy="246888"/>
          </a:xfrm>
          <a:prstGeom prst="rect">
            <a:avLst/>
          </a:prstGeom>
          <a:noFill/>
          <a:ln/>
        </p:spPr>
        <p:txBody>
          <a:bodyPr wrap="square" lIns="0" tIns="0" rIns="0" bIns="0" rtlCol="0" anchor="ctr">
            <a:normAutofit/>
          </a:bodyPr>
          <a:lstStyle/>
          <a:p>
            <a:pPr marL="0" indent="0" algn="ctr">
              <a:buNone/>
            </a:pPr>
            <a:r>
              <a:rPr lang="en-US" sz="800" b="1" dirty="0">
                <a:solidFill>
                  <a:srgbClr val="087F7A"/>
                </a:solidFill>
                <a:latin typeface="Inter" pitchFamily="34" charset="0"/>
                <a:ea typeface="Inter" pitchFamily="34" charset="-122"/>
                <a:cs typeface="Inter" pitchFamily="34" charset="-120"/>
              </a:rPr>
              <a:t>01</a:t>
            </a:r>
            <a:endParaRPr lang="en-US" sz="800" dirty="0"/>
          </a:p>
        </p:txBody>
      </p:sp>
      <p:sp>
        <p:nvSpPr>
          <p:cNvPr id="8" name="Text 6"/>
          <p:cNvSpPr txBox="1"/>
          <p:nvPr/>
        </p:nvSpPr>
        <p:spPr>
          <a:xfrm>
            <a:off x="822960" y="2093976"/>
            <a:ext cx="2267712" cy="256032"/>
          </a:xfrm>
          <a:prstGeom prst="rect">
            <a:avLst/>
          </a:prstGeom>
          <a:noFill/>
          <a:ln/>
        </p:spPr>
        <p:txBody>
          <a:bodyPr wrap="square" lIns="0" tIns="0" rIns="0" bIns="0" rtlCol="0" anchor="ctr">
            <a:normAutofit/>
          </a:bodyPr>
          <a:lstStyle/>
          <a:p>
            <a:pPr marL="0" indent="0" algn="l">
              <a:buNone/>
            </a:pPr>
            <a:r>
              <a:rPr lang="en-US" sz="1400" b="1" dirty="0">
                <a:solidFill>
                  <a:srgbClr val="101A2C"/>
                </a:solidFill>
                <a:latin typeface="Inter" pitchFamily="34" charset="0"/>
                <a:ea typeface="Inter" pitchFamily="34" charset="-122"/>
                <a:cs typeface="Inter" pitchFamily="34" charset="-120"/>
              </a:rPr>
              <a:t>Prepare data</a:t>
            </a:r>
            <a:endParaRPr lang="en-US" sz="1400" dirty="0"/>
          </a:p>
        </p:txBody>
      </p:sp>
      <p:sp>
        <p:nvSpPr>
          <p:cNvPr id="9" name="Text 7"/>
          <p:cNvSpPr txBox="1"/>
          <p:nvPr/>
        </p:nvSpPr>
        <p:spPr>
          <a:xfrm>
            <a:off x="822960" y="2414016"/>
            <a:ext cx="2267712" cy="384048"/>
          </a:xfrm>
          <a:prstGeom prst="rect">
            <a:avLst/>
          </a:prstGeom>
          <a:noFill/>
          <a:ln/>
        </p:spPr>
        <p:txBody>
          <a:bodyPr wrap="square" lIns="0" tIns="0" rIns="0" bIns="0" rtlCol="0" anchor="t">
            <a:normAutofit/>
          </a:bodyPr>
          <a:lstStyle/>
          <a:p>
            <a:pPr marL="0" indent="0" algn="l">
              <a:buNone/>
            </a:pPr>
            <a:r>
              <a:rPr lang="en-US" sz="950" dirty="0">
                <a:solidFill>
                  <a:srgbClr val="65748B"/>
                </a:solidFill>
                <a:latin typeface="Inter" pitchFamily="34" charset="0"/>
                <a:ea typeface="Inter" pitchFamily="34" charset="-122"/>
                <a:cs typeface="Inter" pitchFamily="34" charset="-120"/>
              </a:rPr>
              <a:t>Clean timestamps, filter the East Rift Zone and construct eruption labels.</a:t>
            </a:r>
            <a:endParaRPr lang="en-US" sz="950" dirty="0"/>
          </a:p>
        </p:txBody>
      </p:sp>
      <p:sp>
        <p:nvSpPr>
          <p:cNvPr id="10" name="Shape 8"/>
          <p:cNvSpPr/>
          <p:nvPr/>
        </p:nvSpPr>
        <p:spPr>
          <a:xfrm>
            <a:off x="3273552" y="2249424"/>
            <a:ext cx="118872" cy="0"/>
          </a:xfrm>
          <a:prstGeom prst="line">
            <a:avLst/>
          </a:prstGeom>
          <a:noFill/>
          <a:ln w="17780">
            <a:solidFill>
              <a:srgbClr val="16A6A1"/>
            </a:solidFill>
            <a:prstDash val="solid"/>
            <a:headEnd type="none"/>
            <a:tailEnd type="none"/>
          </a:ln>
        </p:spPr>
      </p:sp>
      <p:sp>
        <p:nvSpPr>
          <p:cNvPr id="11" name="Shape 9"/>
          <p:cNvSpPr/>
          <p:nvPr/>
        </p:nvSpPr>
        <p:spPr>
          <a:xfrm>
            <a:off x="3273552" y="2157984"/>
            <a:ext cx="128016" cy="182880"/>
          </a:xfrm>
          <a:prstGeom prst="chevron">
            <a:avLst/>
          </a:prstGeom>
          <a:solidFill>
            <a:srgbClr val="16A6A1"/>
          </a:solidFill>
          <a:ln w="12700">
            <a:solidFill>
              <a:srgbClr val="16A6A1">
                <a:alpha val="0"/>
              </a:srgbClr>
            </a:solidFill>
            <a:prstDash val="solid"/>
          </a:ln>
        </p:spPr>
      </p:sp>
      <p:sp>
        <p:nvSpPr>
          <p:cNvPr id="12" name="Shape 10"/>
          <p:cNvSpPr/>
          <p:nvPr/>
        </p:nvSpPr>
        <p:spPr>
          <a:xfrm>
            <a:off x="3419856" y="1572768"/>
            <a:ext cx="2596896" cy="1371600"/>
          </a:xfrm>
          <a:prstGeom prst="roundRect">
            <a:avLst>
              <a:gd name="adj" fmla="val 9333"/>
            </a:avLst>
          </a:prstGeom>
          <a:solidFill>
            <a:srgbClr val="FFFFFF"/>
          </a:solidFill>
          <a:ln w="9525">
            <a:solidFill>
              <a:srgbClr val="DDE4ED"/>
            </a:solidFill>
            <a:prstDash val="solid"/>
          </a:ln>
        </p:spPr>
      </p:sp>
      <p:sp>
        <p:nvSpPr>
          <p:cNvPr id="13" name="Shape 11"/>
          <p:cNvSpPr/>
          <p:nvPr/>
        </p:nvSpPr>
        <p:spPr>
          <a:xfrm>
            <a:off x="3584448" y="1709928"/>
            <a:ext cx="512064" cy="283464"/>
          </a:xfrm>
          <a:prstGeom prst="roundRect">
            <a:avLst>
              <a:gd name="adj" fmla="val 45161"/>
            </a:avLst>
          </a:prstGeom>
          <a:solidFill>
            <a:srgbClr val="FFF4D9"/>
          </a:solidFill>
          <a:ln w="12700">
            <a:solidFill>
              <a:srgbClr val="FFF4D9">
                <a:alpha val="0"/>
              </a:srgbClr>
            </a:solidFill>
            <a:prstDash val="solid"/>
          </a:ln>
        </p:spPr>
      </p:sp>
      <p:sp>
        <p:nvSpPr>
          <p:cNvPr id="14" name="Text 12"/>
          <p:cNvSpPr txBox="1"/>
          <p:nvPr/>
        </p:nvSpPr>
        <p:spPr>
          <a:xfrm>
            <a:off x="3675888" y="1723644"/>
            <a:ext cx="329184" cy="246888"/>
          </a:xfrm>
          <a:prstGeom prst="rect">
            <a:avLst/>
          </a:prstGeom>
          <a:noFill/>
          <a:ln/>
        </p:spPr>
        <p:txBody>
          <a:bodyPr wrap="square" lIns="0" tIns="0" rIns="0" bIns="0" rtlCol="0" anchor="ctr">
            <a:normAutofit/>
          </a:bodyPr>
          <a:lstStyle/>
          <a:p>
            <a:pPr marL="0" indent="0" algn="ctr">
              <a:buNone/>
            </a:pPr>
            <a:r>
              <a:rPr lang="en-US" sz="800" b="1" dirty="0">
                <a:solidFill>
                  <a:srgbClr val="8D671E"/>
                </a:solidFill>
                <a:latin typeface="Inter" pitchFamily="34" charset="0"/>
                <a:ea typeface="Inter" pitchFamily="34" charset="-122"/>
                <a:cs typeface="Inter" pitchFamily="34" charset="-120"/>
              </a:rPr>
              <a:t>02</a:t>
            </a:r>
            <a:endParaRPr lang="en-US" sz="800" dirty="0"/>
          </a:p>
        </p:txBody>
      </p:sp>
      <p:sp>
        <p:nvSpPr>
          <p:cNvPr id="15" name="Text 13"/>
          <p:cNvSpPr txBox="1"/>
          <p:nvPr/>
        </p:nvSpPr>
        <p:spPr>
          <a:xfrm>
            <a:off x="3584448" y="2093976"/>
            <a:ext cx="2267712" cy="256032"/>
          </a:xfrm>
          <a:prstGeom prst="rect">
            <a:avLst/>
          </a:prstGeom>
          <a:noFill/>
          <a:ln/>
        </p:spPr>
        <p:txBody>
          <a:bodyPr wrap="square" lIns="0" tIns="0" rIns="0" bIns="0" rtlCol="0" anchor="ctr">
            <a:normAutofit/>
          </a:bodyPr>
          <a:lstStyle/>
          <a:p>
            <a:pPr marL="0" indent="0" algn="l">
              <a:buNone/>
            </a:pPr>
            <a:r>
              <a:rPr lang="en-US" sz="1400" b="1" dirty="0">
                <a:solidFill>
                  <a:srgbClr val="101A2C"/>
                </a:solidFill>
                <a:latin typeface="Inter" pitchFamily="34" charset="0"/>
                <a:ea typeface="Inter" pitchFamily="34" charset="-122"/>
                <a:cs typeface="Inter" pitchFamily="34" charset="-120"/>
              </a:rPr>
              <a:t>Engineer features</a:t>
            </a:r>
            <a:endParaRPr lang="en-US" sz="1400" dirty="0"/>
          </a:p>
        </p:txBody>
      </p:sp>
      <p:sp>
        <p:nvSpPr>
          <p:cNvPr id="16" name="Text 14"/>
          <p:cNvSpPr txBox="1"/>
          <p:nvPr/>
        </p:nvSpPr>
        <p:spPr>
          <a:xfrm>
            <a:off x="3584448" y="2414016"/>
            <a:ext cx="2267712" cy="384048"/>
          </a:xfrm>
          <a:prstGeom prst="rect">
            <a:avLst/>
          </a:prstGeom>
          <a:noFill/>
          <a:ln/>
        </p:spPr>
        <p:txBody>
          <a:bodyPr wrap="square" lIns="0" tIns="0" rIns="0" bIns="0" rtlCol="0" anchor="t">
            <a:normAutofit/>
          </a:bodyPr>
          <a:lstStyle/>
          <a:p>
            <a:pPr marL="0" indent="0" algn="l">
              <a:buNone/>
            </a:pPr>
            <a:r>
              <a:rPr lang="en-US" sz="950" dirty="0">
                <a:solidFill>
                  <a:srgbClr val="65748B"/>
                </a:solidFill>
                <a:latin typeface="Inter" pitchFamily="34" charset="0"/>
                <a:ea typeface="Inter" pitchFamily="34" charset="-122"/>
                <a:cs typeface="Inter" pitchFamily="34" charset="-120"/>
              </a:rPr>
              <a:t>Compute earlier earthquake counts over 1, 7 and 30 days.</a:t>
            </a:r>
            <a:endParaRPr lang="en-US" sz="950" dirty="0"/>
          </a:p>
        </p:txBody>
      </p:sp>
      <p:sp>
        <p:nvSpPr>
          <p:cNvPr id="17" name="Shape 15"/>
          <p:cNvSpPr/>
          <p:nvPr/>
        </p:nvSpPr>
        <p:spPr>
          <a:xfrm>
            <a:off x="6035040" y="2249424"/>
            <a:ext cx="118872" cy="0"/>
          </a:xfrm>
          <a:prstGeom prst="line">
            <a:avLst/>
          </a:prstGeom>
          <a:noFill/>
          <a:ln w="17780">
            <a:solidFill>
              <a:srgbClr val="16A6A1"/>
            </a:solidFill>
            <a:prstDash val="solid"/>
            <a:headEnd type="none"/>
            <a:tailEnd type="none"/>
          </a:ln>
        </p:spPr>
      </p:sp>
      <p:sp>
        <p:nvSpPr>
          <p:cNvPr id="18" name="Shape 16"/>
          <p:cNvSpPr/>
          <p:nvPr/>
        </p:nvSpPr>
        <p:spPr>
          <a:xfrm>
            <a:off x="6035040" y="2157984"/>
            <a:ext cx="128016" cy="182880"/>
          </a:xfrm>
          <a:prstGeom prst="chevron">
            <a:avLst/>
          </a:prstGeom>
          <a:solidFill>
            <a:srgbClr val="16A6A1"/>
          </a:solidFill>
          <a:ln w="12700">
            <a:solidFill>
              <a:srgbClr val="16A6A1">
                <a:alpha val="0"/>
              </a:srgbClr>
            </a:solidFill>
            <a:prstDash val="solid"/>
          </a:ln>
        </p:spPr>
      </p:sp>
      <p:sp>
        <p:nvSpPr>
          <p:cNvPr id="19" name="Shape 17"/>
          <p:cNvSpPr/>
          <p:nvPr/>
        </p:nvSpPr>
        <p:spPr>
          <a:xfrm>
            <a:off x="6181344" y="1572768"/>
            <a:ext cx="2596896" cy="1371600"/>
          </a:xfrm>
          <a:prstGeom prst="roundRect">
            <a:avLst>
              <a:gd name="adj" fmla="val 9333"/>
            </a:avLst>
          </a:prstGeom>
          <a:solidFill>
            <a:srgbClr val="FFFFFF"/>
          </a:solidFill>
          <a:ln w="9525">
            <a:solidFill>
              <a:srgbClr val="DDE4ED"/>
            </a:solidFill>
            <a:prstDash val="solid"/>
          </a:ln>
        </p:spPr>
      </p:sp>
      <p:sp>
        <p:nvSpPr>
          <p:cNvPr id="20" name="Shape 18"/>
          <p:cNvSpPr/>
          <p:nvPr/>
        </p:nvSpPr>
        <p:spPr>
          <a:xfrm>
            <a:off x="6345936" y="1709928"/>
            <a:ext cx="512064" cy="283464"/>
          </a:xfrm>
          <a:prstGeom prst="roundRect">
            <a:avLst>
              <a:gd name="adj" fmla="val 45161"/>
            </a:avLst>
          </a:prstGeom>
          <a:solidFill>
            <a:srgbClr val="E9F0FC"/>
          </a:solidFill>
          <a:ln w="12700">
            <a:solidFill>
              <a:srgbClr val="E9F0FC">
                <a:alpha val="0"/>
              </a:srgbClr>
            </a:solidFill>
            <a:prstDash val="solid"/>
          </a:ln>
        </p:spPr>
      </p:sp>
      <p:sp>
        <p:nvSpPr>
          <p:cNvPr id="21" name="Text 19"/>
          <p:cNvSpPr txBox="1"/>
          <p:nvPr/>
        </p:nvSpPr>
        <p:spPr>
          <a:xfrm>
            <a:off x="6437376" y="1723644"/>
            <a:ext cx="329184" cy="246888"/>
          </a:xfrm>
          <a:prstGeom prst="rect">
            <a:avLst/>
          </a:prstGeom>
          <a:noFill/>
          <a:ln/>
        </p:spPr>
        <p:txBody>
          <a:bodyPr wrap="square" lIns="0" tIns="0" rIns="0" bIns="0" rtlCol="0" anchor="ctr">
            <a:normAutofit/>
          </a:bodyPr>
          <a:lstStyle/>
          <a:p>
            <a:pPr marL="0" indent="0" algn="ctr">
              <a:buNone/>
            </a:pPr>
            <a:r>
              <a:rPr lang="en-US" sz="800" b="1" dirty="0">
                <a:solidFill>
                  <a:srgbClr val="4A78C2"/>
                </a:solidFill>
                <a:latin typeface="Inter" pitchFamily="34" charset="0"/>
                <a:ea typeface="Inter" pitchFamily="34" charset="-122"/>
                <a:cs typeface="Inter" pitchFamily="34" charset="-120"/>
              </a:rPr>
              <a:t>03</a:t>
            </a:r>
            <a:endParaRPr lang="en-US" sz="800" dirty="0"/>
          </a:p>
        </p:txBody>
      </p:sp>
      <p:sp>
        <p:nvSpPr>
          <p:cNvPr id="22" name="Text 20"/>
          <p:cNvSpPr txBox="1"/>
          <p:nvPr/>
        </p:nvSpPr>
        <p:spPr>
          <a:xfrm>
            <a:off x="6345936" y="2093976"/>
            <a:ext cx="2267712" cy="256032"/>
          </a:xfrm>
          <a:prstGeom prst="rect">
            <a:avLst/>
          </a:prstGeom>
          <a:noFill/>
          <a:ln/>
        </p:spPr>
        <p:txBody>
          <a:bodyPr wrap="square" lIns="0" tIns="0" rIns="0" bIns="0" rtlCol="0" anchor="ctr">
            <a:normAutofit/>
          </a:bodyPr>
          <a:lstStyle/>
          <a:p>
            <a:pPr marL="0" indent="0" algn="l">
              <a:buNone/>
            </a:pPr>
            <a:r>
              <a:rPr lang="en-US" sz="1400" b="1" dirty="0">
                <a:solidFill>
                  <a:srgbClr val="101A2C"/>
                </a:solidFill>
                <a:latin typeface="Inter" pitchFamily="34" charset="0"/>
                <a:ea typeface="Inter" pitchFamily="34" charset="-122"/>
                <a:cs typeface="Inter" pitchFamily="34" charset="-120"/>
              </a:rPr>
              <a:t>Train models</a:t>
            </a:r>
            <a:endParaRPr lang="en-US" sz="1400" dirty="0"/>
          </a:p>
        </p:txBody>
      </p:sp>
      <p:sp>
        <p:nvSpPr>
          <p:cNvPr id="23" name="Text 21"/>
          <p:cNvSpPr txBox="1"/>
          <p:nvPr/>
        </p:nvSpPr>
        <p:spPr>
          <a:xfrm>
            <a:off x="6345936" y="2414016"/>
            <a:ext cx="2267712" cy="384048"/>
          </a:xfrm>
          <a:prstGeom prst="rect">
            <a:avLst/>
          </a:prstGeom>
          <a:noFill/>
          <a:ln/>
        </p:spPr>
        <p:txBody>
          <a:bodyPr wrap="square" lIns="0" tIns="0" rIns="0" bIns="0" rtlCol="0" anchor="t">
            <a:normAutofit/>
          </a:bodyPr>
          <a:lstStyle/>
          <a:p>
            <a:pPr marL="0" indent="0" algn="l">
              <a:buNone/>
            </a:pPr>
            <a:r>
              <a:rPr lang="en-US" sz="950" dirty="0">
                <a:solidFill>
                  <a:srgbClr val="65748B"/>
                </a:solidFill>
                <a:latin typeface="Inter" pitchFamily="34" charset="0"/>
                <a:ea typeface="Inter" pitchFamily="34" charset="-122"/>
                <a:cs typeface="Inter" pitchFamily="34" charset="-120"/>
              </a:rPr>
              <a:t>Tune candidate models using the development split.</a:t>
            </a:r>
            <a:endParaRPr lang="en-US" sz="950" dirty="0"/>
          </a:p>
        </p:txBody>
      </p:sp>
      <p:sp>
        <p:nvSpPr>
          <p:cNvPr id="24" name="Shape 22"/>
          <p:cNvSpPr/>
          <p:nvPr/>
        </p:nvSpPr>
        <p:spPr>
          <a:xfrm>
            <a:off x="8796528" y="2249424"/>
            <a:ext cx="118872" cy="0"/>
          </a:xfrm>
          <a:prstGeom prst="line">
            <a:avLst/>
          </a:prstGeom>
          <a:noFill/>
          <a:ln w="17780">
            <a:solidFill>
              <a:srgbClr val="16A6A1"/>
            </a:solidFill>
            <a:prstDash val="solid"/>
            <a:headEnd type="none"/>
            <a:tailEnd type="none"/>
          </a:ln>
        </p:spPr>
      </p:sp>
      <p:sp>
        <p:nvSpPr>
          <p:cNvPr id="25" name="Shape 23"/>
          <p:cNvSpPr/>
          <p:nvPr/>
        </p:nvSpPr>
        <p:spPr>
          <a:xfrm>
            <a:off x="8796528" y="2157984"/>
            <a:ext cx="128016" cy="182880"/>
          </a:xfrm>
          <a:prstGeom prst="chevron">
            <a:avLst/>
          </a:prstGeom>
          <a:solidFill>
            <a:srgbClr val="16A6A1"/>
          </a:solidFill>
          <a:ln w="12700">
            <a:solidFill>
              <a:srgbClr val="16A6A1">
                <a:alpha val="0"/>
              </a:srgbClr>
            </a:solidFill>
            <a:prstDash val="solid"/>
          </a:ln>
        </p:spPr>
      </p:sp>
      <p:sp>
        <p:nvSpPr>
          <p:cNvPr id="26" name="Shape 24"/>
          <p:cNvSpPr/>
          <p:nvPr/>
        </p:nvSpPr>
        <p:spPr>
          <a:xfrm>
            <a:off x="8942832" y="1572768"/>
            <a:ext cx="2596896" cy="1371600"/>
          </a:xfrm>
          <a:prstGeom prst="roundRect">
            <a:avLst>
              <a:gd name="adj" fmla="val 9333"/>
            </a:avLst>
          </a:prstGeom>
          <a:solidFill>
            <a:srgbClr val="FFFFFF"/>
          </a:solidFill>
          <a:ln w="9525">
            <a:solidFill>
              <a:srgbClr val="DDE4ED"/>
            </a:solidFill>
            <a:prstDash val="solid"/>
          </a:ln>
        </p:spPr>
      </p:sp>
      <p:sp>
        <p:nvSpPr>
          <p:cNvPr id="27" name="Shape 25"/>
          <p:cNvSpPr/>
          <p:nvPr/>
        </p:nvSpPr>
        <p:spPr>
          <a:xfrm>
            <a:off x="9107424" y="1709928"/>
            <a:ext cx="512064" cy="283464"/>
          </a:xfrm>
          <a:prstGeom prst="roundRect">
            <a:avLst>
              <a:gd name="adj" fmla="val 45161"/>
            </a:avLst>
          </a:prstGeom>
          <a:solidFill>
            <a:srgbClr val="FCEAE6"/>
          </a:solidFill>
          <a:ln w="12700">
            <a:solidFill>
              <a:srgbClr val="FCEAE6">
                <a:alpha val="0"/>
              </a:srgbClr>
            </a:solidFill>
            <a:prstDash val="solid"/>
          </a:ln>
        </p:spPr>
      </p:sp>
      <p:sp>
        <p:nvSpPr>
          <p:cNvPr id="28" name="Text 26"/>
          <p:cNvSpPr txBox="1"/>
          <p:nvPr/>
        </p:nvSpPr>
        <p:spPr>
          <a:xfrm>
            <a:off x="9198864" y="1723644"/>
            <a:ext cx="329184" cy="246888"/>
          </a:xfrm>
          <a:prstGeom prst="rect">
            <a:avLst/>
          </a:prstGeom>
          <a:noFill/>
          <a:ln/>
        </p:spPr>
        <p:txBody>
          <a:bodyPr wrap="square" lIns="0" tIns="0" rIns="0" bIns="0" rtlCol="0" anchor="ctr">
            <a:normAutofit/>
          </a:bodyPr>
          <a:lstStyle/>
          <a:p>
            <a:pPr marL="0" indent="0" algn="ctr">
              <a:buNone/>
            </a:pPr>
            <a:r>
              <a:rPr lang="en-US" sz="800" b="1" dirty="0">
                <a:solidFill>
                  <a:srgbClr val="EA6B5B"/>
                </a:solidFill>
                <a:latin typeface="Inter" pitchFamily="34" charset="0"/>
                <a:ea typeface="Inter" pitchFamily="34" charset="-122"/>
                <a:cs typeface="Inter" pitchFamily="34" charset="-120"/>
              </a:rPr>
              <a:t>04</a:t>
            </a:r>
            <a:endParaRPr lang="en-US" sz="800" dirty="0"/>
          </a:p>
        </p:txBody>
      </p:sp>
      <p:sp>
        <p:nvSpPr>
          <p:cNvPr id="29" name="Text 27"/>
          <p:cNvSpPr txBox="1"/>
          <p:nvPr/>
        </p:nvSpPr>
        <p:spPr>
          <a:xfrm>
            <a:off x="9107424" y="2093976"/>
            <a:ext cx="2267712" cy="256032"/>
          </a:xfrm>
          <a:prstGeom prst="rect">
            <a:avLst/>
          </a:prstGeom>
          <a:noFill/>
          <a:ln/>
        </p:spPr>
        <p:txBody>
          <a:bodyPr wrap="square" lIns="0" tIns="0" rIns="0" bIns="0" rtlCol="0" anchor="ctr">
            <a:normAutofit/>
          </a:bodyPr>
          <a:lstStyle/>
          <a:p>
            <a:pPr marL="0" indent="0" algn="l">
              <a:buNone/>
            </a:pPr>
            <a:r>
              <a:rPr lang="en-US" sz="1400" b="1" dirty="0">
                <a:solidFill>
                  <a:srgbClr val="101A2C"/>
                </a:solidFill>
                <a:latin typeface="Inter" pitchFamily="34" charset="0"/>
                <a:ea typeface="Inter" pitchFamily="34" charset="-122"/>
                <a:cs typeface="Inter" pitchFamily="34" charset="-120"/>
              </a:rPr>
              <a:t>Evaluate</a:t>
            </a:r>
            <a:endParaRPr lang="en-US" sz="1400" dirty="0"/>
          </a:p>
        </p:txBody>
      </p:sp>
      <p:sp>
        <p:nvSpPr>
          <p:cNvPr id="30" name="Text 28"/>
          <p:cNvSpPr txBox="1"/>
          <p:nvPr/>
        </p:nvSpPr>
        <p:spPr>
          <a:xfrm>
            <a:off x="9107424" y="2414016"/>
            <a:ext cx="2267712" cy="384048"/>
          </a:xfrm>
          <a:prstGeom prst="rect">
            <a:avLst/>
          </a:prstGeom>
          <a:noFill/>
          <a:ln/>
        </p:spPr>
        <p:txBody>
          <a:bodyPr wrap="square" lIns="0" tIns="0" rIns="0" bIns="0" rtlCol="0" anchor="t">
            <a:normAutofit/>
          </a:bodyPr>
          <a:lstStyle/>
          <a:p>
            <a:pPr marL="0" indent="0" algn="l">
              <a:buNone/>
            </a:pPr>
            <a:r>
              <a:rPr lang="en-US" sz="950" dirty="0">
                <a:solidFill>
                  <a:srgbClr val="65748B"/>
                </a:solidFill>
                <a:latin typeface="Inter" pitchFamily="34" charset="0"/>
                <a:ea typeface="Inter" pitchFamily="34" charset="-122"/>
                <a:cs typeface="Inter" pitchFamily="34" charset="-120"/>
              </a:rPr>
              <a:t>Use held-out test data and task-appropriate metrics.</a:t>
            </a:r>
            <a:endParaRPr lang="en-US" sz="950" dirty="0"/>
          </a:p>
        </p:txBody>
      </p:sp>
      <p:sp>
        <p:nvSpPr>
          <p:cNvPr id="31" name="Shape 29"/>
          <p:cNvSpPr/>
          <p:nvPr/>
        </p:nvSpPr>
        <p:spPr>
          <a:xfrm>
            <a:off x="658368" y="3310128"/>
            <a:ext cx="5321808" cy="2395728"/>
          </a:xfrm>
          <a:prstGeom prst="roundRect">
            <a:avLst>
              <a:gd name="adj" fmla="val 5344"/>
            </a:avLst>
          </a:prstGeom>
          <a:solidFill>
            <a:srgbClr val="FFFFFF"/>
          </a:solidFill>
          <a:ln w="9525">
            <a:solidFill>
              <a:srgbClr val="DDE4ED"/>
            </a:solidFill>
            <a:prstDash val="solid"/>
          </a:ln>
        </p:spPr>
      </p:sp>
      <p:sp>
        <p:nvSpPr>
          <p:cNvPr id="32" name="Text 30"/>
          <p:cNvSpPr txBox="1"/>
          <p:nvPr/>
        </p:nvSpPr>
        <p:spPr>
          <a:xfrm>
            <a:off x="914400" y="3529584"/>
            <a:ext cx="4480560" cy="274320"/>
          </a:xfrm>
          <a:prstGeom prst="rect">
            <a:avLst/>
          </a:prstGeom>
          <a:noFill/>
          <a:ln/>
        </p:spPr>
        <p:txBody>
          <a:bodyPr wrap="square" lIns="0" tIns="0" rIns="0" bIns="0" rtlCol="0" anchor="ctr">
            <a:normAutofit/>
          </a:bodyPr>
          <a:lstStyle/>
          <a:p>
            <a:pPr marL="0" indent="0" algn="l">
              <a:buNone/>
            </a:pPr>
            <a:r>
              <a:rPr lang="en-US" sz="1600" b="1" dirty="0">
                <a:solidFill>
                  <a:srgbClr val="101A2C"/>
                </a:solidFill>
                <a:latin typeface="Inter" pitchFamily="34" charset="0"/>
                <a:ea typeface="Inter" pitchFamily="34" charset="-122"/>
                <a:cs typeface="Inter" pitchFamily="34" charset="-120"/>
              </a:rPr>
              <a:t>Algorithms tested</a:t>
            </a:r>
            <a:endParaRPr lang="en-US" sz="1600" dirty="0"/>
          </a:p>
        </p:txBody>
      </p:sp>
      <p:sp>
        <p:nvSpPr>
          <p:cNvPr id="33" name="Shape 31"/>
          <p:cNvSpPr/>
          <p:nvPr/>
        </p:nvSpPr>
        <p:spPr>
          <a:xfrm>
            <a:off x="941832" y="4032504"/>
            <a:ext cx="91440" cy="91440"/>
          </a:xfrm>
          <a:prstGeom prst="ellipse">
            <a:avLst/>
          </a:prstGeom>
          <a:solidFill>
            <a:srgbClr val="16A6A1"/>
          </a:solidFill>
          <a:ln w="12700">
            <a:solidFill>
              <a:srgbClr val="16A6A1">
                <a:alpha val="0"/>
              </a:srgbClr>
            </a:solidFill>
            <a:prstDash val="solid"/>
          </a:ln>
        </p:spPr>
      </p:sp>
      <p:sp>
        <p:nvSpPr>
          <p:cNvPr id="34" name="Text 32"/>
          <p:cNvSpPr txBox="1"/>
          <p:nvPr/>
        </p:nvSpPr>
        <p:spPr>
          <a:xfrm>
            <a:off x="1124712" y="3995928"/>
            <a:ext cx="1920240" cy="228600"/>
          </a:xfrm>
          <a:prstGeom prst="rect">
            <a:avLst/>
          </a:prstGeom>
          <a:noFill/>
          <a:ln/>
        </p:spPr>
        <p:txBody>
          <a:bodyPr wrap="square" lIns="0" tIns="0" rIns="0" bIns="0" rtlCol="0" anchor="ctr">
            <a:normAutofit/>
          </a:bodyPr>
          <a:lstStyle/>
          <a:p>
            <a:pPr marL="0" indent="0" algn="l">
              <a:buNone/>
            </a:pPr>
            <a:r>
              <a:rPr lang="en-US" sz="1020" b="1" dirty="0">
                <a:solidFill>
                  <a:srgbClr val="253246"/>
                </a:solidFill>
                <a:latin typeface="Inter" pitchFamily="34" charset="0"/>
                <a:ea typeface="Inter" pitchFamily="34" charset="-122"/>
                <a:cs typeface="Inter" pitchFamily="34" charset="-120"/>
              </a:rPr>
              <a:t>Logistic Regression</a:t>
            </a:r>
            <a:endParaRPr lang="en-US" sz="1020" dirty="0"/>
          </a:p>
        </p:txBody>
      </p:sp>
      <p:sp>
        <p:nvSpPr>
          <p:cNvPr id="35" name="Text 33"/>
          <p:cNvSpPr txBox="1"/>
          <p:nvPr/>
        </p:nvSpPr>
        <p:spPr>
          <a:xfrm>
            <a:off x="3127248" y="3995928"/>
            <a:ext cx="2322576" cy="228600"/>
          </a:xfrm>
          <a:prstGeom prst="rect">
            <a:avLst/>
          </a:prstGeom>
          <a:noFill/>
          <a:ln/>
        </p:spPr>
        <p:txBody>
          <a:bodyPr wrap="square" lIns="0" tIns="0" rIns="0" bIns="0" rtlCol="0" anchor="ctr">
            <a:normAutofit/>
          </a:bodyPr>
          <a:lstStyle/>
          <a:p>
            <a:pPr marL="0" indent="0" algn="l">
              <a:buNone/>
            </a:pPr>
            <a:r>
              <a:rPr lang="en-US" sz="910" dirty="0">
                <a:solidFill>
                  <a:srgbClr val="65748B"/>
                </a:solidFill>
                <a:latin typeface="Inter" pitchFamily="34" charset="0"/>
                <a:ea typeface="Inter" pitchFamily="34" charset="-122"/>
                <a:cs typeface="Inter" pitchFamily="34" charset="-120"/>
              </a:rPr>
              <a:t>classification</a:t>
            </a:r>
            <a:endParaRPr lang="en-US" sz="910" dirty="0"/>
          </a:p>
        </p:txBody>
      </p:sp>
      <p:sp>
        <p:nvSpPr>
          <p:cNvPr id="36" name="Shape 34"/>
          <p:cNvSpPr/>
          <p:nvPr/>
        </p:nvSpPr>
        <p:spPr>
          <a:xfrm>
            <a:off x="941832" y="4398264"/>
            <a:ext cx="91440" cy="91440"/>
          </a:xfrm>
          <a:prstGeom prst="ellipse">
            <a:avLst/>
          </a:prstGeom>
          <a:solidFill>
            <a:srgbClr val="F4C15D"/>
          </a:solidFill>
          <a:ln w="12700">
            <a:solidFill>
              <a:srgbClr val="F4C15D">
                <a:alpha val="0"/>
              </a:srgbClr>
            </a:solidFill>
            <a:prstDash val="solid"/>
          </a:ln>
        </p:spPr>
      </p:sp>
      <p:sp>
        <p:nvSpPr>
          <p:cNvPr id="37" name="Text 35"/>
          <p:cNvSpPr txBox="1"/>
          <p:nvPr/>
        </p:nvSpPr>
        <p:spPr>
          <a:xfrm>
            <a:off x="1124712" y="4361688"/>
            <a:ext cx="1920240" cy="228600"/>
          </a:xfrm>
          <a:prstGeom prst="rect">
            <a:avLst/>
          </a:prstGeom>
          <a:noFill/>
          <a:ln/>
        </p:spPr>
        <p:txBody>
          <a:bodyPr wrap="square" lIns="0" tIns="0" rIns="0" bIns="0" rtlCol="0" anchor="ctr">
            <a:normAutofit/>
          </a:bodyPr>
          <a:lstStyle/>
          <a:p>
            <a:pPr marL="0" indent="0" algn="l">
              <a:buNone/>
            </a:pPr>
            <a:r>
              <a:rPr lang="en-US" sz="1020" b="1" dirty="0">
                <a:solidFill>
                  <a:srgbClr val="253246"/>
                </a:solidFill>
                <a:latin typeface="Inter" pitchFamily="34" charset="0"/>
                <a:ea typeface="Inter" pitchFamily="34" charset="-122"/>
                <a:cs typeface="Inter" pitchFamily="34" charset="-120"/>
              </a:rPr>
              <a:t>K-Means</a:t>
            </a:r>
            <a:endParaRPr lang="en-US" sz="1020" dirty="0"/>
          </a:p>
        </p:txBody>
      </p:sp>
      <p:sp>
        <p:nvSpPr>
          <p:cNvPr id="38" name="Text 36"/>
          <p:cNvSpPr txBox="1"/>
          <p:nvPr/>
        </p:nvSpPr>
        <p:spPr>
          <a:xfrm>
            <a:off x="3127248" y="4361688"/>
            <a:ext cx="2322576" cy="228600"/>
          </a:xfrm>
          <a:prstGeom prst="rect">
            <a:avLst/>
          </a:prstGeom>
          <a:noFill/>
          <a:ln/>
        </p:spPr>
        <p:txBody>
          <a:bodyPr wrap="square" lIns="0" tIns="0" rIns="0" bIns="0" rtlCol="0" anchor="ctr">
            <a:normAutofit/>
          </a:bodyPr>
          <a:lstStyle/>
          <a:p>
            <a:pPr marL="0" indent="0" algn="l">
              <a:buNone/>
            </a:pPr>
            <a:r>
              <a:rPr lang="en-US" sz="910" dirty="0">
                <a:solidFill>
                  <a:srgbClr val="65748B"/>
                </a:solidFill>
                <a:latin typeface="Inter" pitchFamily="34" charset="0"/>
                <a:ea typeface="Inter" pitchFamily="34" charset="-122"/>
                <a:cs typeface="Inter" pitchFamily="34" charset="-120"/>
              </a:rPr>
              <a:t>classification + regression</a:t>
            </a:r>
            <a:endParaRPr lang="en-US" sz="910" dirty="0"/>
          </a:p>
        </p:txBody>
      </p:sp>
      <p:sp>
        <p:nvSpPr>
          <p:cNvPr id="39" name="Shape 37"/>
          <p:cNvSpPr/>
          <p:nvPr/>
        </p:nvSpPr>
        <p:spPr>
          <a:xfrm>
            <a:off x="941832" y="4764024"/>
            <a:ext cx="91440" cy="91440"/>
          </a:xfrm>
          <a:prstGeom prst="ellipse">
            <a:avLst/>
          </a:prstGeom>
          <a:solidFill>
            <a:srgbClr val="4A78C2"/>
          </a:solidFill>
          <a:ln w="12700">
            <a:solidFill>
              <a:srgbClr val="4A78C2">
                <a:alpha val="0"/>
              </a:srgbClr>
            </a:solidFill>
            <a:prstDash val="solid"/>
          </a:ln>
        </p:spPr>
      </p:sp>
      <p:sp>
        <p:nvSpPr>
          <p:cNvPr id="40" name="Text 38"/>
          <p:cNvSpPr txBox="1"/>
          <p:nvPr/>
        </p:nvSpPr>
        <p:spPr>
          <a:xfrm>
            <a:off x="1124712" y="4727448"/>
            <a:ext cx="1920240" cy="228600"/>
          </a:xfrm>
          <a:prstGeom prst="rect">
            <a:avLst/>
          </a:prstGeom>
          <a:noFill/>
          <a:ln/>
        </p:spPr>
        <p:txBody>
          <a:bodyPr wrap="square" lIns="0" tIns="0" rIns="0" bIns="0" rtlCol="0" anchor="ctr">
            <a:normAutofit/>
          </a:bodyPr>
          <a:lstStyle/>
          <a:p>
            <a:pPr marL="0" indent="0" algn="l">
              <a:buNone/>
            </a:pPr>
            <a:r>
              <a:rPr lang="en-US" sz="1020" b="1" dirty="0">
                <a:solidFill>
                  <a:srgbClr val="253246"/>
                </a:solidFill>
                <a:latin typeface="Inter" pitchFamily="34" charset="0"/>
                <a:ea typeface="Inter" pitchFamily="34" charset="-122"/>
                <a:cs typeface="Inter" pitchFamily="34" charset="-120"/>
              </a:rPr>
              <a:t>Random Forest</a:t>
            </a:r>
            <a:endParaRPr lang="en-US" sz="1020" dirty="0"/>
          </a:p>
        </p:txBody>
      </p:sp>
      <p:sp>
        <p:nvSpPr>
          <p:cNvPr id="41" name="Text 39"/>
          <p:cNvSpPr txBox="1"/>
          <p:nvPr/>
        </p:nvSpPr>
        <p:spPr>
          <a:xfrm>
            <a:off x="3127248" y="4727448"/>
            <a:ext cx="2322576" cy="228600"/>
          </a:xfrm>
          <a:prstGeom prst="rect">
            <a:avLst/>
          </a:prstGeom>
          <a:noFill/>
          <a:ln/>
        </p:spPr>
        <p:txBody>
          <a:bodyPr wrap="square" lIns="0" tIns="0" rIns="0" bIns="0" rtlCol="0" anchor="ctr">
            <a:normAutofit/>
          </a:bodyPr>
          <a:lstStyle/>
          <a:p>
            <a:pPr marL="0" indent="0" algn="l">
              <a:buNone/>
            </a:pPr>
            <a:r>
              <a:rPr lang="en-US" sz="910" dirty="0">
                <a:solidFill>
                  <a:srgbClr val="65748B"/>
                </a:solidFill>
                <a:latin typeface="Inter" pitchFamily="34" charset="0"/>
                <a:ea typeface="Inter" pitchFamily="34" charset="-122"/>
                <a:cs typeface="Inter" pitchFamily="34" charset="-120"/>
              </a:rPr>
              <a:t>classification + regression</a:t>
            </a:r>
            <a:endParaRPr lang="en-US" sz="910" dirty="0"/>
          </a:p>
        </p:txBody>
      </p:sp>
      <p:sp>
        <p:nvSpPr>
          <p:cNvPr id="42" name="Shape 40"/>
          <p:cNvSpPr/>
          <p:nvPr/>
        </p:nvSpPr>
        <p:spPr>
          <a:xfrm>
            <a:off x="941832" y="5129784"/>
            <a:ext cx="91440" cy="91440"/>
          </a:xfrm>
          <a:prstGeom prst="ellipse">
            <a:avLst/>
          </a:prstGeom>
          <a:solidFill>
            <a:srgbClr val="EA6B5B"/>
          </a:solidFill>
          <a:ln w="12700">
            <a:solidFill>
              <a:srgbClr val="EA6B5B">
                <a:alpha val="0"/>
              </a:srgbClr>
            </a:solidFill>
            <a:prstDash val="solid"/>
          </a:ln>
        </p:spPr>
      </p:sp>
      <p:sp>
        <p:nvSpPr>
          <p:cNvPr id="43" name="Text 41"/>
          <p:cNvSpPr txBox="1"/>
          <p:nvPr/>
        </p:nvSpPr>
        <p:spPr>
          <a:xfrm>
            <a:off x="1124712" y="5093208"/>
            <a:ext cx="1920240" cy="228600"/>
          </a:xfrm>
          <a:prstGeom prst="rect">
            <a:avLst/>
          </a:prstGeom>
          <a:noFill/>
          <a:ln/>
        </p:spPr>
        <p:txBody>
          <a:bodyPr wrap="square" lIns="0" tIns="0" rIns="0" bIns="0" rtlCol="0" anchor="ctr">
            <a:normAutofit/>
          </a:bodyPr>
          <a:lstStyle/>
          <a:p>
            <a:pPr marL="0" indent="0" algn="l">
              <a:buNone/>
            </a:pPr>
            <a:r>
              <a:rPr lang="en-US" sz="1020" b="1" dirty="0">
                <a:solidFill>
                  <a:srgbClr val="253246"/>
                </a:solidFill>
                <a:latin typeface="Inter" pitchFamily="34" charset="0"/>
                <a:ea typeface="Inter" pitchFamily="34" charset="-122"/>
                <a:cs typeface="Inter" pitchFamily="34" charset="-120"/>
              </a:rPr>
              <a:t>Neural Network</a:t>
            </a:r>
            <a:endParaRPr lang="en-US" sz="1020" dirty="0"/>
          </a:p>
        </p:txBody>
      </p:sp>
      <p:sp>
        <p:nvSpPr>
          <p:cNvPr id="44" name="Text 42"/>
          <p:cNvSpPr txBox="1"/>
          <p:nvPr/>
        </p:nvSpPr>
        <p:spPr>
          <a:xfrm>
            <a:off x="3127248" y="5093208"/>
            <a:ext cx="2322576" cy="228600"/>
          </a:xfrm>
          <a:prstGeom prst="rect">
            <a:avLst/>
          </a:prstGeom>
          <a:noFill/>
          <a:ln/>
        </p:spPr>
        <p:txBody>
          <a:bodyPr wrap="square" lIns="0" tIns="0" rIns="0" bIns="0" rtlCol="0" anchor="ctr">
            <a:normAutofit/>
          </a:bodyPr>
          <a:lstStyle/>
          <a:p>
            <a:pPr marL="0" indent="0" algn="l">
              <a:buNone/>
            </a:pPr>
            <a:r>
              <a:rPr lang="en-US" sz="910" dirty="0">
                <a:solidFill>
                  <a:srgbClr val="65748B"/>
                </a:solidFill>
                <a:latin typeface="Inter" pitchFamily="34" charset="0"/>
                <a:ea typeface="Inter" pitchFamily="34" charset="-122"/>
                <a:cs typeface="Inter" pitchFamily="34" charset="-120"/>
              </a:rPr>
              <a:t>classification + regression</a:t>
            </a:r>
            <a:endParaRPr lang="en-US" sz="910" dirty="0"/>
          </a:p>
        </p:txBody>
      </p:sp>
      <p:sp>
        <p:nvSpPr>
          <p:cNvPr id="45" name="Shape 43"/>
          <p:cNvSpPr/>
          <p:nvPr/>
        </p:nvSpPr>
        <p:spPr>
          <a:xfrm>
            <a:off x="6190488" y="3310128"/>
            <a:ext cx="5349240" cy="2395728"/>
          </a:xfrm>
          <a:prstGeom prst="roundRect">
            <a:avLst>
              <a:gd name="adj" fmla="val 5344"/>
            </a:avLst>
          </a:prstGeom>
          <a:solidFill>
            <a:srgbClr val="101A2C"/>
          </a:solidFill>
          <a:ln w="9525">
            <a:solidFill>
              <a:srgbClr val="101A2C"/>
            </a:solidFill>
            <a:prstDash val="solid"/>
          </a:ln>
        </p:spPr>
      </p:sp>
      <p:sp>
        <p:nvSpPr>
          <p:cNvPr id="46" name="Text 44"/>
          <p:cNvSpPr txBox="1"/>
          <p:nvPr/>
        </p:nvSpPr>
        <p:spPr>
          <a:xfrm>
            <a:off x="6473952" y="3529584"/>
            <a:ext cx="4526280" cy="274320"/>
          </a:xfrm>
          <a:prstGeom prst="rect">
            <a:avLst/>
          </a:prstGeom>
          <a:noFill/>
          <a:ln/>
        </p:spPr>
        <p:txBody>
          <a:bodyPr wrap="square" lIns="0" tIns="0" rIns="0" bIns="0" rtlCol="0" anchor="ctr">
            <a:normAutofit/>
          </a:bodyPr>
          <a:lstStyle/>
          <a:p>
            <a:pPr marL="0" indent="0" algn="l">
              <a:buNone/>
            </a:pPr>
            <a:r>
              <a:rPr lang="en-US" sz="1550" b="1" dirty="0">
                <a:solidFill>
                  <a:srgbClr val="FFFFFF"/>
                </a:solidFill>
                <a:latin typeface="Inter" pitchFamily="34" charset="0"/>
                <a:ea typeface="Inter" pitchFamily="34" charset="-122"/>
                <a:cs typeface="Inter" pitchFamily="34" charset="-120"/>
              </a:rPr>
              <a:t>How performance is measured</a:t>
            </a:r>
            <a:endParaRPr lang="en-US" sz="1550" dirty="0"/>
          </a:p>
        </p:txBody>
      </p:sp>
      <p:sp>
        <p:nvSpPr>
          <p:cNvPr id="47" name="Shape 45"/>
          <p:cNvSpPr/>
          <p:nvPr/>
        </p:nvSpPr>
        <p:spPr>
          <a:xfrm>
            <a:off x="6492240" y="3977640"/>
            <a:ext cx="1371600" cy="283464"/>
          </a:xfrm>
          <a:prstGeom prst="roundRect">
            <a:avLst>
              <a:gd name="adj" fmla="val 45161"/>
            </a:avLst>
          </a:prstGeom>
          <a:solidFill>
            <a:srgbClr val="244B5C"/>
          </a:solidFill>
          <a:ln w="12700">
            <a:solidFill>
              <a:srgbClr val="244B5C">
                <a:alpha val="0"/>
              </a:srgbClr>
            </a:solidFill>
            <a:prstDash val="solid"/>
          </a:ln>
        </p:spPr>
      </p:sp>
      <p:sp>
        <p:nvSpPr>
          <p:cNvPr id="48" name="Text 46"/>
          <p:cNvSpPr txBox="1"/>
          <p:nvPr/>
        </p:nvSpPr>
        <p:spPr>
          <a:xfrm>
            <a:off x="6583680" y="3991356"/>
            <a:ext cx="1188720" cy="246888"/>
          </a:xfrm>
          <a:prstGeom prst="rect">
            <a:avLst/>
          </a:prstGeom>
          <a:noFill/>
          <a:ln/>
        </p:spPr>
        <p:txBody>
          <a:bodyPr wrap="square" lIns="0" tIns="0" rIns="0" bIns="0" rtlCol="0" anchor="ctr">
            <a:normAutofit/>
          </a:bodyPr>
          <a:lstStyle/>
          <a:p>
            <a:pPr marL="0" indent="0" algn="ctr">
              <a:buNone/>
            </a:pPr>
            <a:r>
              <a:rPr lang="en-US" sz="800" b="1" dirty="0">
                <a:solidFill>
                  <a:srgbClr val="BFEFEB"/>
                </a:solidFill>
                <a:latin typeface="Inter" pitchFamily="34" charset="0"/>
                <a:ea typeface="Inter" pitchFamily="34" charset="-122"/>
                <a:cs typeface="Inter" pitchFamily="34" charset="-120"/>
              </a:rPr>
              <a:t>CLASSIFICATION</a:t>
            </a:r>
            <a:endParaRPr lang="en-US" sz="800" dirty="0"/>
          </a:p>
        </p:txBody>
      </p:sp>
      <p:sp>
        <p:nvSpPr>
          <p:cNvPr id="49" name="Text 47"/>
          <p:cNvSpPr txBox="1"/>
          <p:nvPr/>
        </p:nvSpPr>
        <p:spPr>
          <a:xfrm>
            <a:off x="8083296" y="3995928"/>
            <a:ext cx="3081528" cy="237744"/>
          </a:xfrm>
          <a:prstGeom prst="rect">
            <a:avLst/>
          </a:prstGeom>
          <a:noFill/>
          <a:ln/>
        </p:spPr>
        <p:txBody>
          <a:bodyPr wrap="square" lIns="0" tIns="0" rIns="0" bIns="0" rtlCol="0" anchor="ctr">
            <a:normAutofit/>
          </a:bodyPr>
          <a:lstStyle/>
          <a:p>
            <a:pPr marL="0" indent="0" algn="l">
              <a:buNone/>
            </a:pPr>
            <a:r>
              <a:rPr lang="en-US" sz="950" dirty="0">
                <a:solidFill>
                  <a:srgbClr val="FFFFFF"/>
                </a:solidFill>
                <a:latin typeface="Inter" pitchFamily="34" charset="0"/>
                <a:ea typeface="Inter" pitchFamily="34" charset="-122"/>
                <a:cs typeface="Inter" pitchFamily="34" charset="-120"/>
              </a:rPr>
              <a:t>AUROC · Cohen’s Kappa · confusion matrix</a:t>
            </a:r>
            <a:endParaRPr lang="en-US" sz="950" dirty="0"/>
          </a:p>
        </p:txBody>
      </p:sp>
      <p:sp>
        <p:nvSpPr>
          <p:cNvPr id="50" name="Shape 48"/>
          <p:cNvSpPr/>
          <p:nvPr/>
        </p:nvSpPr>
        <p:spPr>
          <a:xfrm>
            <a:off x="6492240" y="4517136"/>
            <a:ext cx="1161288" cy="283464"/>
          </a:xfrm>
          <a:prstGeom prst="roundRect">
            <a:avLst>
              <a:gd name="adj" fmla="val 45161"/>
            </a:avLst>
          </a:prstGeom>
          <a:solidFill>
            <a:srgbClr val="51472A"/>
          </a:solidFill>
          <a:ln w="12700">
            <a:solidFill>
              <a:srgbClr val="51472A">
                <a:alpha val="0"/>
              </a:srgbClr>
            </a:solidFill>
            <a:prstDash val="solid"/>
          </a:ln>
        </p:spPr>
      </p:sp>
      <p:sp>
        <p:nvSpPr>
          <p:cNvPr id="51" name="Text 49"/>
          <p:cNvSpPr txBox="1"/>
          <p:nvPr/>
        </p:nvSpPr>
        <p:spPr>
          <a:xfrm>
            <a:off x="6583680" y="4530852"/>
            <a:ext cx="978408" cy="246888"/>
          </a:xfrm>
          <a:prstGeom prst="rect">
            <a:avLst/>
          </a:prstGeom>
          <a:noFill/>
          <a:ln/>
        </p:spPr>
        <p:txBody>
          <a:bodyPr wrap="square" lIns="0" tIns="0" rIns="0" bIns="0" rtlCol="0" anchor="ctr">
            <a:normAutofit/>
          </a:bodyPr>
          <a:lstStyle/>
          <a:p>
            <a:pPr marL="0" indent="0" algn="ctr">
              <a:buNone/>
            </a:pPr>
            <a:r>
              <a:rPr lang="en-US" sz="800" b="1" dirty="0">
                <a:solidFill>
                  <a:srgbClr val="FFE8AB"/>
                </a:solidFill>
                <a:latin typeface="Inter" pitchFamily="34" charset="0"/>
                <a:ea typeface="Inter" pitchFamily="34" charset="-122"/>
                <a:cs typeface="Inter" pitchFamily="34" charset="-120"/>
              </a:rPr>
              <a:t>REGRESSION</a:t>
            </a:r>
            <a:endParaRPr lang="en-US" sz="800" dirty="0"/>
          </a:p>
        </p:txBody>
      </p:sp>
      <p:sp>
        <p:nvSpPr>
          <p:cNvPr id="52" name="Text 50"/>
          <p:cNvSpPr txBox="1"/>
          <p:nvPr/>
        </p:nvSpPr>
        <p:spPr>
          <a:xfrm>
            <a:off x="8083296" y="4544568"/>
            <a:ext cx="2788920" cy="219456"/>
          </a:xfrm>
          <a:prstGeom prst="rect">
            <a:avLst/>
          </a:prstGeom>
          <a:noFill/>
          <a:ln/>
        </p:spPr>
        <p:txBody>
          <a:bodyPr wrap="square" lIns="0" tIns="0" rIns="0" bIns="0" rtlCol="0" anchor="ctr">
            <a:normAutofit/>
          </a:bodyPr>
          <a:lstStyle/>
          <a:p>
            <a:pPr marL="0" indent="0" algn="l">
              <a:buNone/>
            </a:pPr>
            <a:r>
              <a:rPr lang="en-US" sz="1030" dirty="0">
                <a:solidFill>
                  <a:srgbClr val="FFFFFF"/>
                </a:solidFill>
                <a:latin typeface="Inter" pitchFamily="34" charset="0"/>
                <a:ea typeface="Inter" pitchFamily="34" charset="-122"/>
                <a:cs typeface="Inter" pitchFamily="34" charset="-120"/>
              </a:rPr>
              <a:t>RMSE in days · R²</a:t>
            </a:r>
            <a:endParaRPr lang="en-US" sz="1030" dirty="0"/>
          </a:p>
        </p:txBody>
      </p:sp>
      <p:sp>
        <p:nvSpPr>
          <p:cNvPr id="53" name="Text 51"/>
          <p:cNvSpPr txBox="1"/>
          <p:nvPr/>
        </p:nvSpPr>
        <p:spPr>
          <a:xfrm>
            <a:off x="6492240" y="5148072"/>
            <a:ext cx="4526280" cy="256032"/>
          </a:xfrm>
          <a:prstGeom prst="rect">
            <a:avLst/>
          </a:prstGeom>
          <a:noFill/>
          <a:ln/>
        </p:spPr>
        <p:txBody>
          <a:bodyPr wrap="square" lIns="0" tIns="0" rIns="0" bIns="0" rtlCol="0" anchor="ctr">
            <a:normAutofit/>
          </a:bodyPr>
          <a:lstStyle/>
          <a:p>
            <a:pPr marL="0" indent="0" algn="l">
              <a:buNone/>
            </a:pPr>
            <a:r>
              <a:rPr lang="en-US" sz="930" dirty="0">
                <a:solidFill>
                  <a:srgbClr val="C3D1E0"/>
                </a:solidFill>
                <a:latin typeface="Inter" pitchFamily="34" charset="0"/>
                <a:ea typeface="Inter" pitchFamily="34" charset="-122"/>
                <a:cs typeface="Inter" pitchFamily="34" charset="-120"/>
              </a:rPr>
              <a:t>Final split: 2,634 train  |  753 development  |  377 test</a:t>
            </a:r>
            <a:endParaRPr lang="en-US" sz="930" dirty="0"/>
          </a:p>
        </p:txBody>
      </p:sp>
      <p:sp>
        <p:nvSpPr>
          <p:cNvPr id="54" name="Shape 52"/>
          <p:cNvSpPr/>
          <p:nvPr/>
        </p:nvSpPr>
        <p:spPr>
          <a:xfrm>
            <a:off x="621792" y="6419088"/>
            <a:ext cx="10945368" cy="0"/>
          </a:xfrm>
          <a:prstGeom prst="line">
            <a:avLst/>
          </a:prstGeom>
          <a:noFill/>
          <a:ln w="8255">
            <a:solidFill>
              <a:srgbClr val="DDE4ED"/>
            </a:solidFill>
            <a:prstDash val="solid"/>
            <a:headEnd type="none"/>
            <a:tailEnd type="none"/>
          </a:ln>
        </p:spPr>
      </p:sp>
      <p:sp>
        <p:nvSpPr>
          <p:cNvPr id="55" name="Text 53"/>
          <p:cNvSpPr txBox="1"/>
          <p:nvPr/>
        </p:nvSpPr>
        <p:spPr>
          <a:xfrm>
            <a:off x="640080" y="6473952"/>
            <a:ext cx="9966960" cy="164592"/>
          </a:xfrm>
          <a:prstGeom prst="rect">
            <a:avLst/>
          </a:prstGeom>
          <a:noFill/>
          <a:ln/>
        </p:spPr>
        <p:txBody>
          <a:bodyPr wrap="square" lIns="0" tIns="0" rIns="0" bIns="0" rtlCol="0" anchor="ctr">
            <a:normAutofit/>
          </a:bodyPr>
          <a:lstStyle/>
          <a:p>
            <a:pPr marL="0" indent="0" algn="l">
              <a:buNone/>
            </a:pPr>
            <a:r>
              <a:rPr lang="en-US" sz="740" dirty="0">
                <a:solidFill>
                  <a:srgbClr val="8A97AA"/>
                </a:solidFill>
                <a:latin typeface="Inter" pitchFamily="34" charset="0"/>
                <a:ea typeface="Inter" pitchFamily="34" charset="-122"/>
                <a:cs typeface="Inter" pitchFamily="34" charset="-120"/>
              </a:rPr>
              <a:t>Method and split: supplied Colab results package; seed 42</a:t>
            </a:r>
            <a:endParaRPr lang="en-US" sz="740" dirty="0"/>
          </a:p>
        </p:txBody>
      </p:sp>
      <p:sp>
        <p:nvSpPr>
          <p:cNvPr id="56" name="Text 54"/>
          <p:cNvSpPr txBox="1"/>
          <p:nvPr/>
        </p:nvSpPr>
        <p:spPr>
          <a:xfrm>
            <a:off x="11109960" y="6455664"/>
            <a:ext cx="438912" cy="182880"/>
          </a:xfrm>
          <a:prstGeom prst="rect">
            <a:avLst/>
          </a:prstGeom>
          <a:noFill/>
          <a:ln/>
        </p:spPr>
        <p:txBody>
          <a:bodyPr wrap="square" lIns="0" tIns="0" rIns="0" bIns="0" rtlCol="0" anchor="ctr">
            <a:normAutofit/>
          </a:bodyPr>
          <a:lstStyle/>
          <a:p>
            <a:pPr marL="0" indent="0" algn="r">
              <a:buNone/>
            </a:pPr>
            <a:r>
              <a:rPr lang="en-US" sz="850" b="1" dirty="0">
                <a:solidFill>
                  <a:srgbClr val="65748B"/>
                </a:solidFill>
                <a:latin typeface="Inter" pitchFamily="34" charset="0"/>
                <a:ea typeface="Inter" pitchFamily="34" charset="-122"/>
                <a:cs typeface="Inter"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21792" y="320040"/>
            <a:ext cx="5303520" cy="201168"/>
          </a:xfrm>
          <a:prstGeom prst="rect">
            <a:avLst/>
          </a:prstGeom>
          <a:noFill/>
          <a:ln/>
        </p:spPr>
        <p:txBody>
          <a:bodyPr wrap="square" lIns="0" tIns="0" rIns="0" bIns="0" rtlCol="0" anchor="ctr">
            <a:normAutofit/>
          </a:bodyPr>
          <a:lstStyle/>
          <a:p>
            <a:pPr marL="0" indent="0" algn="l">
              <a:buNone/>
            </a:pPr>
            <a:r>
              <a:rPr lang="en-US" sz="900" b="1" kern="0" spc="130" dirty="0">
                <a:solidFill>
                  <a:srgbClr val="087F7A"/>
                </a:solidFill>
                <a:latin typeface="Inter" pitchFamily="34" charset="0"/>
                <a:ea typeface="Inter" pitchFamily="34" charset="-122"/>
                <a:cs typeface="Inter" pitchFamily="34" charset="-120"/>
              </a:rPr>
              <a:t>04 / RESULTS — CLASSIFICATION</a:t>
            </a:r>
            <a:endParaRPr lang="en-US" sz="900" dirty="0"/>
          </a:p>
        </p:txBody>
      </p:sp>
      <p:sp>
        <p:nvSpPr>
          <p:cNvPr id="3" name="Text 1"/>
          <p:cNvSpPr txBox="1"/>
          <p:nvPr/>
        </p:nvSpPr>
        <p:spPr>
          <a:xfrm>
            <a:off x="621792" y="576072"/>
            <a:ext cx="10972800" cy="429768"/>
          </a:xfrm>
          <a:prstGeom prst="rect">
            <a:avLst/>
          </a:prstGeom>
          <a:noFill/>
          <a:ln/>
        </p:spPr>
        <p:txBody>
          <a:bodyPr wrap="square" lIns="0" tIns="0" rIns="0" bIns="0" rtlCol="0" anchor="ctr">
            <a:normAutofit/>
          </a:bodyPr>
          <a:lstStyle/>
          <a:p>
            <a:pPr marL="0" indent="0" algn="l">
              <a:buNone/>
            </a:pPr>
            <a:r>
              <a:rPr lang="en-US" sz="2500" b="1" dirty="0">
                <a:solidFill>
                  <a:srgbClr val="101A2C"/>
                </a:solidFill>
                <a:latin typeface="Inter" pitchFamily="34" charset="0"/>
                <a:ea typeface="Inter" pitchFamily="34" charset="-122"/>
                <a:cs typeface="Inter" pitchFamily="34" charset="-120"/>
              </a:rPr>
              <a:t>Random Forest has the strongest test-set ranking performance</a:t>
            </a:r>
            <a:endParaRPr lang="en-US" sz="2500" dirty="0"/>
          </a:p>
        </p:txBody>
      </p:sp>
      <p:sp>
        <p:nvSpPr>
          <p:cNvPr id="4" name="Text 2"/>
          <p:cNvSpPr txBox="1"/>
          <p:nvPr/>
        </p:nvSpPr>
        <p:spPr>
          <a:xfrm>
            <a:off x="640080" y="1033272"/>
            <a:ext cx="10881360" cy="256032"/>
          </a:xfrm>
          <a:prstGeom prst="rect">
            <a:avLst/>
          </a:prstGeom>
          <a:noFill/>
          <a:ln/>
        </p:spPr>
        <p:txBody>
          <a:bodyPr wrap="square" lIns="0" tIns="0" rIns="0" bIns="0" rtlCol="0" anchor="ctr">
            <a:normAutofit/>
          </a:bodyPr>
          <a:lstStyle/>
          <a:p>
            <a:pPr marL="0" indent="0" algn="l">
              <a:buNone/>
            </a:pPr>
            <a:r>
              <a:rPr lang="en-US" sz="1050" dirty="0">
                <a:solidFill>
                  <a:srgbClr val="65748B"/>
                </a:solidFill>
                <a:latin typeface="Inter" pitchFamily="34" charset="0"/>
                <a:ea typeface="Inter" pitchFamily="34" charset="-122"/>
                <a:cs typeface="Inter" pitchFamily="34" charset="-120"/>
              </a:rPr>
              <a:t>Held-out test metrics from the supplied Colab results package.</a:t>
            </a:r>
            <a:endParaRPr lang="en-US" sz="1050" dirty="0"/>
          </a:p>
        </p:txBody>
      </p:sp>
      <p:sp>
        <p:nvSpPr>
          <p:cNvPr id="5" name="Shape 3"/>
          <p:cNvSpPr/>
          <p:nvPr/>
        </p:nvSpPr>
        <p:spPr>
          <a:xfrm>
            <a:off x="658368" y="1481328"/>
            <a:ext cx="5138928" cy="4553712"/>
          </a:xfrm>
          <a:prstGeom prst="roundRect">
            <a:avLst>
              <a:gd name="adj" fmla="val 2811"/>
            </a:avLst>
          </a:prstGeom>
          <a:solidFill>
            <a:srgbClr val="FFFFFF"/>
          </a:solidFill>
          <a:ln w="9525">
            <a:solidFill>
              <a:srgbClr val="DDE4ED"/>
            </a:solidFill>
            <a:prstDash val="solid"/>
          </a:ln>
        </p:spPr>
      </p:sp>
      <p:sp>
        <p:nvSpPr>
          <p:cNvPr id="6" name="Text 4"/>
          <p:cNvSpPr txBox="1"/>
          <p:nvPr/>
        </p:nvSpPr>
        <p:spPr>
          <a:xfrm>
            <a:off x="932688" y="1719072"/>
            <a:ext cx="4114800" cy="292608"/>
          </a:xfrm>
          <a:prstGeom prst="rect">
            <a:avLst/>
          </a:prstGeom>
          <a:noFill/>
          <a:ln/>
        </p:spPr>
        <p:txBody>
          <a:bodyPr wrap="square" lIns="0" tIns="0" rIns="0" bIns="0" rtlCol="0" anchor="ctr">
            <a:normAutofit/>
          </a:bodyPr>
          <a:lstStyle/>
          <a:p>
            <a:pPr marL="0" indent="0" algn="l">
              <a:buNone/>
            </a:pPr>
            <a:r>
              <a:rPr lang="en-US" sz="1600" b="1" dirty="0">
                <a:solidFill>
                  <a:srgbClr val="101A2C"/>
                </a:solidFill>
                <a:latin typeface="Inter" pitchFamily="34" charset="0"/>
                <a:ea typeface="Inter" pitchFamily="34" charset="-122"/>
                <a:cs typeface="Inter" pitchFamily="34" charset="-120"/>
              </a:rPr>
              <a:t>Test AUROC by model</a:t>
            </a:r>
            <a:endParaRPr lang="en-US" sz="1600" dirty="0"/>
          </a:p>
        </p:txBody>
      </p:sp>
      <p:sp>
        <p:nvSpPr>
          <p:cNvPr id="7" name="Text 5"/>
          <p:cNvSpPr txBox="1"/>
          <p:nvPr/>
        </p:nvSpPr>
        <p:spPr>
          <a:xfrm>
            <a:off x="932688" y="2322576"/>
            <a:ext cx="1572768" cy="237744"/>
          </a:xfrm>
          <a:prstGeom prst="rect">
            <a:avLst/>
          </a:prstGeom>
          <a:noFill/>
          <a:ln/>
        </p:spPr>
        <p:txBody>
          <a:bodyPr wrap="square" lIns="0" tIns="0" rIns="0" bIns="0" rtlCol="0" anchor="ctr">
            <a:normAutofit/>
          </a:bodyPr>
          <a:lstStyle/>
          <a:p>
            <a:pPr marL="0" indent="0" algn="l">
              <a:buNone/>
            </a:pPr>
            <a:r>
              <a:rPr lang="en-US" sz="910" dirty="0">
                <a:solidFill>
                  <a:srgbClr val="253246"/>
                </a:solidFill>
                <a:latin typeface="Inter" pitchFamily="34" charset="0"/>
                <a:ea typeface="Inter" pitchFamily="34" charset="-122"/>
                <a:cs typeface="Inter" pitchFamily="34" charset="-120"/>
              </a:rPr>
              <a:t>Logistic Regression</a:t>
            </a:r>
            <a:endParaRPr lang="en-US" sz="910" dirty="0"/>
          </a:p>
        </p:txBody>
      </p:sp>
      <p:sp>
        <p:nvSpPr>
          <p:cNvPr id="8" name="Shape 6"/>
          <p:cNvSpPr/>
          <p:nvPr/>
        </p:nvSpPr>
        <p:spPr>
          <a:xfrm>
            <a:off x="2615184" y="2340864"/>
            <a:ext cx="2286000" cy="201168"/>
          </a:xfrm>
          <a:prstGeom prst="rect">
            <a:avLst/>
          </a:prstGeom>
          <a:solidFill>
            <a:srgbClr val="E9EEF4"/>
          </a:solidFill>
          <a:ln w="5080">
            <a:solidFill>
              <a:srgbClr val="E9EEF4">
                <a:alpha val="0"/>
              </a:srgbClr>
            </a:solidFill>
            <a:prstDash val="solid"/>
          </a:ln>
        </p:spPr>
      </p:sp>
      <p:sp>
        <p:nvSpPr>
          <p:cNvPr id="9" name="Shape 7"/>
          <p:cNvSpPr/>
          <p:nvPr/>
        </p:nvSpPr>
        <p:spPr>
          <a:xfrm>
            <a:off x="2615184" y="2340864"/>
            <a:ext cx="1554480" cy="201168"/>
          </a:xfrm>
          <a:prstGeom prst="rect">
            <a:avLst/>
          </a:prstGeom>
          <a:solidFill>
            <a:srgbClr val="4A78C2"/>
          </a:solidFill>
          <a:ln w="1270">
            <a:solidFill>
              <a:srgbClr val="4A78C2">
                <a:alpha val="0"/>
              </a:srgbClr>
            </a:solidFill>
            <a:prstDash val="solid"/>
          </a:ln>
        </p:spPr>
      </p:sp>
      <p:sp>
        <p:nvSpPr>
          <p:cNvPr id="10" name="Text 8"/>
          <p:cNvSpPr txBox="1"/>
          <p:nvPr/>
        </p:nvSpPr>
        <p:spPr>
          <a:xfrm>
            <a:off x="4992624" y="2313432"/>
            <a:ext cx="502920" cy="246888"/>
          </a:xfrm>
          <a:prstGeom prst="rect">
            <a:avLst/>
          </a:prstGeom>
          <a:noFill/>
          <a:ln/>
        </p:spPr>
        <p:txBody>
          <a:bodyPr wrap="square" lIns="0" tIns="0" rIns="0" bIns="0" rtlCol="0" anchor="ctr">
            <a:normAutofit/>
          </a:bodyPr>
          <a:lstStyle/>
          <a:p>
            <a:pPr marL="0" indent="0" algn="r">
              <a:buNone/>
            </a:pPr>
            <a:r>
              <a:rPr lang="en-US" sz="1100" b="1" dirty="0">
                <a:solidFill>
                  <a:srgbClr val="253246"/>
                </a:solidFill>
                <a:latin typeface="Inter" pitchFamily="34" charset="0"/>
                <a:ea typeface="Inter" pitchFamily="34" charset="-122"/>
                <a:cs typeface="Inter" pitchFamily="34" charset="-120"/>
              </a:rPr>
              <a:t>0.68</a:t>
            </a:r>
            <a:endParaRPr lang="en-US" sz="1100" dirty="0"/>
          </a:p>
        </p:txBody>
      </p:sp>
      <p:sp>
        <p:nvSpPr>
          <p:cNvPr id="11" name="Text 9"/>
          <p:cNvSpPr txBox="1"/>
          <p:nvPr/>
        </p:nvSpPr>
        <p:spPr>
          <a:xfrm>
            <a:off x="932688" y="2962656"/>
            <a:ext cx="1572768" cy="237744"/>
          </a:xfrm>
          <a:prstGeom prst="rect">
            <a:avLst/>
          </a:prstGeom>
          <a:noFill/>
          <a:ln/>
        </p:spPr>
        <p:txBody>
          <a:bodyPr wrap="square" lIns="0" tIns="0" rIns="0" bIns="0" rtlCol="0" anchor="ctr">
            <a:normAutofit/>
          </a:bodyPr>
          <a:lstStyle/>
          <a:p>
            <a:pPr marL="0" indent="0" algn="l">
              <a:buNone/>
            </a:pPr>
            <a:r>
              <a:rPr lang="en-US" sz="910" dirty="0">
                <a:solidFill>
                  <a:srgbClr val="253246"/>
                </a:solidFill>
                <a:latin typeface="Inter" pitchFamily="34" charset="0"/>
                <a:ea typeface="Inter" pitchFamily="34" charset="-122"/>
                <a:cs typeface="Inter" pitchFamily="34" charset="-120"/>
              </a:rPr>
              <a:t>K-Means</a:t>
            </a:r>
            <a:endParaRPr lang="en-US" sz="910" dirty="0"/>
          </a:p>
        </p:txBody>
      </p:sp>
      <p:sp>
        <p:nvSpPr>
          <p:cNvPr id="12" name="Shape 10"/>
          <p:cNvSpPr/>
          <p:nvPr/>
        </p:nvSpPr>
        <p:spPr>
          <a:xfrm>
            <a:off x="2615184" y="2980944"/>
            <a:ext cx="2286000" cy="201168"/>
          </a:xfrm>
          <a:prstGeom prst="rect">
            <a:avLst/>
          </a:prstGeom>
          <a:solidFill>
            <a:srgbClr val="E9EEF4"/>
          </a:solidFill>
          <a:ln w="5080">
            <a:solidFill>
              <a:srgbClr val="E9EEF4">
                <a:alpha val="0"/>
              </a:srgbClr>
            </a:solidFill>
            <a:prstDash val="solid"/>
          </a:ln>
        </p:spPr>
      </p:sp>
      <p:sp>
        <p:nvSpPr>
          <p:cNvPr id="13" name="Shape 11"/>
          <p:cNvSpPr/>
          <p:nvPr/>
        </p:nvSpPr>
        <p:spPr>
          <a:xfrm>
            <a:off x="2615184" y="2980944"/>
            <a:ext cx="1463040" cy="201168"/>
          </a:xfrm>
          <a:prstGeom prst="rect">
            <a:avLst/>
          </a:prstGeom>
          <a:solidFill>
            <a:srgbClr val="F4C15D"/>
          </a:solidFill>
          <a:ln w="1270">
            <a:solidFill>
              <a:srgbClr val="F4C15D">
                <a:alpha val="0"/>
              </a:srgbClr>
            </a:solidFill>
            <a:prstDash val="solid"/>
          </a:ln>
        </p:spPr>
      </p:sp>
      <p:sp>
        <p:nvSpPr>
          <p:cNvPr id="14" name="Text 12"/>
          <p:cNvSpPr txBox="1"/>
          <p:nvPr/>
        </p:nvSpPr>
        <p:spPr>
          <a:xfrm>
            <a:off x="4992624" y="2953512"/>
            <a:ext cx="502920" cy="246888"/>
          </a:xfrm>
          <a:prstGeom prst="rect">
            <a:avLst/>
          </a:prstGeom>
          <a:noFill/>
          <a:ln/>
        </p:spPr>
        <p:txBody>
          <a:bodyPr wrap="square" lIns="0" tIns="0" rIns="0" bIns="0" rtlCol="0" anchor="ctr">
            <a:normAutofit/>
          </a:bodyPr>
          <a:lstStyle/>
          <a:p>
            <a:pPr marL="0" indent="0" algn="r">
              <a:buNone/>
            </a:pPr>
            <a:r>
              <a:rPr lang="en-US" sz="1100" b="1" dirty="0">
                <a:solidFill>
                  <a:srgbClr val="253246"/>
                </a:solidFill>
                <a:latin typeface="Inter" pitchFamily="34" charset="0"/>
                <a:ea typeface="Inter" pitchFamily="34" charset="-122"/>
                <a:cs typeface="Inter" pitchFamily="34" charset="-120"/>
              </a:rPr>
              <a:t>0.64</a:t>
            </a:r>
            <a:endParaRPr lang="en-US" sz="1100" dirty="0"/>
          </a:p>
        </p:txBody>
      </p:sp>
      <p:sp>
        <p:nvSpPr>
          <p:cNvPr id="15" name="Text 13"/>
          <p:cNvSpPr txBox="1"/>
          <p:nvPr/>
        </p:nvSpPr>
        <p:spPr>
          <a:xfrm>
            <a:off x="932688" y="3602736"/>
            <a:ext cx="1572768" cy="237744"/>
          </a:xfrm>
          <a:prstGeom prst="rect">
            <a:avLst/>
          </a:prstGeom>
          <a:noFill/>
          <a:ln/>
        </p:spPr>
        <p:txBody>
          <a:bodyPr wrap="square" lIns="0" tIns="0" rIns="0" bIns="0" rtlCol="0" anchor="ctr">
            <a:normAutofit/>
          </a:bodyPr>
          <a:lstStyle/>
          <a:p>
            <a:pPr marL="0" indent="0" algn="l">
              <a:buNone/>
            </a:pPr>
            <a:r>
              <a:rPr lang="en-US" sz="910" b="1" dirty="0">
                <a:solidFill>
                  <a:srgbClr val="087F7A"/>
                </a:solidFill>
                <a:latin typeface="Inter" pitchFamily="34" charset="0"/>
                <a:ea typeface="Inter" pitchFamily="34" charset="-122"/>
                <a:cs typeface="Inter" pitchFamily="34" charset="-120"/>
              </a:rPr>
              <a:t>Random Forest</a:t>
            </a:r>
            <a:endParaRPr lang="en-US" sz="910" dirty="0"/>
          </a:p>
        </p:txBody>
      </p:sp>
      <p:sp>
        <p:nvSpPr>
          <p:cNvPr id="16" name="Shape 14"/>
          <p:cNvSpPr/>
          <p:nvPr/>
        </p:nvSpPr>
        <p:spPr>
          <a:xfrm>
            <a:off x="2615184" y="3621024"/>
            <a:ext cx="2286000" cy="201168"/>
          </a:xfrm>
          <a:prstGeom prst="rect">
            <a:avLst/>
          </a:prstGeom>
          <a:solidFill>
            <a:srgbClr val="E9EEF4"/>
          </a:solidFill>
          <a:ln w="5080">
            <a:solidFill>
              <a:srgbClr val="E9EEF4">
                <a:alpha val="0"/>
              </a:srgbClr>
            </a:solidFill>
            <a:prstDash val="solid"/>
          </a:ln>
        </p:spPr>
      </p:sp>
      <p:sp>
        <p:nvSpPr>
          <p:cNvPr id="17" name="Shape 15"/>
          <p:cNvSpPr/>
          <p:nvPr/>
        </p:nvSpPr>
        <p:spPr>
          <a:xfrm>
            <a:off x="2615184" y="3621024"/>
            <a:ext cx="1897380" cy="201168"/>
          </a:xfrm>
          <a:prstGeom prst="rect">
            <a:avLst/>
          </a:prstGeom>
          <a:solidFill>
            <a:srgbClr val="16A6A1"/>
          </a:solidFill>
          <a:ln w="1270">
            <a:solidFill>
              <a:srgbClr val="16A6A1">
                <a:alpha val="0"/>
              </a:srgbClr>
            </a:solidFill>
            <a:prstDash val="solid"/>
          </a:ln>
        </p:spPr>
      </p:sp>
      <p:sp>
        <p:nvSpPr>
          <p:cNvPr id="18" name="Text 16"/>
          <p:cNvSpPr txBox="1"/>
          <p:nvPr/>
        </p:nvSpPr>
        <p:spPr>
          <a:xfrm>
            <a:off x="4992624" y="3593592"/>
            <a:ext cx="502920" cy="246888"/>
          </a:xfrm>
          <a:prstGeom prst="rect">
            <a:avLst/>
          </a:prstGeom>
          <a:noFill/>
          <a:ln/>
        </p:spPr>
        <p:txBody>
          <a:bodyPr wrap="square" lIns="0" tIns="0" rIns="0" bIns="0" rtlCol="0" anchor="ctr">
            <a:normAutofit/>
          </a:bodyPr>
          <a:lstStyle/>
          <a:p>
            <a:pPr marL="0" indent="0" algn="r">
              <a:buNone/>
            </a:pPr>
            <a:r>
              <a:rPr lang="en-US" sz="1100" b="1" dirty="0">
                <a:solidFill>
                  <a:srgbClr val="087F7A"/>
                </a:solidFill>
                <a:latin typeface="Inter" pitchFamily="34" charset="0"/>
                <a:ea typeface="Inter" pitchFamily="34" charset="-122"/>
                <a:cs typeface="Inter" pitchFamily="34" charset="-120"/>
              </a:rPr>
              <a:t>0.83</a:t>
            </a:r>
            <a:endParaRPr lang="en-US" sz="1100" dirty="0"/>
          </a:p>
        </p:txBody>
      </p:sp>
      <p:sp>
        <p:nvSpPr>
          <p:cNvPr id="19" name="Text 17"/>
          <p:cNvSpPr txBox="1"/>
          <p:nvPr/>
        </p:nvSpPr>
        <p:spPr>
          <a:xfrm>
            <a:off x="932688" y="4242816"/>
            <a:ext cx="1572768" cy="237744"/>
          </a:xfrm>
          <a:prstGeom prst="rect">
            <a:avLst/>
          </a:prstGeom>
          <a:noFill/>
          <a:ln/>
        </p:spPr>
        <p:txBody>
          <a:bodyPr wrap="square" lIns="0" tIns="0" rIns="0" bIns="0" rtlCol="0" anchor="ctr">
            <a:normAutofit/>
          </a:bodyPr>
          <a:lstStyle/>
          <a:p>
            <a:pPr marL="0" indent="0" algn="l">
              <a:buNone/>
            </a:pPr>
            <a:r>
              <a:rPr lang="en-US" sz="910" dirty="0">
                <a:solidFill>
                  <a:srgbClr val="253246"/>
                </a:solidFill>
                <a:latin typeface="Inter" pitchFamily="34" charset="0"/>
                <a:ea typeface="Inter" pitchFamily="34" charset="-122"/>
                <a:cs typeface="Inter" pitchFamily="34" charset="-120"/>
              </a:rPr>
              <a:t>Neural Network</a:t>
            </a:r>
            <a:endParaRPr lang="en-US" sz="910" dirty="0"/>
          </a:p>
        </p:txBody>
      </p:sp>
      <p:sp>
        <p:nvSpPr>
          <p:cNvPr id="20" name="Shape 18"/>
          <p:cNvSpPr/>
          <p:nvPr/>
        </p:nvSpPr>
        <p:spPr>
          <a:xfrm>
            <a:off x="2615184" y="4261104"/>
            <a:ext cx="2286000" cy="201168"/>
          </a:xfrm>
          <a:prstGeom prst="rect">
            <a:avLst/>
          </a:prstGeom>
          <a:solidFill>
            <a:srgbClr val="E9EEF4"/>
          </a:solidFill>
          <a:ln w="5080">
            <a:solidFill>
              <a:srgbClr val="E9EEF4">
                <a:alpha val="0"/>
              </a:srgbClr>
            </a:solidFill>
            <a:prstDash val="solid"/>
          </a:ln>
        </p:spPr>
      </p:sp>
      <p:sp>
        <p:nvSpPr>
          <p:cNvPr id="21" name="Shape 19"/>
          <p:cNvSpPr/>
          <p:nvPr/>
        </p:nvSpPr>
        <p:spPr>
          <a:xfrm>
            <a:off x="2615184" y="4261104"/>
            <a:ext cx="1577340" cy="201168"/>
          </a:xfrm>
          <a:prstGeom prst="rect">
            <a:avLst/>
          </a:prstGeom>
          <a:solidFill>
            <a:srgbClr val="EA6B5B"/>
          </a:solidFill>
          <a:ln w="1270">
            <a:solidFill>
              <a:srgbClr val="EA6B5B">
                <a:alpha val="0"/>
              </a:srgbClr>
            </a:solidFill>
            <a:prstDash val="solid"/>
          </a:ln>
        </p:spPr>
      </p:sp>
      <p:sp>
        <p:nvSpPr>
          <p:cNvPr id="22" name="Text 20"/>
          <p:cNvSpPr txBox="1"/>
          <p:nvPr/>
        </p:nvSpPr>
        <p:spPr>
          <a:xfrm>
            <a:off x="4992624" y="4233672"/>
            <a:ext cx="502920" cy="246888"/>
          </a:xfrm>
          <a:prstGeom prst="rect">
            <a:avLst/>
          </a:prstGeom>
          <a:noFill/>
          <a:ln/>
        </p:spPr>
        <p:txBody>
          <a:bodyPr wrap="square" lIns="0" tIns="0" rIns="0" bIns="0" rtlCol="0" anchor="ctr">
            <a:normAutofit/>
          </a:bodyPr>
          <a:lstStyle/>
          <a:p>
            <a:pPr marL="0" indent="0" algn="r">
              <a:buNone/>
            </a:pPr>
            <a:r>
              <a:rPr lang="en-US" sz="1100" b="1" dirty="0">
                <a:solidFill>
                  <a:srgbClr val="253246"/>
                </a:solidFill>
                <a:latin typeface="Inter" pitchFamily="34" charset="0"/>
                <a:ea typeface="Inter" pitchFamily="34" charset="-122"/>
                <a:cs typeface="Inter" pitchFamily="34" charset="-120"/>
              </a:rPr>
              <a:t>0.69</a:t>
            </a:r>
            <a:endParaRPr lang="en-US" sz="1100" dirty="0"/>
          </a:p>
        </p:txBody>
      </p:sp>
      <p:sp>
        <p:nvSpPr>
          <p:cNvPr id="23" name="Shape 21"/>
          <p:cNvSpPr/>
          <p:nvPr/>
        </p:nvSpPr>
        <p:spPr>
          <a:xfrm>
            <a:off x="932688" y="4992624"/>
            <a:ext cx="4507992" cy="0"/>
          </a:xfrm>
          <a:prstGeom prst="line">
            <a:avLst/>
          </a:prstGeom>
          <a:noFill/>
          <a:ln w="9525">
            <a:solidFill>
              <a:srgbClr val="DDE4ED"/>
            </a:solidFill>
            <a:prstDash val="solid"/>
            <a:headEnd type="none"/>
            <a:tailEnd type="none"/>
          </a:ln>
        </p:spPr>
      </p:sp>
      <p:sp>
        <p:nvSpPr>
          <p:cNvPr id="24" name="Text 22"/>
          <p:cNvSpPr txBox="1"/>
          <p:nvPr/>
        </p:nvSpPr>
        <p:spPr>
          <a:xfrm>
            <a:off x="932688" y="5157216"/>
            <a:ext cx="3200400" cy="228600"/>
          </a:xfrm>
          <a:prstGeom prst="rect">
            <a:avLst/>
          </a:prstGeom>
          <a:noFill/>
          <a:ln/>
        </p:spPr>
        <p:txBody>
          <a:bodyPr wrap="square" lIns="0" tIns="0" rIns="0" bIns="0" rtlCol="0" anchor="ctr">
            <a:normAutofit/>
          </a:bodyPr>
          <a:lstStyle/>
          <a:p>
            <a:pPr marL="0" indent="0" algn="l">
              <a:buNone/>
            </a:pPr>
            <a:r>
              <a:rPr lang="en-US" sz="1050" b="1" dirty="0">
                <a:solidFill>
                  <a:srgbClr val="101A2C"/>
                </a:solidFill>
                <a:latin typeface="Inter" pitchFamily="34" charset="0"/>
                <a:ea typeface="Inter" pitchFamily="34" charset="-122"/>
                <a:cs typeface="Inter" pitchFamily="34" charset="-120"/>
              </a:rPr>
              <a:t>Random Forest on test set</a:t>
            </a:r>
            <a:endParaRPr lang="en-US" sz="1050" dirty="0"/>
          </a:p>
        </p:txBody>
      </p:sp>
      <p:sp>
        <p:nvSpPr>
          <p:cNvPr id="25" name="Text 23"/>
          <p:cNvSpPr txBox="1"/>
          <p:nvPr/>
        </p:nvSpPr>
        <p:spPr>
          <a:xfrm>
            <a:off x="932688" y="5477256"/>
            <a:ext cx="4526280" cy="237744"/>
          </a:xfrm>
          <a:prstGeom prst="rect">
            <a:avLst/>
          </a:prstGeom>
          <a:noFill/>
          <a:ln/>
        </p:spPr>
        <p:txBody>
          <a:bodyPr wrap="square" lIns="0" tIns="0" rIns="0" bIns="0" rtlCol="0" anchor="ctr">
            <a:normAutofit/>
          </a:bodyPr>
          <a:lstStyle/>
          <a:p>
            <a:pPr marL="0" indent="0" algn="l">
              <a:buNone/>
            </a:pPr>
            <a:r>
              <a:rPr lang="en-US" sz="1000" dirty="0">
                <a:solidFill>
                  <a:srgbClr val="65748B"/>
                </a:solidFill>
                <a:latin typeface="Inter" pitchFamily="34" charset="0"/>
                <a:ea typeface="Inter" pitchFamily="34" charset="-122"/>
                <a:cs typeface="Inter" pitchFamily="34" charset="-120"/>
              </a:rPr>
              <a:t>Kappa 0.37  ·  Precision 0.75  ·  Recall 0.32</a:t>
            </a:r>
            <a:endParaRPr lang="en-US" sz="1000" dirty="0"/>
          </a:p>
        </p:txBody>
      </p:sp>
      <p:sp>
        <p:nvSpPr>
          <p:cNvPr id="26" name="Shape 24"/>
          <p:cNvSpPr/>
          <p:nvPr/>
        </p:nvSpPr>
        <p:spPr>
          <a:xfrm>
            <a:off x="6016752" y="1481328"/>
            <a:ext cx="5522976" cy="3337560"/>
          </a:xfrm>
          <a:prstGeom prst="roundRect">
            <a:avLst>
              <a:gd name="adj" fmla="val 3836"/>
            </a:avLst>
          </a:prstGeom>
          <a:solidFill>
            <a:srgbClr val="FFFFFF"/>
          </a:solidFill>
          <a:ln w="9525">
            <a:solidFill>
              <a:srgbClr val="DDE4ED"/>
            </a:solidFill>
            <a:prstDash val="solid"/>
          </a:ln>
        </p:spPr>
      </p:sp>
      <p:sp>
        <p:nvSpPr>
          <p:cNvPr id="27" name="Text 25"/>
          <p:cNvSpPr txBox="1"/>
          <p:nvPr/>
        </p:nvSpPr>
        <p:spPr>
          <a:xfrm>
            <a:off x="6254496" y="1691640"/>
            <a:ext cx="3291840" cy="256032"/>
          </a:xfrm>
          <a:prstGeom prst="rect">
            <a:avLst/>
          </a:prstGeom>
          <a:noFill/>
          <a:ln/>
        </p:spPr>
        <p:txBody>
          <a:bodyPr wrap="square" lIns="0" tIns="0" rIns="0" bIns="0" rtlCol="0" anchor="ctr">
            <a:normAutofit/>
          </a:bodyPr>
          <a:lstStyle/>
          <a:p>
            <a:pPr marL="0" indent="0" algn="l">
              <a:buNone/>
            </a:pPr>
            <a:r>
              <a:rPr lang="en-US" sz="1500" b="1" dirty="0">
                <a:solidFill>
                  <a:srgbClr val="101A2C"/>
                </a:solidFill>
                <a:latin typeface="Inter" pitchFamily="34" charset="0"/>
                <a:ea typeface="Inter" pitchFamily="34" charset="-122"/>
                <a:cs typeface="Inter" pitchFamily="34" charset="-120"/>
              </a:rPr>
              <a:t>ROC curves (test set)</a:t>
            </a:r>
            <a:endParaRPr lang="en-US" sz="1500" dirty="0"/>
          </a:p>
        </p:txBody>
      </p:sp>
      <p:pic>
        <p:nvPicPr>
          <p:cNvPr id="28" name="Image 0" descr="/mnt/data/results_only/figures/07_roc_curves.png"/>
          <p:cNvPicPr>
            <a:picLocks noChangeAspect="1"/>
          </p:cNvPicPr>
          <p:nvPr/>
        </p:nvPicPr>
        <p:blipFill>
          <a:blip r:embed="rId3"/>
          <a:stretch>
            <a:fillRect/>
          </a:stretch>
        </p:blipFill>
        <p:spPr>
          <a:xfrm>
            <a:off x="7193262" y="1956816"/>
            <a:ext cx="3124235" cy="2706624"/>
          </a:xfrm>
          <a:prstGeom prst="rect">
            <a:avLst/>
          </a:prstGeom>
        </p:spPr>
      </p:pic>
      <p:sp>
        <p:nvSpPr>
          <p:cNvPr id="29" name="Shape 26"/>
          <p:cNvSpPr/>
          <p:nvPr/>
        </p:nvSpPr>
        <p:spPr>
          <a:xfrm>
            <a:off x="6016752" y="5010912"/>
            <a:ext cx="5522976" cy="1024128"/>
          </a:xfrm>
          <a:prstGeom prst="roundRect">
            <a:avLst>
              <a:gd name="adj" fmla="val 12500"/>
            </a:avLst>
          </a:prstGeom>
          <a:solidFill>
            <a:srgbClr val="FCEAE6"/>
          </a:solidFill>
          <a:ln w="9525">
            <a:solidFill>
              <a:srgbClr val="FCEAE6"/>
            </a:solidFill>
            <a:prstDash val="solid"/>
          </a:ln>
        </p:spPr>
      </p:sp>
      <p:sp>
        <p:nvSpPr>
          <p:cNvPr id="30" name="Text 27"/>
          <p:cNvSpPr txBox="1"/>
          <p:nvPr/>
        </p:nvSpPr>
        <p:spPr>
          <a:xfrm>
            <a:off x="6263640" y="5193792"/>
            <a:ext cx="1481328" cy="219456"/>
          </a:xfrm>
          <a:prstGeom prst="rect">
            <a:avLst/>
          </a:prstGeom>
          <a:noFill/>
          <a:ln/>
        </p:spPr>
        <p:txBody>
          <a:bodyPr wrap="square" lIns="0" tIns="0" rIns="0" bIns="0" rtlCol="0" anchor="ctr">
            <a:normAutofit/>
          </a:bodyPr>
          <a:lstStyle/>
          <a:p>
            <a:pPr marL="0" indent="0" algn="l">
              <a:buNone/>
            </a:pPr>
            <a:r>
              <a:rPr lang="en-US" sz="1020" b="1" dirty="0">
                <a:solidFill>
                  <a:srgbClr val="9E3C31"/>
                </a:solidFill>
                <a:latin typeface="Inter" pitchFamily="34" charset="0"/>
                <a:ea typeface="Inter" pitchFamily="34" charset="-122"/>
                <a:cs typeface="Inter" pitchFamily="34" charset="-120"/>
              </a:rPr>
              <a:t>Important trade-off</a:t>
            </a:r>
            <a:endParaRPr lang="en-US" sz="1020" dirty="0"/>
          </a:p>
        </p:txBody>
      </p:sp>
      <p:sp>
        <p:nvSpPr>
          <p:cNvPr id="31" name="Text 28"/>
          <p:cNvSpPr txBox="1"/>
          <p:nvPr/>
        </p:nvSpPr>
        <p:spPr>
          <a:xfrm>
            <a:off x="7772400" y="5148072"/>
            <a:ext cx="3447288" cy="384048"/>
          </a:xfrm>
          <a:prstGeom prst="rect">
            <a:avLst/>
          </a:prstGeom>
          <a:noFill/>
          <a:ln/>
        </p:spPr>
        <p:txBody>
          <a:bodyPr wrap="square" lIns="0" tIns="0" rIns="0" bIns="0" rtlCol="0" anchor="ctr">
            <a:normAutofit/>
          </a:bodyPr>
          <a:lstStyle/>
          <a:p>
            <a:pPr marL="0" indent="0" algn="l">
              <a:buNone/>
            </a:pPr>
            <a:r>
              <a:rPr lang="en-US" sz="1020" b="1" dirty="0">
                <a:solidFill>
                  <a:srgbClr val="253246"/>
                </a:solidFill>
                <a:latin typeface="Inter" pitchFamily="34" charset="0"/>
                <a:ea typeface="Inter" pitchFamily="34" charset="-122"/>
                <a:cs typeface="Inter" pitchFamily="34" charset="-120"/>
              </a:rPr>
              <a:t>The model detected 27 of 84 erupting cases; 57 were missed.</a:t>
            </a:r>
            <a:endParaRPr lang="en-US" sz="1020" dirty="0"/>
          </a:p>
        </p:txBody>
      </p:sp>
      <p:sp>
        <p:nvSpPr>
          <p:cNvPr id="32" name="Shape 29"/>
          <p:cNvSpPr/>
          <p:nvPr/>
        </p:nvSpPr>
        <p:spPr>
          <a:xfrm>
            <a:off x="621792" y="6419088"/>
            <a:ext cx="10945368" cy="0"/>
          </a:xfrm>
          <a:prstGeom prst="line">
            <a:avLst/>
          </a:prstGeom>
          <a:noFill/>
          <a:ln w="8255">
            <a:solidFill>
              <a:srgbClr val="DDE4ED"/>
            </a:solidFill>
            <a:prstDash val="solid"/>
            <a:headEnd type="none"/>
            <a:tailEnd type="none"/>
          </a:ln>
        </p:spPr>
      </p:sp>
      <p:sp>
        <p:nvSpPr>
          <p:cNvPr id="33" name="Text 30"/>
          <p:cNvSpPr txBox="1"/>
          <p:nvPr/>
        </p:nvSpPr>
        <p:spPr>
          <a:xfrm>
            <a:off x="640080" y="6473952"/>
            <a:ext cx="9966960" cy="164592"/>
          </a:xfrm>
          <a:prstGeom prst="rect">
            <a:avLst/>
          </a:prstGeom>
          <a:noFill/>
          <a:ln/>
        </p:spPr>
        <p:txBody>
          <a:bodyPr wrap="square" lIns="0" tIns="0" rIns="0" bIns="0" rtlCol="0" anchor="ctr">
            <a:normAutofit/>
          </a:bodyPr>
          <a:lstStyle/>
          <a:p>
            <a:pPr marL="0" indent="0" algn="l">
              <a:buNone/>
            </a:pPr>
            <a:r>
              <a:rPr lang="en-US" sz="740" dirty="0">
                <a:solidFill>
                  <a:srgbClr val="8A97AA"/>
                </a:solidFill>
                <a:latin typeface="Inter" pitchFamily="34" charset="0"/>
                <a:ea typeface="Inter" pitchFamily="34" charset="-122"/>
                <a:cs typeface="Inter" pitchFamily="34" charset="-120"/>
              </a:rPr>
              <a:t>Source: notebook_results.zip / RESULTS.md; test set n = 377</a:t>
            </a:r>
            <a:endParaRPr lang="en-US" sz="740" dirty="0"/>
          </a:p>
        </p:txBody>
      </p:sp>
      <p:sp>
        <p:nvSpPr>
          <p:cNvPr id="34" name="Text 31"/>
          <p:cNvSpPr txBox="1"/>
          <p:nvPr/>
        </p:nvSpPr>
        <p:spPr>
          <a:xfrm>
            <a:off x="11109960" y="6455664"/>
            <a:ext cx="438912" cy="182880"/>
          </a:xfrm>
          <a:prstGeom prst="rect">
            <a:avLst/>
          </a:prstGeom>
          <a:noFill/>
          <a:ln/>
        </p:spPr>
        <p:txBody>
          <a:bodyPr wrap="square" lIns="0" tIns="0" rIns="0" bIns="0" rtlCol="0" anchor="ctr">
            <a:normAutofit/>
          </a:bodyPr>
          <a:lstStyle/>
          <a:p>
            <a:pPr marL="0" indent="0" algn="r">
              <a:buNone/>
            </a:pPr>
            <a:r>
              <a:rPr lang="en-US" sz="850" b="1" dirty="0">
                <a:solidFill>
                  <a:srgbClr val="65748B"/>
                </a:solidFill>
                <a:latin typeface="Inter" pitchFamily="34" charset="0"/>
                <a:ea typeface="Inter" pitchFamily="34" charset="-122"/>
                <a:cs typeface="Inter"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21792" y="320040"/>
            <a:ext cx="5303520" cy="201168"/>
          </a:xfrm>
          <a:prstGeom prst="rect">
            <a:avLst/>
          </a:prstGeom>
          <a:noFill/>
          <a:ln/>
        </p:spPr>
        <p:txBody>
          <a:bodyPr wrap="square" lIns="0" tIns="0" rIns="0" bIns="0" rtlCol="0" anchor="ctr">
            <a:normAutofit/>
          </a:bodyPr>
          <a:lstStyle/>
          <a:p>
            <a:pPr marL="0" indent="0" algn="l">
              <a:buNone/>
            </a:pPr>
            <a:r>
              <a:rPr lang="en-US" sz="900" b="1" kern="0" spc="130" dirty="0">
                <a:solidFill>
                  <a:srgbClr val="087F7A"/>
                </a:solidFill>
                <a:latin typeface="Inter" pitchFamily="34" charset="0"/>
                <a:ea typeface="Inter" pitchFamily="34" charset="-122"/>
                <a:cs typeface="Inter" pitchFamily="34" charset="-120"/>
              </a:rPr>
              <a:t>05 / RESULTS — REGRESSION</a:t>
            </a:r>
            <a:endParaRPr lang="en-US" sz="900" dirty="0"/>
          </a:p>
        </p:txBody>
      </p:sp>
      <p:sp>
        <p:nvSpPr>
          <p:cNvPr id="3" name="Text 1"/>
          <p:cNvSpPr txBox="1"/>
          <p:nvPr/>
        </p:nvSpPr>
        <p:spPr>
          <a:xfrm>
            <a:off x="621792" y="576072"/>
            <a:ext cx="10972800" cy="429768"/>
          </a:xfrm>
          <a:prstGeom prst="rect">
            <a:avLst/>
          </a:prstGeom>
          <a:noFill/>
          <a:ln/>
        </p:spPr>
        <p:txBody>
          <a:bodyPr wrap="square" lIns="0" tIns="0" rIns="0" bIns="0" rtlCol="0" anchor="ctr">
            <a:normAutofit/>
          </a:bodyPr>
          <a:lstStyle/>
          <a:p>
            <a:pPr marL="0" indent="0" algn="l">
              <a:buNone/>
            </a:pPr>
            <a:r>
              <a:rPr lang="en-US" sz="2500" b="1" dirty="0">
                <a:solidFill>
                  <a:srgbClr val="101A2C"/>
                </a:solidFill>
                <a:latin typeface="Inter" pitchFamily="34" charset="0"/>
                <a:ea typeface="Inter" pitchFamily="34" charset="-122"/>
                <a:cs typeface="Inter" pitchFamily="34" charset="-120"/>
              </a:rPr>
              <a:t>Random Forest gives the lowest reported time-to-eruption error</a:t>
            </a:r>
            <a:endParaRPr lang="en-US" sz="2500" dirty="0"/>
          </a:p>
        </p:txBody>
      </p:sp>
      <p:sp>
        <p:nvSpPr>
          <p:cNvPr id="4" name="Text 2"/>
          <p:cNvSpPr txBox="1"/>
          <p:nvPr/>
        </p:nvSpPr>
        <p:spPr>
          <a:xfrm>
            <a:off x="640080" y="1033272"/>
            <a:ext cx="10881360" cy="256032"/>
          </a:xfrm>
          <a:prstGeom prst="rect">
            <a:avLst/>
          </a:prstGeom>
          <a:noFill/>
          <a:ln/>
        </p:spPr>
        <p:txBody>
          <a:bodyPr wrap="square" lIns="0" tIns="0" rIns="0" bIns="0" rtlCol="0" anchor="ctr">
            <a:normAutofit/>
          </a:bodyPr>
          <a:lstStyle/>
          <a:p>
            <a:pPr marL="0" indent="0" algn="l">
              <a:buNone/>
            </a:pPr>
            <a:r>
              <a:rPr lang="en-US" sz="1050" dirty="0">
                <a:solidFill>
                  <a:srgbClr val="65748B"/>
                </a:solidFill>
                <a:latin typeface="Inter" pitchFamily="34" charset="0"/>
                <a:ea typeface="Inter" pitchFamily="34" charset="-122"/>
                <a:cs typeface="Inter" pitchFamily="34" charset="-120"/>
              </a:rPr>
              <a:t>Regression predicts days until the next eruption begins; target is 0 when an episode is already underway.</a:t>
            </a:r>
            <a:endParaRPr lang="en-US" sz="1050" dirty="0"/>
          </a:p>
        </p:txBody>
      </p:sp>
      <p:sp>
        <p:nvSpPr>
          <p:cNvPr id="5" name="Shape 3"/>
          <p:cNvSpPr/>
          <p:nvPr/>
        </p:nvSpPr>
        <p:spPr>
          <a:xfrm>
            <a:off x="658368" y="1490472"/>
            <a:ext cx="4892040" cy="4553712"/>
          </a:xfrm>
          <a:prstGeom prst="roundRect">
            <a:avLst>
              <a:gd name="adj" fmla="val 2811"/>
            </a:avLst>
          </a:prstGeom>
          <a:solidFill>
            <a:srgbClr val="FFFFFF"/>
          </a:solidFill>
          <a:ln w="9525">
            <a:solidFill>
              <a:srgbClr val="DDE4ED"/>
            </a:solidFill>
            <a:prstDash val="solid"/>
          </a:ln>
        </p:spPr>
      </p:sp>
      <p:sp>
        <p:nvSpPr>
          <p:cNvPr id="6" name="Text 4"/>
          <p:cNvSpPr txBox="1"/>
          <p:nvPr/>
        </p:nvSpPr>
        <p:spPr>
          <a:xfrm>
            <a:off x="914400" y="1746504"/>
            <a:ext cx="3108960" cy="292608"/>
          </a:xfrm>
          <a:prstGeom prst="rect">
            <a:avLst/>
          </a:prstGeom>
          <a:noFill/>
          <a:ln/>
        </p:spPr>
        <p:txBody>
          <a:bodyPr wrap="square" lIns="0" tIns="0" rIns="0" bIns="0" rtlCol="0" anchor="ctr">
            <a:normAutofit/>
          </a:bodyPr>
          <a:lstStyle/>
          <a:p>
            <a:pPr marL="0" indent="0" algn="l">
              <a:buNone/>
            </a:pPr>
            <a:r>
              <a:rPr lang="en-US" sz="1550" b="1" dirty="0">
                <a:solidFill>
                  <a:srgbClr val="101A2C"/>
                </a:solidFill>
                <a:latin typeface="Inter" pitchFamily="34" charset="0"/>
                <a:ea typeface="Inter" pitchFamily="34" charset="-122"/>
                <a:cs typeface="Inter" pitchFamily="34" charset="-120"/>
              </a:rPr>
              <a:t>Test RMSE (days)</a:t>
            </a:r>
            <a:endParaRPr lang="en-US" sz="1550" dirty="0"/>
          </a:p>
        </p:txBody>
      </p:sp>
      <p:sp>
        <p:nvSpPr>
          <p:cNvPr id="7" name="Text 5"/>
          <p:cNvSpPr txBox="1"/>
          <p:nvPr/>
        </p:nvSpPr>
        <p:spPr>
          <a:xfrm>
            <a:off x="932688" y="2340864"/>
            <a:ext cx="1298448" cy="246888"/>
          </a:xfrm>
          <a:prstGeom prst="rect">
            <a:avLst/>
          </a:prstGeom>
          <a:noFill/>
          <a:ln/>
        </p:spPr>
        <p:txBody>
          <a:bodyPr wrap="square" lIns="0" tIns="0" rIns="0" bIns="0" rtlCol="0" anchor="ctr">
            <a:normAutofit/>
          </a:bodyPr>
          <a:lstStyle/>
          <a:p>
            <a:pPr marL="0" indent="0" algn="l">
              <a:buNone/>
            </a:pPr>
            <a:r>
              <a:rPr lang="en-US" sz="1000" dirty="0">
                <a:solidFill>
                  <a:srgbClr val="253246"/>
                </a:solidFill>
                <a:latin typeface="Inter" pitchFamily="34" charset="0"/>
                <a:ea typeface="Inter" pitchFamily="34" charset="-122"/>
                <a:cs typeface="Inter" pitchFamily="34" charset="-120"/>
              </a:rPr>
              <a:t>K-Means</a:t>
            </a:r>
            <a:endParaRPr lang="en-US" sz="1000" dirty="0"/>
          </a:p>
        </p:txBody>
      </p:sp>
      <p:sp>
        <p:nvSpPr>
          <p:cNvPr id="8" name="Shape 6"/>
          <p:cNvSpPr/>
          <p:nvPr/>
        </p:nvSpPr>
        <p:spPr>
          <a:xfrm>
            <a:off x="2331720" y="2359152"/>
            <a:ext cx="2240280" cy="219456"/>
          </a:xfrm>
          <a:prstGeom prst="rect">
            <a:avLst/>
          </a:prstGeom>
          <a:solidFill>
            <a:srgbClr val="E9EEF4"/>
          </a:solidFill>
          <a:ln w="2540">
            <a:solidFill>
              <a:srgbClr val="E9EEF4">
                <a:alpha val="0"/>
              </a:srgbClr>
            </a:solidFill>
            <a:prstDash val="solid"/>
          </a:ln>
        </p:spPr>
      </p:sp>
      <p:sp>
        <p:nvSpPr>
          <p:cNvPr id="9" name="Shape 7"/>
          <p:cNvSpPr/>
          <p:nvPr/>
        </p:nvSpPr>
        <p:spPr>
          <a:xfrm>
            <a:off x="2331720" y="2359152"/>
            <a:ext cx="2027453" cy="219456"/>
          </a:xfrm>
          <a:prstGeom prst="rect">
            <a:avLst/>
          </a:prstGeom>
          <a:solidFill>
            <a:srgbClr val="F4C15D"/>
          </a:solidFill>
          <a:ln w="1270">
            <a:solidFill>
              <a:srgbClr val="F4C15D">
                <a:alpha val="0"/>
              </a:srgbClr>
            </a:solidFill>
            <a:prstDash val="solid"/>
          </a:ln>
        </p:spPr>
      </p:sp>
      <p:sp>
        <p:nvSpPr>
          <p:cNvPr id="10" name="Text 8"/>
          <p:cNvSpPr txBox="1"/>
          <p:nvPr/>
        </p:nvSpPr>
        <p:spPr>
          <a:xfrm>
            <a:off x="4654296" y="2331720"/>
            <a:ext cx="530352" cy="246888"/>
          </a:xfrm>
          <a:prstGeom prst="rect">
            <a:avLst/>
          </a:prstGeom>
          <a:noFill/>
          <a:ln/>
        </p:spPr>
        <p:txBody>
          <a:bodyPr wrap="square" lIns="0" tIns="0" rIns="0" bIns="0" rtlCol="0" anchor="ctr">
            <a:normAutofit/>
          </a:bodyPr>
          <a:lstStyle/>
          <a:p>
            <a:pPr marL="0" indent="0" algn="r">
              <a:buNone/>
            </a:pPr>
            <a:r>
              <a:rPr lang="en-US" sz="1100" b="1" dirty="0">
                <a:solidFill>
                  <a:srgbClr val="253246"/>
                </a:solidFill>
                <a:latin typeface="Inter" pitchFamily="34" charset="0"/>
                <a:ea typeface="Inter" pitchFamily="34" charset="-122"/>
                <a:cs typeface="Inter" pitchFamily="34" charset="-120"/>
              </a:rPr>
              <a:t>18.1</a:t>
            </a:r>
            <a:endParaRPr lang="en-US" sz="1100" dirty="0"/>
          </a:p>
        </p:txBody>
      </p:sp>
      <p:sp>
        <p:nvSpPr>
          <p:cNvPr id="11" name="Text 9"/>
          <p:cNvSpPr txBox="1"/>
          <p:nvPr/>
        </p:nvSpPr>
        <p:spPr>
          <a:xfrm>
            <a:off x="932688" y="3136392"/>
            <a:ext cx="1298448" cy="246888"/>
          </a:xfrm>
          <a:prstGeom prst="rect">
            <a:avLst/>
          </a:prstGeom>
          <a:noFill/>
          <a:ln/>
        </p:spPr>
        <p:txBody>
          <a:bodyPr wrap="square" lIns="0" tIns="0" rIns="0" bIns="0" rtlCol="0" anchor="ctr">
            <a:normAutofit/>
          </a:bodyPr>
          <a:lstStyle/>
          <a:p>
            <a:pPr marL="0" indent="0" algn="l">
              <a:buNone/>
            </a:pPr>
            <a:r>
              <a:rPr lang="en-US" sz="1000" b="1" dirty="0">
                <a:solidFill>
                  <a:srgbClr val="087F7A"/>
                </a:solidFill>
                <a:latin typeface="Inter" pitchFamily="34" charset="0"/>
                <a:ea typeface="Inter" pitchFamily="34" charset="-122"/>
                <a:cs typeface="Inter" pitchFamily="34" charset="-120"/>
              </a:rPr>
              <a:t>Random Forest</a:t>
            </a:r>
            <a:endParaRPr lang="en-US" sz="1000" dirty="0"/>
          </a:p>
        </p:txBody>
      </p:sp>
      <p:sp>
        <p:nvSpPr>
          <p:cNvPr id="12" name="Shape 10"/>
          <p:cNvSpPr/>
          <p:nvPr/>
        </p:nvSpPr>
        <p:spPr>
          <a:xfrm>
            <a:off x="2331720" y="3154680"/>
            <a:ext cx="2240280" cy="219456"/>
          </a:xfrm>
          <a:prstGeom prst="rect">
            <a:avLst/>
          </a:prstGeom>
          <a:solidFill>
            <a:srgbClr val="E9EEF4"/>
          </a:solidFill>
          <a:ln w="2540">
            <a:solidFill>
              <a:srgbClr val="E9EEF4">
                <a:alpha val="0"/>
              </a:srgbClr>
            </a:solidFill>
            <a:prstDash val="solid"/>
          </a:ln>
        </p:spPr>
      </p:sp>
      <p:sp>
        <p:nvSpPr>
          <p:cNvPr id="13" name="Shape 11"/>
          <p:cNvSpPr/>
          <p:nvPr/>
        </p:nvSpPr>
        <p:spPr>
          <a:xfrm>
            <a:off x="2331720" y="3154680"/>
            <a:ext cx="1131341" cy="219456"/>
          </a:xfrm>
          <a:prstGeom prst="rect">
            <a:avLst/>
          </a:prstGeom>
          <a:solidFill>
            <a:srgbClr val="16A6A1"/>
          </a:solidFill>
          <a:ln w="1270">
            <a:solidFill>
              <a:srgbClr val="16A6A1">
                <a:alpha val="0"/>
              </a:srgbClr>
            </a:solidFill>
            <a:prstDash val="solid"/>
          </a:ln>
        </p:spPr>
      </p:sp>
      <p:sp>
        <p:nvSpPr>
          <p:cNvPr id="14" name="Text 12"/>
          <p:cNvSpPr txBox="1"/>
          <p:nvPr/>
        </p:nvSpPr>
        <p:spPr>
          <a:xfrm>
            <a:off x="4654296" y="3127248"/>
            <a:ext cx="530352" cy="246888"/>
          </a:xfrm>
          <a:prstGeom prst="rect">
            <a:avLst/>
          </a:prstGeom>
          <a:noFill/>
          <a:ln/>
        </p:spPr>
        <p:txBody>
          <a:bodyPr wrap="square" lIns="0" tIns="0" rIns="0" bIns="0" rtlCol="0" anchor="ctr">
            <a:normAutofit/>
          </a:bodyPr>
          <a:lstStyle/>
          <a:p>
            <a:pPr marL="0" indent="0" algn="r">
              <a:buNone/>
            </a:pPr>
            <a:r>
              <a:rPr lang="en-US" sz="1100" b="1" dirty="0">
                <a:solidFill>
                  <a:srgbClr val="087F7A"/>
                </a:solidFill>
                <a:latin typeface="Inter" pitchFamily="34" charset="0"/>
                <a:ea typeface="Inter" pitchFamily="34" charset="-122"/>
                <a:cs typeface="Inter" pitchFamily="34" charset="-120"/>
              </a:rPr>
              <a:t>10.1</a:t>
            </a:r>
            <a:endParaRPr lang="en-US" sz="1100" dirty="0"/>
          </a:p>
        </p:txBody>
      </p:sp>
      <p:sp>
        <p:nvSpPr>
          <p:cNvPr id="15" name="Text 13"/>
          <p:cNvSpPr txBox="1"/>
          <p:nvPr/>
        </p:nvSpPr>
        <p:spPr>
          <a:xfrm>
            <a:off x="932688" y="3931920"/>
            <a:ext cx="1298448" cy="246888"/>
          </a:xfrm>
          <a:prstGeom prst="rect">
            <a:avLst/>
          </a:prstGeom>
          <a:noFill/>
          <a:ln/>
        </p:spPr>
        <p:txBody>
          <a:bodyPr wrap="square" lIns="0" tIns="0" rIns="0" bIns="0" rtlCol="0" anchor="ctr">
            <a:normAutofit/>
          </a:bodyPr>
          <a:lstStyle/>
          <a:p>
            <a:pPr marL="0" indent="0" algn="l">
              <a:buNone/>
            </a:pPr>
            <a:r>
              <a:rPr lang="en-US" sz="1000" dirty="0">
                <a:solidFill>
                  <a:srgbClr val="253246"/>
                </a:solidFill>
                <a:latin typeface="Inter" pitchFamily="34" charset="0"/>
                <a:ea typeface="Inter" pitchFamily="34" charset="-122"/>
                <a:cs typeface="Inter" pitchFamily="34" charset="-120"/>
              </a:rPr>
              <a:t>Neural Network</a:t>
            </a:r>
            <a:endParaRPr lang="en-US" sz="1000" dirty="0"/>
          </a:p>
        </p:txBody>
      </p:sp>
      <p:sp>
        <p:nvSpPr>
          <p:cNvPr id="16" name="Shape 14"/>
          <p:cNvSpPr/>
          <p:nvPr/>
        </p:nvSpPr>
        <p:spPr>
          <a:xfrm>
            <a:off x="2331720" y="3950208"/>
            <a:ext cx="2240280" cy="219456"/>
          </a:xfrm>
          <a:prstGeom prst="rect">
            <a:avLst/>
          </a:prstGeom>
          <a:solidFill>
            <a:srgbClr val="E9EEF4"/>
          </a:solidFill>
          <a:ln w="2540">
            <a:solidFill>
              <a:srgbClr val="E9EEF4">
                <a:alpha val="0"/>
              </a:srgbClr>
            </a:solidFill>
            <a:prstDash val="solid"/>
          </a:ln>
        </p:spPr>
      </p:sp>
      <p:sp>
        <p:nvSpPr>
          <p:cNvPr id="17" name="Shape 15"/>
          <p:cNvSpPr/>
          <p:nvPr/>
        </p:nvSpPr>
        <p:spPr>
          <a:xfrm>
            <a:off x="2331720" y="3950208"/>
            <a:ext cx="1321765" cy="219456"/>
          </a:xfrm>
          <a:prstGeom prst="rect">
            <a:avLst/>
          </a:prstGeom>
          <a:solidFill>
            <a:srgbClr val="EA6B5B"/>
          </a:solidFill>
          <a:ln w="1270">
            <a:solidFill>
              <a:srgbClr val="EA6B5B">
                <a:alpha val="0"/>
              </a:srgbClr>
            </a:solidFill>
            <a:prstDash val="solid"/>
          </a:ln>
        </p:spPr>
      </p:sp>
      <p:sp>
        <p:nvSpPr>
          <p:cNvPr id="18" name="Text 16"/>
          <p:cNvSpPr txBox="1"/>
          <p:nvPr/>
        </p:nvSpPr>
        <p:spPr>
          <a:xfrm>
            <a:off x="4654296" y="3922776"/>
            <a:ext cx="530352" cy="246888"/>
          </a:xfrm>
          <a:prstGeom prst="rect">
            <a:avLst/>
          </a:prstGeom>
          <a:noFill/>
          <a:ln/>
        </p:spPr>
        <p:txBody>
          <a:bodyPr wrap="square" lIns="0" tIns="0" rIns="0" bIns="0" rtlCol="0" anchor="ctr">
            <a:normAutofit/>
          </a:bodyPr>
          <a:lstStyle/>
          <a:p>
            <a:pPr marL="0" indent="0" algn="r">
              <a:buNone/>
            </a:pPr>
            <a:r>
              <a:rPr lang="en-US" sz="1100" b="1" dirty="0">
                <a:solidFill>
                  <a:srgbClr val="253246"/>
                </a:solidFill>
                <a:latin typeface="Inter" pitchFamily="34" charset="0"/>
                <a:ea typeface="Inter" pitchFamily="34" charset="-122"/>
                <a:cs typeface="Inter" pitchFamily="34" charset="-120"/>
              </a:rPr>
              <a:t>11.8</a:t>
            </a:r>
            <a:endParaRPr lang="en-US" sz="1100" dirty="0"/>
          </a:p>
        </p:txBody>
      </p:sp>
      <p:sp>
        <p:nvSpPr>
          <p:cNvPr id="19" name="Shape 17"/>
          <p:cNvSpPr/>
          <p:nvPr/>
        </p:nvSpPr>
        <p:spPr>
          <a:xfrm>
            <a:off x="932688" y="4965192"/>
            <a:ext cx="4334256" cy="0"/>
          </a:xfrm>
          <a:prstGeom prst="line">
            <a:avLst/>
          </a:prstGeom>
          <a:noFill/>
          <a:ln w="9525">
            <a:solidFill>
              <a:srgbClr val="DDE4ED"/>
            </a:solidFill>
            <a:prstDash val="solid"/>
            <a:headEnd type="none"/>
            <a:tailEnd type="none"/>
          </a:ln>
        </p:spPr>
      </p:sp>
      <p:sp>
        <p:nvSpPr>
          <p:cNvPr id="20" name="Text 18"/>
          <p:cNvSpPr txBox="1"/>
          <p:nvPr/>
        </p:nvSpPr>
        <p:spPr>
          <a:xfrm>
            <a:off x="932688" y="5148072"/>
            <a:ext cx="2212848" cy="256032"/>
          </a:xfrm>
          <a:prstGeom prst="rect">
            <a:avLst/>
          </a:prstGeom>
          <a:noFill/>
          <a:ln/>
        </p:spPr>
        <p:txBody>
          <a:bodyPr wrap="square" lIns="0" tIns="0" rIns="0" bIns="0" rtlCol="0" anchor="ctr">
            <a:normAutofit/>
          </a:bodyPr>
          <a:lstStyle/>
          <a:p>
            <a:pPr marL="0" indent="0" algn="l">
              <a:buNone/>
            </a:pPr>
            <a:r>
              <a:rPr lang="en-US" sz="1050" b="1" dirty="0">
                <a:solidFill>
                  <a:srgbClr val="101A2C"/>
                </a:solidFill>
                <a:latin typeface="Inter" pitchFamily="34" charset="0"/>
                <a:ea typeface="Inter" pitchFamily="34" charset="-122"/>
                <a:cs typeface="Inter" pitchFamily="34" charset="-120"/>
              </a:rPr>
              <a:t>Random Forest test R²</a:t>
            </a:r>
            <a:endParaRPr lang="en-US" sz="1050" dirty="0"/>
          </a:p>
        </p:txBody>
      </p:sp>
      <p:sp>
        <p:nvSpPr>
          <p:cNvPr id="21" name="Text 19"/>
          <p:cNvSpPr txBox="1"/>
          <p:nvPr/>
        </p:nvSpPr>
        <p:spPr>
          <a:xfrm>
            <a:off x="3182112" y="5074920"/>
            <a:ext cx="1170432" cy="384048"/>
          </a:xfrm>
          <a:prstGeom prst="rect">
            <a:avLst/>
          </a:prstGeom>
          <a:noFill/>
          <a:ln/>
        </p:spPr>
        <p:txBody>
          <a:bodyPr wrap="square" lIns="0" tIns="0" rIns="0" bIns="0" rtlCol="0" anchor="ctr">
            <a:normAutofit/>
          </a:bodyPr>
          <a:lstStyle/>
          <a:p>
            <a:pPr marL="0" indent="0" algn="l">
              <a:buNone/>
            </a:pPr>
            <a:r>
              <a:rPr lang="en-US" sz="2200" b="1" dirty="0">
                <a:solidFill>
                  <a:srgbClr val="087F7A"/>
                </a:solidFill>
                <a:latin typeface="Inter" pitchFamily="34" charset="0"/>
                <a:ea typeface="Inter" pitchFamily="34" charset="-122"/>
                <a:cs typeface="Inter" pitchFamily="34" charset="-120"/>
              </a:rPr>
              <a:t>0.47</a:t>
            </a:r>
            <a:endParaRPr lang="en-US" sz="2200" dirty="0"/>
          </a:p>
        </p:txBody>
      </p:sp>
      <p:sp>
        <p:nvSpPr>
          <p:cNvPr id="22" name="Text 20"/>
          <p:cNvSpPr txBox="1"/>
          <p:nvPr/>
        </p:nvSpPr>
        <p:spPr>
          <a:xfrm>
            <a:off x="932688" y="5504688"/>
            <a:ext cx="3474720" cy="219456"/>
          </a:xfrm>
          <a:prstGeom prst="rect">
            <a:avLst/>
          </a:prstGeom>
          <a:noFill/>
          <a:ln/>
        </p:spPr>
        <p:txBody>
          <a:bodyPr wrap="square" lIns="0" tIns="0" rIns="0" bIns="0" rtlCol="0" anchor="ctr">
            <a:normAutofit/>
          </a:bodyPr>
          <a:lstStyle/>
          <a:p>
            <a:pPr marL="0" indent="0" algn="l">
              <a:buNone/>
            </a:pPr>
            <a:r>
              <a:rPr lang="en-US" sz="1000" dirty="0">
                <a:solidFill>
                  <a:srgbClr val="65748B"/>
                </a:solidFill>
                <a:latin typeface="Inter" pitchFamily="34" charset="0"/>
                <a:ea typeface="Inter" pitchFamily="34" charset="-122"/>
                <a:cs typeface="Inter" pitchFamily="34" charset="-120"/>
              </a:rPr>
              <a:t>RMSE ≈ 10.1 days</a:t>
            </a:r>
            <a:endParaRPr lang="en-US" sz="1000" dirty="0"/>
          </a:p>
        </p:txBody>
      </p:sp>
      <p:sp>
        <p:nvSpPr>
          <p:cNvPr id="23" name="Shape 21"/>
          <p:cNvSpPr/>
          <p:nvPr/>
        </p:nvSpPr>
        <p:spPr>
          <a:xfrm>
            <a:off x="5779008" y="1490472"/>
            <a:ext cx="5760720" cy="3017520"/>
          </a:xfrm>
          <a:prstGeom prst="roundRect">
            <a:avLst>
              <a:gd name="adj" fmla="val 4242"/>
            </a:avLst>
          </a:prstGeom>
          <a:solidFill>
            <a:srgbClr val="FFFFFF"/>
          </a:solidFill>
          <a:ln w="9525">
            <a:solidFill>
              <a:srgbClr val="DDE4ED"/>
            </a:solidFill>
            <a:prstDash val="solid"/>
          </a:ln>
        </p:spPr>
      </p:sp>
      <p:sp>
        <p:nvSpPr>
          <p:cNvPr id="24" name="Text 22"/>
          <p:cNvSpPr txBox="1"/>
          <p:nvPr/>
        </p:nvSpPr>
        <p:spPr>
          <a:xfrm>
            <a:off x="6016752" y="1719072"/>
            <a:ext cx="5029200" cy="274320"/>
          </a:xfrm>
          <a:prstGeom prst="rect">
            <a:avLst/>
          </a:prstGeom>
          <a:noFill/>
          <a:ln/>
        </p:spPr>
        <p:txBody>
          <a:bodyPr wrap="square" lIns="0" tIns="0" rIns="0" bIns="0" rtlCol="0" anchor="ctr">
            <a:normAutofit/>
          </a:bodyPr>
          <a:lstStyle/>
          <a:p>
            <a:pPr marL="0" indent="0" algn="l">
              <a:buNone/>
            </a:pPr>
            <a:r>
              <a:rPr lang="en-US" sz="1450" b="1" dirty="0">
                <a:solidFill>
                  <a:srgbClr val="101A2C"/>
                </a:solidFill>
                <a:latin typeface="Inter" pitchFamily="34" charset="0"/>
                <a:ea typeface="Inter" pitchFamily="34" charset="-122"/>
                <a:cs typeface="Inter" pitchFamily="34" charset="-120"/>
              </a:rPr>
              <a:t>Random Forest: feature importance &amp; fit</a:t>
            </a:r>
            <a:endParaRPr lang="en-US" sz="1450" dirty="0"/>
          </a:p>
        </p:txBody>
      </p:sp>
      <p:pic>
        <p:nvPicPr>
          <p:cNvPr id="25" name="Image 0" descr="/mnt/data/results_only/figures/09_rf_importance_and_fit.png"/>
          <p:cNvPicPr>
            <a:picLocks noChangeAspect="1"/>
          </p:cNvPicPr>
          <p:nvPr/>
        </p:nvPicPr>
        <p:blipFill>
          <a:blip r:embed="rId3"/>
          <a:stretch>
            <a:fillRect/>
          </a:stretch>
        </p:blipFill>
        <p:spPr>
          <a:xfrm>
            <a:off x="5989320" y="2222126"/>
            <a:ext cx="5340096" cy="1810244"/>
          </a:xfrm>
          <a:prstGeom prst="rect">
            <a:avLst/>
          </a:prstGeom>
        </p:spPr>
      </p:pic>
      <p:sp>
        <p:nvSpPr>
          <p:cNvPr id="26" name="Shape 23"/>
          <p:cNvSpPr/>
          <p:nvPr/>
        </p:nvSpPr>
        <p:spPr>
          <a:xfrm>
            <a:off x="5779008" y="4690872"/>
            <a:ext cx="5760720" cy="1353312"/>
          </a:xfrm>
          <a:prstGeom prst="roundRect">
            <a:avLst>
              <a:gd name="adj" fmla="val 9459"/>
            </a:avLst>
          </a:prstGeom>
          <a:solidFill>
            <a:srgbClr val="DDF5F1"/>
          </a:solidFill>
          <a:ln w="9525">
            <a:solidFill>
              <a:srgbClr val="DDF5F1"/>
            </a:solidFill>
            <a:prstDash val="solid"/>
          </a:ln>
        </p:spPr>
      </p:sp>
      <p:sp>
        <p:nvSpPr>
          <p:cNvPr id="27" name="Text 24"/>
          <p:cNvSpPr txBox="1"/>
          <p:nvPr/>
        </p:nvSpPr>
        <p:spPr>
          <a:xfrm>
            <a:off x="6053328" y="4901184"/>
            <a:ext cx="2148840" cy="228600"/>
          </a:xfrm>
          <a:prstGeom prst="rect">
            <a:avLst/>
          </a:prstGeom>
          <a:noFill/>
          <a:ln/>
        </p:spPr>
        <p:txBody>
          <a:bodyPr wrap="square" lIns="0" tIns="0" rIns="0" bIns="0" rtlCol="0" anchor="ctr">
            <a:normAutofit/>
          </a:bodyPr>
          <a:lstStyle/>
          <a:p>
            <a:pPr marL="0" indent="0" algn="l">
              <a:buNone/>
            </a:pPr>
            <a:r>
              <a:rPr lang="en-US" sz="1020" b="1" dirty="0">
                <a:solidFill>
                  <a:srgbClr val="087F7A"/>
                </a:solidFill>
                <a:latin typeface="Inter" pitchFamily="34" charset="0"/>
                <a:ea typeface="Inter" pitchFamily="34" charset="-122"/>
                <a:cs typeface="Inter" pitchFamily="34" charset="-120"/>
              </a:rPr>
              <a:t>Most influential input</a:t>
            </a:r>
            <a:endParaRPr lang="en-US" sz="1020" dirty="0"/>
          </a:p>
        </p:txBody>
      </p:sp>
      <p:sp>
        <p:nvSpPr>
          <p:cNvPr id="28" name="Text 25"/>
          <p:cNvSpPr txBox="1"/>
          <p:nvPr/>
        </p:nvSpPr>
        <p:spPr>
          <a:xfrm>
            <a:off x="6053328" y="5202936"/>
            <a:ext cx="3218688" cy="283464"/>
          </a:xfrm>
          <a:prstGeom prst="rect">
            <a:avLst/>
          </a:prstGeom>
          <a:noFill/>
          <a:ln/>
        </p:spPr>
        <p:txBody>
          <a:bodyPr wrap="square" lIns="0" tIns="0" rIns="0" bIns="0" rtlCol="0" anchor="ctr">
            <a:normAutofit/>
          </a:bodyPr>
          <a:lstStyle/>
          <a:p>
            <a:pPr marL="0" indent="0" algn="l">
              <a:buNone/>
            </a:pPr>
            <a:r>
              <a:rPr lang="en-US" sz="1550" b="1" dirty="0">
                <a:solidFill>
                  <a:srgbClr val="101A2C"/>
                </a:solidFill>
                <a:latin typeface="Inter" pitchFamily="34" charset="0"/>
                <a:ea typeface="Inter" pitchFamily="34" charset="-122"/>
                <a:cs typeface="Inter" pitchFamily="34" charset="-120"/>
              </a:rPr>
              <a:t>30-day earthquake rate</a:t>
            </a:r>
            <a:endParaRPr lang="en-US" sz="1550" dirty="0"/>
          </a:p>
        </p:txBody>
      </p:sp>
      <p:sp>
        <p:nvSpPr>
          <p:cNvPr id="29" name="Text 26"/>
          <p:cNvSpPr txBox="1"/>
          <p:nvPr/>
        </p:nvSpPr>
        <p:spPr>
          <a:xfrm>
            <a:off x="9235440" y="5230368"/>
            <a:ext cx="1920240" cy="256032"/>
          </a:xfrm>
          <a:prstGeom prst="rect">
            <a:avLst/>
          </a:prstGeom>
          <a:noFill/>
          <a:ln/>
        </p:spPr>
        <p:txBody>
          <a:bodyPr wrap="square" lIns="0" tIns="0" rIns="0" bIns="0" rtlCol="0" anchor="ctr">
            <a:normAutofit/>
          </a:bodyPr>
          <a:lstStyle/>
          <a:p>
            <a:pPr marL="0" indent="0" algn="r">
              <a:buNone/>
            </a:pPr>
            <a:r>
              <a:rPr lang="en-US" sz="1100" b="1" dirty="0">
                <a:solidFill>
                  <a:srgbClr val="087F7A"/>
                </a:solidFill>
                <a:latin typeface="Inter" pitchFamily="34" charset="0"/>
                <a:ea typeface="Inter" pitchFamily="34" charset="-122"/>
                <a:cs typeface="Inter" pitchFamily="34" charset="-120"/>
              </a:rPr>
              <a:t>41% feature importance</a:t>
            </a:r>
            <a:endParaRPr lang="en-US" sz="1100" dirty="0"/>
          </a:p>
        </p:txBody>
      </p:sp>
      <p:sp>
        <p:nvSpPr>
          <p:cNvPr id="30" name="Shape 27"/>
          <p:cNvSpPr/>
          <p:nvPr/>
        </p:nvSpPr>
        <p:spPr>
          <a:xfrm>
            <a:off x="621792" y="6419088"/>
            <a:ext cx="10945368" cy="0"/>
          </a:xfrm>
          <a:prstGeom prst="line">
            <a:avLst/>
          </a:prstGeom>
          <a:noFill/>
          <a:ln w="8255">
            <a:solidFill>
              <a:srgbClr val="DDE4ED"/>
            </a:solidFill>
            <a:prstDash val="solid"/>
            <a:headEnd type="none"/>
            <a:tailEnd type="none"/>
          </a:ln>
        </p:spPr>
      </p:sp>
      <p:sp>
        <p:nvSpPr>
          <p:cNvPr id="31" name="Text 28"/>
          <p:cNvSpPr txBox="1"/>
          <p:nvPr/>
        </p:nvSpPr>
        <p:spPr>
          <a:xfrm>
            <a:off x="640080" y="6473952"/>
            <a:ext cx="9966960" cy="164592"/>
          </a:xfrm>
          <a:prstGeom prst="rect">
            <a:avLst/>
          </a:prstGeom>
          <a:noFill/>
          <a:ln/>
        </p:spPr>
        <p:txBody>
          <a:bodyPr wrap="square" lIns="0" tIns="0" rIns="0" bIns="0" rtlCol="0" anchor="ctr">
            <a:normAutofit/>
          </a:bodyPr>
          <a:lstStyle/>
          <a:p>
            <a:pPr marL="0" indent="0" algn="l">
              <a:buNone/>
            </a:pPr>
            <a:r>
              <a:rPr lang="en-US" sz="740" dirty="0">
                <a:solidFill>
                  <a:srgbClr val="8A97AA"/>
                </a:solidFill>
                <a:latin typeface="Inter" pitchFamily="34" charset="0"/>
                <a:ea typeface="Inter" pitchFamily="34" charset="-122"/>
                <a:cs typeface="Inter" pitchFamily="34" charset="-120"/>
              </a:rPr>
              <a:t>Source: notebook_results.zip / RESULTS.md; RMSE converted from standardized target to days</a:t>
            </a:r>
            <a:endParaRPr lang="en-US" sz="740" dirty="0"/>
          </a:p>
        </p:txBody>
      </p:sp>
      <p:sp>
        <p:nvSpPr>
          <p:cNvPr id="32" name="Text 29"/>
          <p:cNvSpPr txBox="1"/>
          <p:nvPr/>
        </p:nvSpPr>
        <p:spPr>
          <a:xfrm>
            <a:off x="11109960" y="6455664"/>
            <a:ext cx="438912" cy="182880"/>
          </a:xfrm>
          <a:prstGeom prst="rect">
            <a:avLst/>
          </a:prstGeom>
          <a:noFill/>
          <a:ln/>
        </p:spPr>
        <p:txBody>
          <a:bodyPr wrap="square" lIns="0" tIns="0" rIns="0" bIns="0" rtlCol="0" anchor="ctr">
            <a:normAutofit/>
          </a:bodyPr>
          <a:lstStyle/>
          <a:p>
            <a:pPr marL="0" indent="0" algn="r">
              <a:buNone/>
            </a:pPr>
            <a:r>
              <a:rPr lang="en-US" sz="850" b="1" dirty="0">
                <a:solidFill>
                  <a:srgbClr val="65748B"/>
                </a:solidFill>
                <a:latin typeface="Inter" pitchFamily="34" charset="0"/>
                <a:ea typeface="Inter" pitchFamily="34" charset="-122"/>
                <a:cs typeface="Inter"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21792" y="320040"/>
            <a:ext cx="5303520" cy="201168"/>
          </a:xfrm>
          <a:prstGeom prst="rect">
            <a:avLst/>
          </a:prstGeom>
          <a:noFill/>
          <a:ln/>
        </p:spPr>
        <p:txBody>
          <a:bodyPr wrap="square" lIns="0" tIns="0" rIns="0" bIns="0" rtlCol="0" anchor="ctr">
            <a:normAutofit/>
          </a:bodyPr>
          <a:lstStyle/>
          <a:p>
            <a:pPr marL="0" indent="0" algn="l">
              <a:buNone/>
            </a:pPr>
            <a:r>
              <a:rPr lang="en-US" sz="900" b="1" kern="0" spc="130" dirty="0">
                <a:solidFill>
                  <a:srgbClr val="087F7A"/>
                </a:solidFill>
                <a:latin typeface="Inter" pitchFamily="34" charset="0"/>
                <a:ea typeface="Inter" pitchFamily="34" charset="-122"/>
                <a:cs typeface="Inter" pitchFamily="34" charset="-120"/>
              </a:rPr>
              <a:t>06 / ROBUSTNESS CHECK</a:t>
            </a:r>
            <a:endParaRPr lang="en-US" sz="900" dirty="0"/>
          </a:p>
        </p:txBody>
      </p:sp>
      <p:sp>
        <p:nvSpPr>
          <p:cNvPr id="3" name="Text 1"/>
          <p:cNvSpPr txBox="1"/>
          <p:nvPr/>
        </p:nvSpPr>
        <p:spPr>
          <a:xfrm>
            <a:off x="621792" y="576072"/>
            <a:ext cx="10972800" cy="429768"/>
          </a:xfrm>
          <a:prstGeom prst="rect">
            <a:avLst/>
          </a:prstGeom>
          <a:noFill/>
          <a:ln/>
        </p:spPr>
        <p:txBody>
          <a:bodyPr wrap="square" lIns="0" tIns="0" rIns="0" bIns="0" rtlCol="0" anchor="ctr">
            <a:normAutofit/>
          </a:bodyPr>
          <a:lstStyle/>
          <a:p>
            <a:pPr marL="0" indent="0" algn="l">
              <a:buNone/>
            </a:pPr>
            <a:r>
              <a:rPr lang="en-US" sz="2500" b="1" dirty="0">
                <a:solidFill>
                  <a:srgbClr val="101A2C"/>
                </a:solidFill>
                <a:latin typeface="Inter" pitchFamily="34" charset="0"/>
                <a:ea typeface="Inter" pitchFamily="34" charset="-122"/>
                <a:cs typeface="Inter" pitchFamily="34" charset="-120"/>
              </a:rPr>
              <a:t>Performance drops when whole months are kept together</a:t>
            </a:r>
            <a:endParaRPr lang="en-US" sz="2500" dirty="0"/>
          </a:p>
        </p:txBody>
      </p:sp>
      <p:sp>
        <p:nvSpPr>
          <p:cNvPr id="4" name="Text 2"/>
          <p:cNvSpPr txBox="1"/>
          <p:nvPr/>
        </p:nvSpPr>
        <p:spPr>
          <a:xfrm>
            <a:off x="640080" y="1033272"/>
            <a:ext cx="10881360" cy="256032"/>
          </a:xfrm>
          <a:prstGeom prst="rect">
            <a:avLst/>
          </a:prstGeom>
          <a:noFill/>
          <a:ln/>
        </p:spPr>
        <p:txBody>
          <a:bodyPr wrap="square" lIns="0" tIns="0" rIns="0" bIns="0" rtlCol="0" anchor="ctr">
            <a:normAutofit/>
          </a:bodyPr>
          <a:lstStyle/>
          <a:p>
            <a:pPr marL="0" indent="0" algn="l">
              <a:buNone/>
            </a:pPr>
            <a:r>
              <a:rPr lang="en-US" sz="1050" dirty="0">
                <a:solidFill>
                  <a:srgbClr val="65748B"/>
                </a:solidFill>
                <a:latin typeface="Inter" pitchFamily="34" charset="0"/>
                <a:ea typeface="Inter" pitchFamily="34" charset="-122"/>
                <a:cs typeface="Inter" pitchFamily="34" charset="-120"/>
              </a:rPr>
              <a:t>This is the most important limitation in the results: a random split may make the task look easier than it is.</a:t>
            </a:r>
            <a:endParaRPr lang="en-US" sz="1050" dirty="0"/>
          </a:p>
        </p:txBody>
      </p:sp>
      <p:sp>
        <p:nvSpPr>
          <p:cNvPr id="5" name="Shape 3"/>
          <p:cNvSpPr/>
          <p:nvPr/>
        </p:nvSpPr>
        <p:spPr>
          <a:xfrm>
            <a:off x="658368" y="1517904"/>
            <a:ext cx="6547104" cy="4526280"/>
          </a:xfrm>
          <a:prstGeom prst="roundRect">
            <a:avLst>
              <a:gd name="adj" fmla="val 2828"/>
            </a:avLst>
          </a:prstGeom>
          <a:solidFill>
            <a:srgbClr val="FFFFFF"/>
          </a:solidFill>
          <a:ln w="9525">
            <a:solidFill>
              <a:srgbClr val="DDE4ED"/>
            </a:solidFill>
            <a:prstDash val="solid"/>
          </a:ln>
        </p:spPr>
      </p:sp>
      <p:sp>
        <p:nvSpPr>
          <p:cNvPr id="6" name="Text 4"/>
          <p:cNvSpPr txBox="1"/>
          <p:nvPr/>
        </p:nvSpPr>
        <p:spPr>
          <a:xfrm>
            <a:off x="932688" y="1746504"/>
            <a:ext cx="5486400" cy="274320"/>
          </a:xfrm>
          <a:prstGeom prst="rect">
            <a:avLst/>
          </a:prstGeom>
          <a:noFill/>
          <a:ln/>
        </p:spPr>
        <p:txBody>
          <a:bodyPr wrap="square" lIns="0" tIns="0" rIns="0" bIns="0" rtlCol="0" anchor="ctr">
            <a:normAutofit/>
          </a:bodyPr>
          <a:lstStyle/>
          <a:p>
            <a:pPr marL="0" indent="0" algn="l">
              <a:buNone/>
            </a:pPr>
            <a:r>
              <a:rPr lang="en-US" sz="1500" b="1" dirty="0">
                <a:solidFill>
                  <a:srgbClr val="101A2C"/>
                </a:solidFill>
                <a:latin typeface="Inter" pitchFamily="34" charset="0"/>
                <a:ea typeface="Inter" pitchFamily="34" charset="-122"/>
                <a:cs typeface="Inter" pitchFamily="34" charset="-120"/>
              </a:rPr>
              <a:t>Random folds vs. calendar-month grouped folds</a:t>
            </a:r>
            <a:endParaRPr lang="en-US" sz="1500" dirty="0"/>
          </a:p>
        </p:txBody>
      </p:sp>
      <p:sp>
        <p:nvSpPr>
          <p:cNvPr id="7" name="Text 5"/>
          <p:cNvSpPr txBox="1"/>
          <p:nvPr/>
        </p:nvSpPr>
        <p:spPr>
          <a:xfrm>
            <a:off x="932688" y="2313432"/>
            <a:ext cx="941832" cy="228600"/>
          </a:xfrm>
          <a:prstGeom prst="rect">
            <a:avLst/>
          </a:prstGeom>
          <a:noFill/>
          <a:ln/>
        </p:spPr>
        <p:txBody>
          <a:bodyPr wrap="square" lIns="0" tIns="0" rIns="0" bIns="0" rtlCol="0" anchor="ctr">
            <a:normAutofit/>
          </a:bodyPr>
          <a:lstStyle/>
          <a:p>
            <a:pPr marL="0" indent="0" algn="l">
              <a:buNone/>
            </a:pPr>
            <a:r>
              <a:rPr lang="en-US" sz="1100" b="1" dirty="0">
                <a:solidFill>
                  <a:srgbClr val="253246"/>
                </a:solidFill>
                <a:latin typeface="Inter" pitchFamily="34" charset="0"/>
                <a:ea typeface="Inter" pitchFamily="34" charset="-122"/>
                <a:cs typeface="Inter" pitchFamily="34" charset="-120"/>
              </a:rPr>
              <a:t>AUROC</a:t>
            </a:r>
            <a:endParaRPr lang="en-US" sz="1100" dirty="0"/>
          </a:p>
        </p:txBody>
      </p:sp>
      <p:sp>
        <p:nvSpPr>
          <p:cNvPr id="8" name="Text 6"/>
          <p:cNvSpPr txBox="1"/>
          <p:nvPr/>
        </p:nvSpPr>
        <p:spPr>
          <a:xfrm>
            <a:off x="1993392" y="2304288"/>
            <a:ext cx="658368" cy="182880"/>
          </a:xfrm>
          <a:prstGeom prst="rect">
            <a:avLst/>
          </a:prstGeom>
          <a:noFill/>
          <a:ln/>
        </p:spPr>
        <p:txBody>
          <a:bodyPr wrap="square" lIns="0" tIns="0" rIns="0" bIns="0" rtlCol="0" anchor="ctr">
            <a:normAutofit/>
          </a:bodyPr>
          <a:lstStyle/>
          <a:p>
            <a:pPr marL="0" indent="0" algn="l">
              <a:buNone/>
            </a:pPr>
            <a:r>
              <a:rPr lang="en-US" sz="850" dirty="0">
                <a:solidFill>
                  <a:srgbClr val="65748B"/>
                </a:solidFill>
                <a:latin typeface="Inter" pitchFamily="34" charset="0"/>
                <a:ea typeface="Inter" pitchFamily="34" charset="-122"/>
                <a:cs typeface="Inter" pitchFamily="34" charset="-120"/>
              </a:rPr>
              <a:t>Random</a:t>
            </a:r>
            <a:endParaRPr lang="en-US" sz="850" dirty="0"/>
          </a:p>
        </p:txBody>
      </p:sp>
      <p:sp>
        <p:nvSpPr>
          <p:cNvPr id="9" name="Shape 7"/>
          <p:cNvSpPr/>
          <p:nvPr/>
        </p:nvSpPr>
        <p:spPr>
          <a:xfrm>
            <a:off x="2670048" y="2322576"/>
            <a:ext cx="2743200" cy="201168"/>
          </a:xfrm>
          <a:prstGeom prst="rect">
            <a:avLst/>
          </a:prstGeom>
          <a:solidFill>
            <a:srgbClr val="E9EEF4"/>
          </a:solidFill>
          <a:ln w="1270">
            <a:solidFill>
              <a:srgbClr val="E9EEF4">
                <a:alpha val="0"/>
              </a:srgbClr>
            </a:solidFill>
            <a:prstDash val="solid"/>
          </a:ln>
        </p:spPr>
      </p:sp>
      <p:sp>
        <p:nvSpPr>
          <p:cNvPr id="10" name="Shape 8"/>
          <p:cNvSpPr/>
          <p:nvPr/>
        </p:nvSpPr>
        <p:spPr>
          <a:xfrm>
            <a:off x="2670048" y="2322576"/>
            <a:ext cx="2276856" cy="201168"/>
          </a:xfrm>
          <a:prstGeom prst="rect">
            <a:avLst/>
          </a:prstGeom>
          <a:solidFill>
            <a:srgbClr val="16A6A1"/>
          </a:solidFill>
          <a:ln w="1270">
            <a:solidFill>
              <a:srgbClr val="16A6A1">
                <a:alpha val="0"/>
              </a:srgbClr>
            </a:solidFill>
            <a:prstDash val="solid"/>
          </a:ln>
        </p:spPr>
      </p:sp>
      <p:sp>
        <p:nvSpPr>
          <p:cNvPr id="11" name="Text 9"/>
          <p:cNvSpPr txBox="1"/>
          <p:nvPr/>
        </p:nvSpPr>
        <p:spPr>
          <a:xfrm>
            <a:off x="5468112" y="2295144"/>
            <a:ext cx="438912" cy="228600"/>
          </a:xfrm>
          <a:prstGeom prst="rect">
            <a:avLst/>
          </a:prstGeom>
          <a:noFill/>
          <a:ln/>
        </p:spPr>
        <p:txBody>
          <a:bodyPr wrap="square" lIns="0" tIns="0" rIns="0" bIns="0" rtlCol="0" anchor="ctr">
            <a:normAutofit/>
          </a:bodyPr>
          <a:lstStyle/>
          <a:p>
            <a:pPr marL="0" indent="0" algn="r">
              <a:buNone/>
            </a:pPr>
            <a:r>
              <a:rPr lang="en-US" sz="1030" b="1" dirty="0">
                <a:solidFill>
                  <a:srgbClr val="087F7A"/>
                </a:solidFill>
                <a:latin typeface="Inter" pitchFamily="34" charset="0"/>
                <a:ea typeface="Inter" pitchFamily="34" charset="-122"/>
                <a:cs typeface="Inter" pitchFamily="34" charset="-120"/>
              </a:rPr>
              <a:t>0.83</a:t>
            </a:r>
            <a:endParaRPr lang="en-US" sz="1030" dirty="0"/>
          </a:p>
        </p:txBody>
      </p:sp>
      <p:sp>
        <p:nvSpPr>
          <p:cNvPr id="12" name="Text 10"/>
          <p:cNvSpPr txBox="1"/>
          <p:nvPr/>
        </p:nvSpPr>
        <p:spPr>
          <a:xfrm>
            <a:off x="1993392" y="2651760"/>
            <a:ext cx="658368" cy="182880"/>
          </a:xfrm>
          <a:prstGeom prst="rect">
            <a:avLst/>
          </a:prstGeom>
          <a:noFill/>
          <a:ln/>
        </p:spPr>
        <p:txBody>
          <a:bodyPr wrap="square" lIns="0" tIns="0" rIns="0" bIns="0" rtlCol="0" anchor="ctr">
            <a:normAutofit/>
          </a:bodyPr>
          <a:lstStyle/>
          <a:p>
            <a:pPr marL="0" indent="0" algn="l">
              <a:buNone/>
            </a:pPr>
            <a:r>
              <a:rPr lang="en-US" sz="850" dirty="0">
                <a:solidFill>
                  <a:srgbClr val="65748B"/>
                </a:solidFill>
                <a:latin typeface="Inter" pitchFamily="34" charset="0"/>
                <a:ea typeface="Inter" pitchFamily="34" charset="-122"/>
                <a:cs typeface="Inter" pitchFamily="34" charset="-120"/>
              </a:rPr>
              <a:t>Grouped</a:t>
            </a:r>
            <a:endParaRPr lang="en-US" sz="850" dirty="0"/>
          </a:p>
        </p:txBody>
      </p:sp>
      <p:sp>
        <p:nvSpPr>
          <p:cNvPr id="13" name="Shape 11"/>
          <p:cNvSpPr/>
          <p:nvPr/>
        </p:nvSpPr>
        <p:spPr>
          <a:xfrm>
            <a:off x="2670048" y="2660904"/>
            <a:ext cx="2743200" cy="201168"/>
          </a:xfrm>
          <a:prstGeom prst="rect">
            <a:avLst/>
          </a:prstGeom>
          <a:solidFill>
            <a:srgbClr val="E9EEF4"/>
          </a:solidFill>
          <a:ln w="1270">
            <a:solidFill>
              <a:srgbClr val="E9EEF4">
                <a:alpha val="0"/>
              </a:srgbClr>
            </a:solidFill>
            <a:prstDash val="solid"/>
          </a:ln>
        </p:spPr>
      </p:sp>
      <p:sp>
        <p:nvSpPr>
          <p:cNvPr id="14" name="Shape 12"/>
          <p:cNvSpPr/>
          <p:nvPr/>
        </p:nvSpPr>
        <p:spPr>
          <a:xfrm>
            <a:off x="2670048" y="2660904"/>
            <a:ext cx="1591056" cy="201168"/>
          </a:xfrm>
          <a:prstGeom prst="rect">
            <a:avLst/>
          </a:prstGeom>
          <a:solidFill>
            <a:srgbClr val="EA6B5B"/>
          </a:solidFill>
          <a:ln w="1270">
            <a:solidFill>
              <a:srgbClr val="EA6B5B">
                <a:alpha val="0"/>
              </a:srgbClr>
            </a:solidFill>
            <a:prstDash val="solid"/>
          </a:ln>
        </p:spPr>
      </p:sp>
      <p:sp>
        <p:nvSpPr>
          <p:cNvPr id="15" name="Text 13"/>
          <p:cNvSpPr txBox="1"/>
          <p:nvPr/>
        </p:nvSpPr>
        <p:spPr>
          <a:xfrm>
            <a:off x="5468112" y="2633472"/>
            <a:ext cx="438912" cy="228600"/>
          </a:xfrm>
          <a:prstGeom prst="rect">
            <a:avLst/>
          </a:prstGeom>
          <a:noFill/>
          <a:ln/>
        </p:spPr>
        <p:txBody>
          <a:bodyPr wrap="square" lIns="0" tIns="0" rIns="0" bIns="0" rtlCol="0" anchor="ctr">
            <a:normAutofit/>
          </a:bodyPr>
          <a:lstStyle/>
          <a:p>
            <a:pPr marL="0" indent="0" algn="r">
              <a:buNone/>
            </a:pPr>
            <a:r>
              <a:rPr lang="en-US" sz="1030" b="1" dirty="0">
                <a:solidFill>
                  <a:srgbClr val="EA6B5B"/>
                </a:solidFill>
                <a:latin typeface="Inter" pitchFamily="34" charset="0"/>
                <a:ea typeface="Inter" pitchFamily="34" charset="-122"/>
                <a:cs typeface="Inter" pitchFamily="34" charset="-120"/>
              </a:rPr>
              <a:t>0.58</a:t>
            </a:r>
            <a:endParaRPr lang="en-US" sz="1030" dirty="0"/>
          </a:p>
        </p:txBody>
      </p:sp>
      <p:sp>
        <p:nvSpPr>
          <p:cNvPr id="16" name="Text 14"/>
          <p:cNvSpPr txBox="1"/>
          <p:nvPr/>
        </p:nvSpPr>
        <p:spPr>
          <a:xfrm>
            <a:off x="6035040" y="2404872"/>
            <a:ext cx="914400" cy="384048"/>
          </a:xfrm>
          <a:prstGeom prst="rect">
            <a:avLst/>
          </a:prstGeom>
          <a:noFill/>
          <a:ln/>
        </p:spPr>
        <p:txBody>
          <a:bodyPr wrap="square" lIns="0" tIns="0" rIns="0" bIns="0" rtlCol="0" anchor="ctr">
            <a:normAutofit/>
          </a:bodyPr>
          <a:lstStyle/>
          <a:p>
            <a:pPr marL="0" indent="0" algn="l">
              <a:buNone/>
            </a:pPr>
            <a:r>
              <a:rPr lang="en-US" sz="830" dirty="0">
                <a:solidFill>
                  <a:srgbClr val="65748B"/>
                </a:solidFill>
                <a:latin typeface="Inter" pitchFamily="34" charset="0"/>
                <a:ea typeface="Inter" pitchFamily="34" charset="-122"/>
                <a:cs typeface="Inter" pitchFamily="34" charset="-120"/>
              </a:rPr>
              <a:t>Ranking quality</a:t>
            </a:r>
            <a:endParaRPr lang="en-US" sz="830" dirty="0"/>
          </a:p>
        </p:txBody>
      </p:sp>
      <p:sp>
        <p:nvSpPr>
          <p:cNvPr id="17" name="Text 15"/>
          <p:cNvSpPr txBox="1"/>
          <p:nvPr/>
        </p:nvSpPr>
        <p:spPr>
          <a:xfrm>
            <a:off x="932688" y="3337560"/>
            <a:ext cx="941832" cy="228600"/>
          </a:xfrm>
          <a:prstGeom prst="rect">
            <a:avLst/>
          </a:prstGeom>
          <a:noFill/>
          <a:ln/>
        </p:spPr>
        <p:txBody>
          <a:bodyPr wrap="square" lIns="0" tIns="0" rIns="0" bIns="0" rtlCol="0" anchor="ctr">
            <a:normAutofit/>
          </a:bodyPr>
          <a:lstStyle/>
          <a:p>
            <a:pPr marL="0" indent="0" algn="l">
              <a:buNone/>
            </a:pPr>
            <a:r>
              <a:rPr lang="en-US" sz="1100" b="1" dirty="0">
                <a:solidFill>
                  <a:srgbClr val="253246"/>
                </a:solidFill>
                <a:latin typeface="Inter" pitchFamily="34" charset="0"/>
                <a:ea typeface="Inter" pitchFamily="34" charset="-122"/>
                <a:cs typeface="Inter" pitchFamily="34" charset="-120"/>
              </a:rPr>
              <a:t>Kappa</a:t>
            </a:r>
            <a:endParaRPr lang="en-US" sz="1100" dirty="0"/>
          </a:p>
        </p:txBody>
      </p:sp>
      <p:sp>
        <p:nvSpPr>
          <p:cNvPr id="18" name="Text 16"/>
          <p:cNvSpPr txBox="1"/>
          <p:nvPr/>
        </p:nvSpPr>
        <p:spPr>
          <a:xfrm>
            <a:off x="1993392" y="3328416"/>
            <a:ext cx="658368" cy="182880"/>
          </a:xfrm>
          <a:prstGeom prst="rect">
            <a:avLst/>
          </a:prstGeom>
          <a:noFill/>
          <a:ln/>
        </p:spPr>
        <p:txBody>
          <a:bodyPr wrap="square" lIns="0" tIns="0" rIns="0" bIns="0" rtlCol="0" anchor="ctr">
            <a:normAutofit/>
          </a:bodyPr>
          <a:lstStyle/>
          <a:p>
            <a:pPr marL="0" indent="0" algn="l">
              <a:buNone/>
            </a:pPr>
            <a:r>
              <a:rPr lang="en-US" sz="850" dirty="0">
                <a:solidFill>
                  <a:srgbClr val="65748B"/>
                </a:solidFill>
                <a:latin typeface="Inter" pitchFamily="34" charset="0"/>
                <a:ea typeface="Inter" pitchFamily="34" charset="-122"/>
                <a:cs typeface="Inter" pitchFamily="34" charset="-120"/>
              </a:rPr>
              <a:t>Random</a:t>
            </a:r>
            <a:endParaRPr lang="en-US" sz="850" dirty="0"/>
          </a:p>
        </p:txBody>
      </p:sp>
      <p:sp>
        <p:nvSpPr>
          <p:cNvPr id="19" name="Shape 17"/>
          <p:cNvSpPr/>
          <p:nvPr/>
        </p:nvSpPr>
        <p:spPr>
          <a:xfrm>
            <a:off x="2670048" y="3346704"/>
            <a:ext cx="2743200" cy="201168"/>
          </a:xfrm>
          <a:prstGeom prst="rect">
            <a:avLst/>
          </a:prstGeom>
          <a:solidFill>
            <a:srgbClr val="E9EEF4"/>
          </a:solidFill>
          <a:ln w="1270">
            <a:solidFill>
              <a:srgbClr val="E9EEF4">
                <a:alpha val="0"/>
              </a:srgbClr>
            </a:solidFill>
            <a:prstDash val="solid"/>
          </a:ln>
        </p:spPr>
      </p:sp>
      <p:sp>
        <p:nvSpPr>
          <p:cNvPr id="20" name="Shape 18"/>
          <p:cNvSpPr/>
          <p:nvPr/>
        </p:nvSpPr>
        <p:spPr>
          <a:xfrm>
            <a:off x="2670048" y="3346704"/>
            <a:ext cx="2523744" cy="201168"/>
          </a:xfrm>
          <a:prstGeom prst="rect">
            <a:avLst/>
          </a:prstGeom>
          <a:solidFill>
            <a:srgbClr val="16A6A1"/>
          </a:solidFill>
          <a:ln w="1270">
            <a:solidFill>
              <a:srgbClr val="16A6A1">
                <a:alpha val="0"/>
              </a:srgbClr>
            </a:solidFill>
            <a:prstDash val="solid"/>
          </a:ln>
        </p:spPr>
      </p:sp>
      <p:sp>
        <p:nvSpPr>
          <p:cNvPr id="21" name="Text 19"/>
          <p:cNvSpPr txBox="1"/>
          <p:nvPr/>
        </p:nvSpPr>
        <p:spPr>
          <a:xfrm>
            <a:off x="5468112" y="3319272"/>
            <a:ext cx="438912" cy="228600"/>
          </a:xfrm>
          <a:prstGeom prst="rect">
            <a:avLst/>
          </a:prstGeom>
          <a:noFill/>
          <a:ln/>
        </p:spPr>
        <p:txBody>
          <a:bodyPr wrap="square" lIns="0" tIns="0" rIns="0" bIns="0" rtlCol="0" anchor="ctr">
            <a:normAutofit/>
          </a:bodyPr>
          <a:lstStyle/>
          <a:p>
            <a:pPr marL="0" indent="0" algn="r">
              <a:buNone/>
            </a:pPr>
            <a:r>
              <a:rPr lang="en-US" sz="1030" b="1" dirty="0">
                <a:solidFill>
                  <a:srgbClr val="087F7A"/>
                </a:solidFill>
                <a:latin typeface="Inter" pitchFamily="34" charset="0"/>
                <a:ea typeface="Inter" pitchFamily="34" charset="-122"/>
                <a:cs typeface="Inter" pitchFamily="34" charset="-120"/>
              </a:rPr>
              <a:t>0.46</a:t>
            </a:r>
            <a:endParaRPr lang="en-US" sz="1030" dirty="0"/>
          </a:p>
        </p:txBody>
      </p:sp>
      <p:sp>
        <p:nvSpPr>
          <p:cNvPr id="22" name="Text 20"/>
          <p:cNvSpPr txBox="1"/>
          <p:nvPr/>
        </p:nvSpPr>
        <p:spPr>
          <a:xfrm>
            <a:off x="1993392" y="3675888"/>
            <a:ext cx="658368" cy="182880"/>
          </a:xfrm>
          <a:prstGeom prst="rect">
            <a:avLst/>
          </a:prstGeom>
          <a:noFill/>
          <a:ln/>
        </p:spPr>
        <p:txBody>
          <a:bodyPr wrap="square" lIns="0" tIns="0" rIns="0" bIns="0" rtlCol="0" anchor="ctr">
            <a:normAutofit/>
          </a:bodyPr>
          <a:lstStyle/>
          <a:p>
            <a:pPr marL="0" indent="0" algn="l">
              <a:buNone/>
            </a:pPr>
            <a:r>
              <a:rPr lang="en-US" sz="850" dirty="0">
                <a:solidFill>
                  <a:srgbClr val="65748B"/>
                </a:solidFill>
                <a:latin typeface="Inter" pitchFamily="34" charset="0"/>
                <a:ea typeface="Inter" pitchFamily="34" charset="-122"/>
                <a:cs typeface="Inter" pitchFamily="34" charset="-120"/>
              </a:rPr>
              <a:t>Grouped</a:t>
            </a:r>
            <a:endParaRPr lang="en-US" sz="850" dirty="0"/>
          </a:p>
        </p:txBody>
      </p:sp>
      <p:sp>
        <p:nvSpPr>
          <p:cNvPr id="23" name="Shape 21"/>
          <p:cNvSpPr/>
          <p:nvPr/>
        </p:nvSpPr>
        <p:spPr>
          <a:xfrm>
            <a:off x="2670048" y="3685032"/>
            <a:ext cx="2743200" cy="201168"/>
          </a:xfrm>
          <a:prstGeom prst="rect">
            <a:avLst/>
          </a:prstGeom>
          <a:solidFill>
            <a:srgbClr val="E9EEF4"/>
          </a:solidFill>
          <a:ln w="1270">
            <a:solidFill>
              <a:srgbClr val="E9EEF4">
                <a:alpha val="0"/>
              </a:srgbClr>
            </a:solidFill>
            <a:prstDash val="solid"/>
          </a:ln>
        </p:spPr>
      </p:sp>
      <p:sp>
        <p:nvSpPr>
          <p:cNvPr id="24" name="Shape 22"/>
          <p:cNvSpPr/>
          <p:nvPr/>
        </p:nvSpPr>
        <p:spPr>
          <a:xfrm>
            <a:off x="2670048" y="3685032"/>
            <a:ext cx="164592" cy="201168"/>
          </a:xfrm>
          <a:prstGeom prst="rect">
            <a:avLst/>
          </a:prstGeom>
          <a:solidFill>
            <a:srgbClr val="EA6B5B"/>
          </a:solidFill>
          <a:ln w="1270">
            <a:solidFill>
              <a:srgbClr val="EA6B5B">
                <a:alpha val="0"/>
              </a:srgbClr>
            </a:solidFill>
            <a:prstDash val="solid"/>
          </a:ln>
        </p:spPr>
      </p:sp>
      <p:sp>
        <p:nvSpPr>
          <p:cNvPr id="25" name="Text 23"/>
          <p:cNvSpPr txBox="1"/>
          <p:nvPr/>
        </p:nvSpPr>
        <p:spPr>
          <a:xfrm>
            <a:off x="5468112" y="3657600"/>
            <a:ext cx="438912" cy="228600"/>
          </a:xfrm>
          <a:prstGeom prst="rect">
            <a:avLst/>
          </a:prstGeom>
          <a:noFill/>
          <a:ln/>
        </p:spPr>
        <p:txBody>
          <a:bodyPr wrap="square" lIns="0" tIns="0" rIns="0" bIns="0" rtlCol="0" anchor="ctr">
            <a:normAutofit/>
          </a:bodyPr>
          <a:lstStyle/>
          <a:p>
            <a:pPr marL="0" indent="0" algn="r">
              <a:buNone/>
            </a:pPr>
            <a:r>
              <a:rPr lang="en-US" sz="1030" b="1" dirty="0">
                <a:solidFill>
                  <a:srgbClr val="EA6B5B"/>
                </a:solidFill>
                <a:latin typeface="Inter" pitchFamily="34" charset="0"/>
                <a:ea typeface="Inter" pitchFamily="34" charset="-122"/>
                <a:cs typeface="Inter" pitchFamily="34" charset="-120"/>
              </a:rPr>
              <a:t>0.03</a:t>
            </a:r>
            <a:endParaRPr lang="en-US" sz="1030" dirty="0"/>
          </a:p>
        </p:txBody>
      </p:sp>
      <p:sp>
        <p:nvSpPr>
          <p:cNvPr id="26" name="Text 24"/>
          <p:cNvSpPr txBox="1"/>
          <p:nvPr/>
        </p:nvSpPr>
        <p:spPr>
          <a:xfrm>
            <a:off x="6035040" y="3429000"/>
            <a:ext cx="914400" cy="384048"/>
          </a:xfrm>
          <a:prstGeom prst="rect">
            <a:avLst/>
          </a:prstGeom>
          <a:noFill/>
          <a:ln/>
        </p:spPr>
        <p:txBody>
          <a:bodyPr wrap="square" lIns="0" tIns="0" rIns="0" bIns="0" rtlCol="0" anchor="ctr">
            <a:normAutofit/>
          </a:bodyPr>
          <a:lstStyle/>
          <a:p>
            <a:pPr marL="0" indent="0" algn="l">
              <a:buNone/>
            </a:pPr>
            <a:r>
              <a:rPr lang="en-US" sz="830" dirty="0">
                <a:solidFill>
                  <a:srgbClr val="65748B"/>
                </a:solidFill>
                <a:latin typeface="Inter" pitchFamily="34" charset="0"/>
                <a:ea typeface="Inter" pitchFamily="34" charset="-122"/>
                <a:cs typeface="Inter" pitchFamily="34" charset="-120"/>
              </a:rPr>
              <a:t>Agreement beyond chance</a:t>
            </a:r>
            <a:endParaRPr lang="en-US" sz="830" dirty="0"/>
          </a:p>
        </p:txBody>
      </p:sp>
      <p:sp>
        <p:nvSpPr>
          <p:cNvPr id="27" name="Text 25"/>
          <p:cNvSpPr txBox="1"/>
          <p:nvPr/>
        </p:nvSpPr>
        <p:spPr>
          <a:xfrm>
            <a:off x="932688" y="4361688"/>
            <a:ext cx="941832" cy="228600"/>
          </a:xfrm>
          <a:prstGeom prst="rect">
            <a:avLst/>
          </a:prstGeom>
          <a:noFill/>
          <a:ln/>
        </p:spPr>
        <p:txBody>
          <a:bodyPr wrap="square" lIns="0" tIns="0" rIns="0" bIns="0" rtlCol="0" anchor="ctr">
            <a:normAutofit/>
          </a:bodyPr>
          <a:lstStyle/>
          <a:p>
            <a:pPr marL="0" indent="0" algn="l">
              <a:buNone/>
            </a:pPr>
            <a:r>
              <a:rPr lang="en-US" sz="1100" b="1" dirty="0">
                <a:solidFill>
                  <a:srgbClr val="253246"/>
                </a:solidFill>
                <a:latin typeface="Inter" pitchFamily="34" charset="0"/>
                <a:ea typeface="Inter" pitchFamily="34" charset="-122"/>
                <a:cs typeface="Inter" pitchFamily="34" charset="-120"/>
              </a:rPr>
              <a:t>R²</a:t>
            </a:r>
            <a:endParaRPr lang="en-US" sz="1100" dirty="0"/>
          </a:p>
        </p:txBody>
      </p:sp>
      <p:sp>
        <p:nvSpPr>
          <p:cNvPr id="28" name="Text 26"/>
          <p:cNvSpPr txBox="1"/>
          <p:nvPr/>
        </p:nvSpPr>
        <p:spPr>
          <a:xfrm>
            <a:off x="1993392" y="4352544"/>
            <a:ext cx="658368" cy="182880"/>
          </a:xfrm>
          <a:prstGeom prst="rect">
            <a:avLst/>
          </a:prstGeom>
          <a:noFill/>
          <a:ln/>
        </p:spPr>
        <p:txBody>
          <a:bodyPr wrap="square" lIns="0" tIns="0" rIns="0" bIns="0" rtlCol="0" anchor="ctr">
            <a:normAutofit/>
          </a:bodyPr>
          <a:lstStyle/>
          <a:p>
            <a:pPr marL="0" indent="0" algn="l">
              <a:buNone/>
            </a:pPr>
            <a:r>
              <a:rPr lang="en-US" sz="850" dirty="0">
                <a:solidFill>
                  <a:srgbClr val="65748B"/>
                </a:solidFill>
                <a:latin typeface="Inter" pitchFamily="34" charset="0"/>
                <a:ea typeface="Inter" pitchFamily="34" charset="-122"/>
                <a:cs typeface="Inter" pitchFamily="34" charset="-120"/>
              </a:rPr>
              <a:t>Random</a:t>
            </a:r>
            <a:endParaRPr lang="en-US" sz="850" dirty="0"/>
          </a:p>
        </p:txBody>
      </p:sp>
      <p:sp>
        <p:nvSpPr>
          <p:cNvPr id="29" name="Shape 27"/>
          <p:cNvSpPr/>
          <p:nvPr/>
        </p:nvSpPr>
        <p:spPr>
          <a:xfrm>
            <a:off x="2670048" y="4370832"/>
            <a:ext cx="2743200" cy="201168"/>
          </a:xfrm>
          <a:prstGeom prst="rect">
            <a:avLst/>
          </a:prstGeom>
          <a:solidFill>
            <a:srgbClr val="E9EEF4"/>
          </a:solidFill>
          <a:ln w="1270">
            <a:solidFill>
              <a:srgbClr val="E9EEF4">
                <a:alpha val="0"/>
              </a:srgbClr>
            </a:solidFill>
            <a:prstDash val="solid"/>
          </a:ln>
        </p:spPr>
      </p:sp>
      <p:sp>
        <p:nvSpPr>
          <p:cNvPr id="30" name="Shape 28"/>
          <p:cNvSpPr/>
          <p:nvPr/>
        </p:nvSpPr>
        <p:spPr>
          <a:xfrm>
            <a:off x="2670048" y="4370832"/>
            <a:ext cx="2139696" cy="201168"/>
          </a:xfrm>
          <a:prstGeom prst="rect">
            <a:avLst/>
          </a:prstGeom>
          <a:solidFill>
            <a:srgbClr val="16A6A1"/>
          </a:solidFill>
          <a:ln w="1270">
            <a:solidFill>
              <a:srgbClr val="16A6A1">
                <a:alpha val="0"/>
              </a:srgbClr>
            </a:solidFill>
            <a:prstDash val="solid"/>
          </a:ln>
        </p:spPr>
      </p:sp>
      <p:sp>
        <p:nvSpPr>
          <p:cNvPr id="31" name="Text 29"/>
          <p:cNvSpPr txBox="1"/>
          <p:nvPr/>
        </p:nvSpPr>
        <p:spPr>
          <a:xfrm>
            <a:off x="5468112" y="4343400"/>
            <a:ext cx="438912" cy="228600"/>
          </a:xfrm>
          <a:prstGeom prst="rect">
            <a:avLst/>
          </a:prstGeom>
          <a:noFill/>
          <a:ln/>
        </p:spPr>
        <p:txBody>
          <a:bodyPr wrap="square" lIns="0" tIns="0" rIns="0" bIns="0" rtlCol="0" anchor="ctr">
            <a:normAutofit/>
          </a:bodyPr>
          <a:lstStyle/>
          <a:p>
            <a:pPr marL="0" indent="0" algn="r">
              <a:buNone/>
            </a:pPr>
            <a:r>
              <a:rPr lang="en-US" sz="1030" b="1" dirty="0">
                <a:solidFill>
                  <a:srgbClr val="087F7A"/>
                </a:solidFill>
                <a:latin typeface="Inter" pitchFamily="34" charset="0"/>
                <a:ea typeface="Inter" pitchFamily="34" charset="-122"/>
                <a:cs typeface="Inter" pitchFamily="34" charset="-120"/>
              </a:rPr>
              <a:t>0.39</a:t>
            </a:r>
            <a:endParaRPr lang="en-US" sz="1030" dirty="0"/>
          </a:p>
        </p:txBody>
      </p:sp>
      <p:sp>
        <p:nvSpPr>
          <p:cNvPr id="32" name="Text 30"/>
          <p:cNvSpPr txBox="1"/>
          <p:nvPr/>
        </p:nvSpPr>
        <p:spPr>
          <a:xfrm>
            <a:off x="1993392" y="4700016"/>
            <a:ext cx="658368" cy="182880"/>
          </a:xfrm>
          <a:prstGeom prst="rect">
            <a:avLst/>
          </a:prstGeom>
          <a:noFill/>
          <a:ln/>
        </p:spPr>
        <p:txBody>
          <a:bodyPr wrap="square" lIns="0" tIns="0" rIns="0" bIns="0" rtlCol="0" anchor="ctr">
            <a:normAutofit/>
          </a:bodyPr>
          <a:lstStyle/>
          <a:p>
            <a:pPr marL="0" indent="0" algn="l">
              <a:buNone/>
            </a:pPr>
            <a:r>
              <a:rPr lang="en-US" sz="850" dirty="0">
                <a:solidFill>
                  <a:srgbClr val="65748B"/>
                </a:solidFill>
                <a:latin typeface="Inter" pitchFamily="34" charset="0"/>
                <a:ea typeface="Inter" pitchFamily="34" charset="-122"/>
                <a:cs typeface="Inter" pitchFamily="34" charset="-120"/>
              </a:rPr>
              <a:t>Grouped</a:t>
            </a:r>
            <a:endParaRPr lang="en-US" sz="850" dirty="0"/>
          </a:p>
        </p:txBody>
      </p:sp>
      <p:sp>
        <p:nvSpPr>
          <p:cNvPr id="33" name="Shape 31"/>
          <p:cNvSpPr/>
          <p:nvPr/>
        </p:nvSpPr>
        <p:spPr>
          <a:xfrm>
            <a:off x="2670048" y="4709160"/>
            <a:ext cx="2743200" cy="201168"/>
          </a:xfrm>
          <a:prstGeom prst="rect">
            <a:avLst/>
          </a:prstGeom>
          <a:solidFill>
            <a:srgbClr val="E9EEF4"/>
          </a:solidFill>
          <a:ln w="1270">
            <a:solidFill>
              <a:srgbClr val="E9EEF4">
                <a:alpha val="0"/>
              </a:srgbClr>
            </a:solidFill>
            <a:prstDash val="solid"/>
          </a:ln>
        </p:spPr>
      </p:sp>
      <p:sp>
        <p:nvSpPr>
          <p:cNvPr id="34" name="Shape 32"/>
          <p:cNvSpPr/>
          <p:nvPr/>
        </p:nvSpPr>
        <p:spPr>
          <a:xfrm>
            <a:off x="2670048" y="4681728"/>
            <a:ext cx="0" cy="283464"/>
          </a:xfrm>
          <a:prstGeom prst="line">
            <a:avLst/>
          </a:prstGeom>
          <a:noFill/>
          <a:ln w="12700">
            <a:solidFill>
              <a:srgbClr val="8A97AA"/>
            </a:solidFill>
            <a:prstDash val="solid"/>
            <a:headEnd type="none"/>
            <a:tailEnd type="none"/>
          </a:ln>
        </p:spPr>
      </p:sp>
      <p:sp>
        <p:nvSpPr>
          <p:cNvPr id="35" name="Text 33"/>
          <p:cNvSpPr txBox="1"/>
          <p:nvPr/>
        </p:nvSpPr>
        <p:spPr>
          <a:xfrm>
            <a:off x="5468112" y="4681728"/>
            <a:ext cx="438912" cy="228600"/>
          </a:xfrm>
          <a:prstGeom prst="rect">
            <a:avLst/>
          </a:prstGeom>
          <a:noFill/>
          <a:ln/>
        </p:spPr>
        <p:txBody>
          <a:bodyPr wrap="square" lIns="0" tIns="0" rIns="0" bIns="0" rtlCol="0" anchor="ctr">
            <a:normAutofit/>
          </a:bodyPr>
          <a:lstStyle/>
          <a:p>
            <a:pPr marL="0" indent="0" algn="r">
              <a:buNone/>
            </a:pPr>
            <a:r>
              <a:rPr lang="en-US" sz="1030" b="1" dirty="0">
                <a:solidFill>
                  <a:srgbClr val="EA6B5B"/>
                </a:solidFill>
                <a:latin typeface="Inter" pitchFamily="34" charset="0"/>
                <a:ea typeface="Inter" pitchFamily="34" charset="-122"/>
                <a:cs typeface="Inter" pitchFamily="34" charset="-120"/>
              </a:rPr>
              <a:t>-0.17</a:t>
            </a:r>
            <a:endParaRPr lang="en-US" sz="1030" dirty="0"/>
          </a:p>
        </p:txBody>
      </p:sp>
      <p:sp>
        <p:nvSpPr>
          <p:cNvPr id="36" name="Text 34"/>
          <p:cNvSpPr txBox="1"/>
          <p:nvPr/>
        </p:nvSpPr>
        <p:spPr>
          <a:xfrm>
            <a:off x="6035040" y="4453128"/>
            <a:ext cx="914400" cy="384048"/>
          </a:xfrm>
          <a:prstGeom prst="rect">
            <a:avLst/>
          </a:prstGeom>
          <a:noFill/>
          <a:ln/>
        </p:spPr>
        <p:txBody>
          <a:bodyPr wrap="square" lIns="0" tIns="0" rIns="0" bIns="0" rtlCol="0" anchor="ctr">
            <a:normAutofit/>
          </a:bodyPr>
          <a:lstStyle/>
          <a:p>
            <a:pPr marL="0" indent="0" algn="l">
              <a:buNone/>
            </a:pPr>
            <a:r>
              <a:rPr lang="en-US" sz="830" dirty="0">
                <a:solidFill>
                  <a:srgbClr val="65748B"/>
                </a:solidFill>
                <a:latin typeface="Inter" pitchFamily="34" charset="0"/>
                <a:ea typeface="Inter" pitchFamily="34" charset="-122"/>
                <a:cs typeface="Inter" pitchFamily="34" charset="-120"/>
              </a:rPr>
              <a:t>Regression fit</a:t>
            </a:r>
            <a:endParaRPr lang="en-US" sz="830" dirty="0"/>
          </a:p>
        </p:txBody>
      </p:sp>
      <p:sp>
        <p:nvSpPr>
          <p:cNvPr id="37" name="Shape 35"/>
          <p:cNvSpPr/>
          <p:nvPr/>
        </p:nvSpPr>
        <p:spPr>
          <a:xfrm>
            <a:off x="7434072" y="1517904"/>
            <a:ext cx="4105656" cy="4526280"/>
          </a:xfrm>
          <a:prstGeom prst="roundRect">
            <a:avLst>
              <a:gd name="adj" fmla="val 3118"/>
            </a:avLst>
          </a:prstGeom>
          <a:solidFill>
            <a:srgbClr val="101A2C"/>
          </a:solidFill>
          <a:ln w="9525">
            <a:solidFill>
              <a:srgbClr val="101A2C"/>
            </a:solidFill>
            <a:prstDash val="solid"/>
          </a:ln>
        </p:spPr>
      </p:sp>
      <p:sp>
        <p:nvSpPr>
          <p:cNvPr id="38" name="Shape 36"/>
          <p:cNvSpPr/>
          <p:nvPr/>
        </p:nvSpPr>
        <p:spPr>
          <a:xfrm>
            <a:off x="7744968" y="1810512"/>
            <a:ext cx="1353312" cy="283464"/>
          </a:xfrm>
          <a:prstGeom prst="roundRect">
            <a:avLst>
              <a:gd name="adj" fmla="val 45161"/>
            </a:avLst>
          </a:prstGeom>
          <a:solidFill>
            <a:srgbClr val="244B5C"/>
          </a:solidFill>
          <a:ln w="12700">
            <a:solidFill>
              <a:srgbClr val="244B5C">
                <a:alpha val="0"/>
              </a:srgbClr>
            </a:solidFill>
            <a:prstDash val="solid"/>
          </a:ln>
        </p:spPr>
      </p:sp>
      <p:sp>
        <p:nvSpPr>
          <p:cNvPr id="39" name="Text 37"/>
          <p:cNvSpPr txBox="1"/>
          <p:nvPr/>
        </p:nvSpPr>
        <p:spPr>
          <a:xfrm>
            <a:off x="7836408" y="1824228"/>
            <a:ext cx="1170432" cy="246888"/>
          </a:xfrm>
          <a:prstGeom prst="rect">
            <a:avLst/>
          </a:prstGeom>
          <a:noFill/>
          <a:ln/>
        </p:spPr>
        <p:txBody>
          <a:bodyPr wrap="square" lIns="0" tIns="0" rIns="0" bIns="0" rtlCol="0" anchor="ctr">
            <a:normAutofit/>
          </a:bodyPr>
          <a:lstStyle/>
          <a:p>
            <a:pPr marL="0" indent="0" algn="ctr">
              <a:buNone/>
            </a:pPr>
            <a:r>
              <a:rPr lang="en-US" sz="800" b="1" dirty="0">
                <a:solidFill>
                  <a:srgbClr val="BFEFEB"/>
                </a:solidFill>
                <a:latin typeface="Inter" pitchFamily="34" charset="0"/>
                <a:ea typeface="Inter" pitchFamily="34" charset="-122"/>
                <a:cs typeface="Inter" pitchFamily="34" charset="-120"/>
              </a:rPr>
              <a:t>INTERPRETATION</a:t>
            </a:r>
            <a:endParaRPr lang="en-US" sz="800" dirty="0"/>
          </a:p>
        </p:txBody>
      </p:sp>
      <p:sp>
        <p:nvSpPr>
          <p:cNvPr id="40" name="Text 38"/>
          <p:cNvSpPr txBox="1"/>
          <p:nvPr/>
        </p:nvSpPr>
        <p:spPr>
          <a:xfrm>
            <a:off x="7754112" y="2322576"/>
            <a:ext cx="3456432" cy="749808"/>
          </a:xfrm>
          <a:prstGeom prst="rect">
            <a:avLst/>
          </a:prstGeom>
          <a:noFill/>
          <a:ln/>
        </p:spPr>
        <p:txBody>
          <a:bodyPr wrap="square" lIns="0" tIns="0" rIns="0" bIns="0" rtlCol="0" anchor="t">
            <a:normAutofit/>
          </a:bodyPr>
          <a:lstStyle/>
          <a:p>
            <a:pPr marL="0" indent="0" algn="l">
              <a:buNone/>
            </a:pPr>
            <a:r>
              <a:rPr lang="en-US" sz="1600" b="1" dirty="0">
                <a:solidFill>
                  <a:srgbClr val="FFFFFF"/>
                </a:solidFill>
                <a:latin typeface="Inter" pitchFamily="34" charset="0"/>
                <a:ea typeface="Inter" pitchFamily="34" charset="-122"/>
                <a:cs typeface="Inter" pitchFamily="34" charset="-120"/>
              </a:rPr>
              <a:t>Similar earthquake swarms can appear in both train and test sets.</a:t>
            </a:r>
            <a:endParaRPr lang="en-US" sz="1600" dirty="0"/>
          </a:p>
        </p:txBody>
      </p:sp>
      <p:sp>
        <p:nvSpPr>
          <p:cNvPr id="41" name="Text 39"/>
          <p:cNvSpPr txBox="1"/>
          <p:nvPr/>
        </p:nvSpPr>
        <p:spPr>
          <a:xfrm>
            <a:off x="7754112" y="3310128"/>
            <a:ext cx="3456432" cy="694944"/>
          </a:xfrm>
          <a:prstGeom prst="rect">
            <a:avLst/>
          </a:prstGeom>
          <a:noFill/>
          <a:ln/>
        </p:spPr>
        <p:txBody>
          <a:bodyPr wrap="square" lIns="0" tIns="0" rIns="0" bIns="0" rtlCol="0" anchor="t">
            <a:normAutofit/>
          </a:bodyPr>
          <a:lstStyle/>
          <a:p>
            <a:pPr marL="0" indent="0" algn="l">
              <a:buNone/>
            </a:pPr>
            <a:r>
              <a:rPr lang="en-US" sz="1120" dirty="0">
                <a:solidFill>
                  <a:srgbClr val="C4D1E0"/>
                </a:solidFill>
                <a:latin typeface="Inter" pitchFamily="34" charset="0"/>
                <a:ea typeface="Inter" pitchFamily="34" charset="-122"/>
                <a:cs typeface="Inter" pitchFamily="34" charset="-120"/>
              </a:rPr>
              <a:t>Keeping each calendar month together is a stricter test of performance on a different time period.</a:t>
            </a:r>
            <a:endParaRPr lang="en-US" sz="1120" dirty="0"/>
          </a:p>
        </p:txBody>
      </p:sp>
      <p:sp>
        <p:nvSpPr>
          <p:cNvPr id="42" name="Shape 40"/>
          <p:cNvSpPr/>
          <p:nvPr/>
        </p:nvSpPr>
        <p:spPr>
          <a:xfrm>
            <a:off x="7754112" y="4224528"/>
            <a:ext cx="3383280" cy="0"/>
          </a:xfrm>
          <a:prstGeom prst="line">
            <a:avLst/>
          </a:prstGeom>
          <a:noFill/>
          <a:ln w="10160">
            <a:solidFill>
              <a:srgbClr val="344A64"/>
            </a:solidFill>
            <a:prstDash val="solid"/>
            <a:headEnd type="none"/>
            <a:tailEnd type="none"/>
          </a:ln>
        </p:spPr>
      </p:sp>
      <p:sp>
        <p:nvSpPr>
          <p:cNvPr id="43" name="Text 41"/>
          <p:cNvSpPr txBox="1"/>
          <p:nvPr/>
        </p:nvSpPr>
        <p:spPr>
          <a:xfrm>
            <a:off x="7754112" y="4462272"/>
            <a:ext cx="2194560" cy="228600"/>
          </a:xfrm>
          <a:prstGeom prst="rect">
            <a:avLst/>
          </a:prstGeom>
          <a:noFill/>
          <a:ln/>
        </p:spPr>
        <p:txBody>
          <a:bodyPr wrap="square" lIns="0" tIns="0" rIns="0" bIns="0" rtlCol="0" anchor="ctr">
            <a:normAutofit/>
          </a:bodyPr>
          <a:lstStyle/>
          <a:p>
            <a:pPr marL="0" indent="0" algn="l">
              <a:buNone/>
            </a:pPr>
            <a:r>
              <a:rPr lang="en-US" sz="1000" b="1" dirty="0">
                <a:solidFill>
                  <a:srgbClr val="9FE4DF"/>
                </a:solidFill>
                <a:latin typeface="Inter" pitchFamily="34" charset="0"/>
                <a:ea typeface="Inter" pitchFamily="34" charset="-122"/>
                <a:cs typeface="Inter" pitchFamily="34" charset="-120"/>
              </a:rPr>
              <a:t>Grouped-fold results</a:t>
            </a:r>
            <a:endParaRPr lang="en-US" sz="1000" dirty="0"/>
          </a:p>
        </p:txBody>
      </p:sp>
      <p:sp>
        <p:nvSpPr>
          <p:cNvPr id="44" name="Text 42"/>
          <p:cNvSpPr txBox="1"/>
          <p:nvPr/>
        </p:nvSpPr>
        <p:spPr>
          <a:xfrm>
            <a:off x="7754112" y="4791456"/>
            <a:ext cx="3337560" cy="320040"/>
          </a:xfrm>
          <a:prstGeom prst="rect">
            <a:avLst/>
          </a:prstGeom>
          <a:noFill/>
          <a:ln/>
        </p:spPr>
        <p:txBody>
          <a:bodyPr wrap="square" lIns="0" tIns="0" rIns="0" bIns="0" rtlCol="0" anchor="ctr">
            <a:normAutofit/>
          </a:bodyPr>
          <a:lstStyle/>
          <a:p>
            <a:pPr marL="0" indent="0" algn="l">
              <a:buNone/>
            </a:pPr>
            <a:r>
              <a:rPr lang="en-US" sz="1500" b="1" dirty="0">
                <a:solidFill>
                  <a:srgbClr val="FFFFFF"/>
                </a:solidFill>
                <a:latin typeface="Inter" pitchFamily="34" charset="0"/>
                <a:ea typeface="Inter" pitchFamily="34" charset="-122"/>
                <a:cs typeface="Inter" pitchFamily="34" charset="-120"/>
              </a:rPr>
              <a:t>Kappa ≈ 0.03 and R² &lt; 0</a:t>
            </a:r>
            <a:endParaRPr lang="en-US" sz="1500" dirty="0"/>
          </a:p>
        </p:txBody>
      </p:sp>
      <p:sp>
        <p:nvSpPr>
          <p:cNvPr id="45" name="Text 43"/>
          <p:cNvSpPr txBox="1"/>
          <p:nvPr/>
        </p:nvSpPr>
        <p:spPr>
          <a:xfrm>
            <a:off x="7754112" y="5285232"/>
            <a:ext cx="3200400" cy="283464"/>
          </a:xfrm>
          <a:prstGeom prst="rect">
            <a:avLst/>
          </a:prstGeom>
          <a:noFill/>
          <a:ln/>
        </p:spPr>
        <p:txBody>
          <a:bodyPr wrap="square" lIns="0" tIns="0" rIns="0" bIns="0" rtlCol="0" anchor="ctr">
            <a:normAutofit/>
          </a:bodyPr>
          <a:lstStyle/>
          <a:p>
            <a:pPr marL="0" indent="0" algn="l">
              <a:buNone/>
            </a:pPr>
            <a:r>
              <a:rPr lang="en-US" sz="1080" dirty="0">
                <a:solidFill>
                  <a:srgbClr val="C4D1E0"/>
                </a:solidFill>
                <a:latin typeface="Inter" pitchFamily="34" charset="0"/>
                <a:ea typeface="Inter" pitchFamily="34" charset="-122"/>
                <a:cs typeface="Inter" pitchFamily="34" charset="-120"/>
              </a:rPr>
              <a:t>Generalization across time is weak.</a:t>
            </a:r>
            <a:endParaRPr lang="en-US" sz="1080" dirty="0"/>
          </a:p>
        </p:txBody>
      </p:sp>
      <p:sp>
        <p:nvSpPr>
          <p:cNvPr id="46" name="Shape 44"/>
          <p:cNvSpPr/>
          <p:nvPr/>
        </p:nvSpPr>
        <p:spPr>
          <a:xfrm>
            <a:off x="621792" y="6419088"/>
            <a:ext cx="10945368" cy="0"/>
          </a:xfrm>
          <a:prstGeom prst="line">
            <a:avLst/>
          </a:prstGeom>
          <a:noFill/>
          <a:ln w="8255">
            <a:solidFill>
              <a:srgbClr val="DDE4ED"/>
            </a:solidFill>
            <a:prstDash val="solid"/>
            <a:headEnd type="none"/>
            <a:tailEnd type="none"/>
          </a:ln>
        </p:spPr>
      </p:sp>
      <p:sp>
        <p:nvSpPr>
          <p:cNvPr id="47" name="Text 45"/>
          <p:cNvSpPr txBox="1"/>
          <p:nvPr/>
        </p:nvSpPr>
        <p:spPr>
          <a:xfrm>
            <a:off x="640080" y="6473952"/>
            <a:ext cx="9966960" cy="164592"/>
          </a:xfrm>
          <a:prstGeom prst="rect">
            <a:avLst/>
          </a:prstGeom>
          <a:noFill/>
          <a:ln/>
        </p:spPr>
        <p:txBody>
          <a:bodyPr wrap="square" lIns="0" tIns="0" rIns="0" bIns="0" rtlCol="0" anchor="ctr">
            <a:normAutofit/>
          </a:bodyPr>
          <a:lstStyle/>
          <a:p>
            <a:pPr marL="0" indent="0" algn="l">
              <a:buNone/>
            </a:pPr>
            <a:r>
              <a:rPr lang="en-US" sz="740" dirty="0">
                <a:solidFill>
                  <a:srgbClr val="8A97AA"/>
                </a:solidFill>
                <a:latin typeface="Inter" pitchFamily="34" charset="0"/>
                <a:ea typeface="Inter" pitchFamily="34" charset="-122"/>
                <a:cs typeface="Inter" pitchFamily="34" charset="-120"/>
              </a:rPr>
              <a:t>Source: notebook_results.zip / RESULTS.md; 5-fold cross-validation comparison</a:t>
            </a:r>
            <a:endParaRPr lang="en-US" sz="740" dirty="0"/>
          </a:p>
        </p:txBody>
      </p:sp>
      <p:sp>
        <p:nvSpPr>
          <p:cNvPr id="48" name="Text 46"/>
          <p:cNvSpPr txBox="1"/>
          <p:nvPr/>
        </p:nvSpPr>
        <p:spPr>
          <a:xfrm>
            <a:off x="11109960" y="6455664"/>
            <a:ext cx="438912" cy="182880"/>
          </a:xfrm>
          <a:prstGeom prst="rect">
            <a:avLst/>
          </a:prstGeom>
          <a:noFill/>
          <a:ln/>
        </p:spPr>
        <p:txBody>
          <a:bodyPr wrap="square" lIns="0" tIns="0" rIns="0" bIns="0" rtlCol="0" anchor="ctr">
            <a:normAutofit/>
          </a:bodyPr>
          <a:lstStyle/>
          <a:p>
            <a:pPr marL="0" indent="0" algn="r">
              <a:buNone/>
            </a:pPr>
            <a:r>
              <a:rPr lang="en-US" sz="850" b="1" dirty="0">
                <a:solidFill>
                  <a:srgbClr val="65748B"/>
                </a:solidFill>
                <a:latin typeface="Inter" pitchFamily="34" charset="0"/>
                <a:ea typeface="Inter" pitchFamily="34" charset="-122"/>
                <a:cs typeface="Inter"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21792" y="320040"/>
            <a:ext cx="5303520" cy="201168"/>
          </a:xfrm>
          <a:prstGeom prst="rect">
            <a:avLst/>
          </a:prstGeom>
          <a:noFill/>
          <a:ln/>
        </p:spPr>
        <p:txBody>
          <a:bodyPr wrap="square" lIns="0" tIns="0" rIns="0" bIns="0" rtlCol="0" anchor="ctr">
            <a:normAutofit/>
          </a:bodyPr>
          <a:lstStyle/>
          <a:p>
            <a:pPr marL="0" indent="0" algn="l">
              <a:buNone/>
            </a:pPr>
            <a:r>
              <a:rPr lang="en-US" sz="900" b="1" kern="0" spc="130" dirty="0">
                <a:solidFill>
                  <a:srgbClr val="087F7A"/>
                </a:solidFill>
                <a:latin typeface="Inter" pitchFamily="34" charset="0"/>
                <a:ea typeface="Inter" pitchFamily="34" charset="-122"/>
                <a:cs typeface="Inter" pitchFamily="34" charset="-120"/>
              </a:rPr>
              <a:t>07 / CONCLUSION</a:t>
            </a:r>
            <a:endParaRPr lang="en-US" sz="900" dirty="0"/>
          </a:p>
        </p:txBody>
      </p:sp>
      <p:sp>
        <p:nvSpPr>
          <p:cNvPr id="3" name="Text 1"/>
          <p:cNvSpPr txBox="1"/>
          <p:nvPr/>
        </p:nvSpPr>
        <p:spPr>
          <a:xfrm>
            <a:off x="621792" y="576072"/>
            <a:ext cx="10972800" cy="429768"/>
          </a:xfrm>
          <a:prstGeom prst="rect">
            <a:avLst/>
          </a:prstGeom>
          <a:noFill/>
          <a:ln/>
        </p:spPr>
        <p:txBody>
          <a:bodyPr wrap="square" lIns="0" tIns="0" rIns="0" bIns="0" rtlCol="0" anchor="ctr">
            <a:normAutofit/>
          </a:bodyPr>
          <a:lstStyle/>
          <a:p>
            <a:pPr marL="0" indent="0" algn="l">
              <a:buNone/>
            </a:pPr>
            <a:r>
              <a:rPr lang="en-US" sz="2500" b="1" dirty="0">
                <a:solidFill>
                  <a:srgbClr val="101A2C"/>
                </a:solidFill>
                <a:latin typeface="Inter" pitchFamily="34" charset="0"/>
                <a:ea typeface="Inter" pitchFamily="34" charset="-122"/>
                <a:cs typeface="Inter" pitchFamily="34" charset="-120"/>
              </a:rPr>
              <a:t>Useful patterns exist, but reliable forecasting is not established</a:t>
            </a:r>
            <a:endParaRPr lang="en-US" sz="2500" dirty="0"/>
          </a:p>
        </p:txBody>
      </p:sp>
      <p:sp>
        <p:nvSpPr>
          <p:cNvPr id="4" name="Text 2"/>
          <p:cNvSpPr txBox="1"/>
          <p:nvPr/>
        </p:nvSpPr>
        <p:spPr>
          <a:xfrm>
            <a:off x="640080" y="1033272"/>
            <a:ext cx="10881360" cy="256032"/>
          </a:xfrm>
          <a:prstGeom prst="rect">
            <a:avLst/>
          </a:prstGeom>
          <a:noFill/>
          <a:ln/>
        </p:spPr>
        <p:txBody>
          <a:bodyPr wrap="square" lIns="0" tIns="0" rIns="0" bIns="0" rtlCol="0" anchor="ctr">
            <a:normAutofit/>
          </a:bodyPr>
          <a:lstStyle/>
          <a:p>
            <a:pPr marL="0" indent="0" algn="l">
              <a:buNone/>
            </a:pPr>
            <a:r>
              <a:rPr lang="en-US" sz="1050" dirty="0">
                <a:solidFill>
                  <a:srgbClr val="65748B"/>
                </a:solidFill>
                <a:latin typeface="Inter" pitchFamily="34" charset="0"/>
                <a:ea typeface="Inter" pitchFamily="34" charset="-122"/>
                <a:cs typeface="Inter" pitchFamily="34" charset="-120"/>
              </a:rPr>
              <a:t>What we learned and what to demonstrate during the review.</a:t>
            </a:r>
            <a:endParaRPr lang="en-US" sz="1050" dirty="0"/>
          </a:p>
        </p:txBody>
      </p:sp>
      <p:sp>
        <p:nvSpPr>
          <p:cNvPr id="5" name="Shape 3"/>
          <p:cNvSpPr/>
          <p:nvPr/>
        </p:nvSpPr>
        <p:spPr>
          <a:xfrm>
            <a:off x="658368" y="1508760"/>
            <a:ext cx="6400800" cy="4553712"/>
          </a:xfrm>
          <a:prstGeom prst="roundRect">
            <a:avLst>
              <a:gd name="adj" fmla="val 2811"/>
            </a:avLst>
          </a:prstGeom>
          <a:solidFill>
            <a:srgbClr val="FFFFFF"/>
          </a:solidFill>
          <a:ln w="9525">
            <a:solidFill>
              <a:srgbClr val="DDE4ED"/>
            </a:solidFill>
            <a:prstDash val="solid"/>
          </a:ln>
        </p:spPr>
      </p:sp>
      <p:sp>
        <p:nvSpPr>
          <p:cNvPr id="6" name="Text 4"/>
          <p:cNvSpPr txBox="1"/>
          <p:nvPr/>
        </p:nvSpPr>
        <p:spPr>
          <a:xfrm>
            <a:off x="932688" y="1755648"/>
            <a:ext cx="4389120" cy="292608"/>
          </a:xfrm>
          <a:prstGeom prst="rect">
            <a:avLst/>
          </a:prstGeom>
          <a:noFill/>
          <a:ln/>
        </p:spPr>
        <p:txBody>
          <a:bodyPr wrap="square" lIns="0" tIns="0" rIns="0" bIns="0" rtlCol="0" anchor="ctr">
            <a:normAutofit/>
          </a:bodyPr>
          <a:lstStyle/>
          <a:p>
            <a:pPr marL="0" indent="0" algn="l">
              <a:buNone/>
            </a:pPr>
            <a:r>
              <a:rPr lang="en-US" sz="1700" b="1" dirty="0">
                <a:solidFill>
                  <a:srgbClr val="101A2C"/>
                </a:solidFill>
                <a:latin typeface="Inter" pitchFamily="34" charset="0"/>
                <a:ea typeface="Inter" pitchFamily="34" charset="-122"/>
                <a:cs typeface="Inter" pitchFamily="34" charset="-120"/>
              </a:rPr>
              <a:t>Key findings</a:t>
            </a:r>
            <a:endParaRPr lang="en-US" sz="1700" dirty="0"/>
          </a:p>
        </p:txBody>
      </p:sp>
      <p:sp>
        <p:nvSpPr>
          <p:cNvPr id="7" name="Shape 5"/>
          <p:cNvSpPr/>
          <p:nvPr/>
        </p:nvSpPr>
        <p:spPr>
          <a:xfrm>
            <a:off x="932688" y="2267712"/>
            <a:ext cx="329184" cy="329184"/>
          </a:xfrm>
          <a:prstGeom prst="ellipse">
            <a:avLst/>
          </a:prstGeom>
          <a:solidFill>
            <a:srgbClr val="DDF5F1"/>
          </a:solidFill>
          <a:ln w="12700">
            <a:solidFill>
              <a:srgbClr val="DDF5F1">
                <a:alpha val="0"/>
              </a:srgbClr>
            </a:solidFill>
            <a:prstDash val="solid"/>
          </a:ln>
        </p:spPr>
      </p:sp>
      <p:sp>
        <p:nvSpPr>
          <p:cNvPr id="8" name="Text 6"/>
          <p:cNvSpPr txBox="1"/>
          <p:nvPr/>
        </p:nvSpPr>
        <p:spPr>
          <a:xfrm>
            <a:off x="932688" y="2267712"/>
            <a:ext cx="329184" cy="329184"/>
          </a:xfrm>
          <a:prstGeom prst="rect">
            <a:avLst/>
          </a:prstGeom>
          <a:noFill/>
          <a:ln/>
        </p:spPr>
        <p:txBody>
          <a:bodyPr wrap="square" lIns="0" tIns="0" rIns="0" bIns="0" rtlCol="0" anchor="ctr">
            <a:normAutofit/>
          </a:bodyPr>
          <a:lstStyle/>
          <a:p>
            <a:pPr marL="0" indent="0" algn="ctr">
              <a:buNone/>
            </a:pPr>
            <a:r>
              <a:rPr lang="en-US" sz="950" b="1" dirty="0">
                <a:solidFill>
                  <a:srgbClr val="087F7A"/>
                </a:solidFill>
                <a:latin typeface="Inter" pitchFamily="34" charset="0"/>
                <a:ea typeface="Inter" pitchFamily="34" charset="-122"/>
                <a:cs typeface="Inter" pitchFamily="34" charset="-120"/>
              </a:rPr>
              <a:t>01</a:t>
            </a:r>
            <a:endParaRPr lang="en-US" sz="950" dirty="0"/>
          </a:p>
        </p:txBody>
      </p:sp>
      <p:sp>
        <p:nvSpPr>
          <p:cNvPr id="9" name="Text 7"/>
          <p:cNvSpPr txBox="1"/>
          <p:nvPr/>
        </p:nvSpPr>
        <p:spPr>
          <a:xfrm>
            <a:off x="1444752" y="2249424"/>
            <a:ext cx="5212080" cy="384048"/>
          </a:xfrm>
          <a:prstGeom prst="rect">
            <a:avLst/>
          </a:prstGeom>
          <a:noFill/>
          <a:ln/>
        </p:spPr>
        <p:txBody>
          <a:bodyPr wrap="square" lIns="0" tIns="0" rIns="0" bIns="0" rtlCol="0" anchor="t">
            <a:normAutofit/>
          </a:bodyPr>
          <a:lstStyle/>
          <a:p>
            <a:pPr marL="0" indent="0" algn="l">
              <a:buNone/>
            </a:pPr>
            <a:r>
              <a:rPr lang="en-US" sz="1130" b="1" dirty="0">
                <a:solidFill>
                  <a:srgbClr val="253246"/>
                </a:solidFill>
                <a:latin typeface="Inter" pitchFamily="34" charset="0"/>
                <a:ea typeface="Inter" pitchFamily="34" charset="-122"/>
                <a:cs typeface="Inter" pitchFamily="34" charset="-120"/>
              </a:rPr>
              <a:t>Random Forest ranked best on the random held-out test split.</a:t>
            </a:r>
            <a:endParaRPr lang="en-US" sz="1130" dirty="0"/>
          </a:p>
        </p:txBody>
      </p:sp>
      <p:sp>
        <p:nvSpPr>
          <p:cNvPr id="10" name="Text 8"/>
          <p:cNvSpPr txBox="1"/>
          <p:nvPr/>
        </p:nvSpPr>
        <p:spPr>
          <a:xfrm>
            <a:off x="1444752" y="2660904"/>
            <a:ext cx="5138928" cy="210312"/>
          </a:xfrm>
          <a:prstGeom prst="rect">
            <a:avLst/>
          </a:prstGeom>
          <a:noFill/>
          <a:ln/>
        </p:spPr>
        <p:txBody>
          <a:bodyPr wrap="square" lIns="0" tIns="0" rIns="0" bIns="0" rtlCol="0" anchor="ctr">
            <a:normAutofit/>
          </a:bodyPr>
          <a:lstStyle/>
          <a:p>
            <a:pPr marL="0" indent="0" algn="l">
              <a:buNone/>
            </a:pPr>
            <a:r>
              <a:rPr lang="en-US" sz="970" dirty="0">
                <a:solidFill>
                  <a:srgbClr val="65748B"/>
                </a:solidFill>
                <a:latin typeface="Inter" pitchFamily="34" charset="0"/>
                <a:ea typeface="Inter" pitchFamily="34" charset="-122"/>
                <a:cs typeface="Inter" pitchFamily="34" charset="-120"/>
              </a:rPr>
              <a:t>AUROC 0.83 · Kappa 0.37</a:t>
            </a:r>
            <a:endParaRPr lang="en-US" sz="970" dirty="0"/>
          </a:p>
        </p:txBody>
      </p:sp>
      <p:sp>
        <p:nvSpPr>
          <p:cNvPr id="11" name="Shape 9"/>
          <p:cNvSpPr/>
          <p:nvPr/>
        </p:nvSpPr>
        <p:spPr>
          <a:xfrm>
            <a:off x="932688" y="3255264"/>
            <a:ext cx="329184" cy="329184"/>
          </a:xfrm>
          <a:prstGeom prst="ellipse">
            <a:avLst/>
          </a:prstGeom>
          <a:solidFill>
            <a:srgbClr val="FFF4D9"/>
          </a:solidFill>
          <a:ln w="12700">
            <a:solidFill>
              <a:srgbClr val="FFF4D9">
                <a:alpha val="0"/>
              </a:srgbClr>
            </a:solidFill>
            <a:prstDash val="solid"/>
          </a:ln>
        </p:spPr>
      </p:sp>
      <p:sp>
        <p:nvSpPr>
          <p:cNvPr id="12" name="Text 10"/>
          <p:cNvSpPr txBox="1"/>
          <p:nvPr/>
        </p:nvSpPr>
        <p:spPr>
          <a:xfrm>
            <a:off x="932688" y="3255264"/>
            <a:ext cx="329184" cy="329184"/>
          </a:xfrm>
          <a:prstGeom prst="rect">
            <a:avLst/>
          </a:prstGeom>
          <a:noFill/>
          <a:ln/>
        </p:spPr>
        <p:txBody>
          <a:bodyPr wrap="square" lIns="0" tIns="0" rIns="0" bIns="0" rtlCol="0" anchor="ctr">
            <a:normAutofit/>
          </a:bodyPr>
          <a:lstStyle/>
          <a:p>
            <a:pPr marL="0" indent="0" algn="ctr">
              <a:buNone/>
            </a:pPr>
            <a:r>
              <a:rPr lang="en-US" sz="950" b="1" dirty="0">
                <a:solidFill>
                  <a:srgbClr val="8D671E"/>
                </a:solidFill>
                <a:latin typeface="Inter" pitchFamily="34" charset="0"/>
                <a:ea typeface="Inter" pitchFamily="34" charset="-122"/>
                <a:cs typeface="Inter" pitchFamily="34" charset="-120"/>
              </a:rPr>
              <a:t>02</a:t>
            </a:r>
            <a:endParaRPr lang="en-US" sz="950" dirty="0"/>
          </a:p>
        </p:txBody>
      </p:sp>
      <p:sp>
        <p:nvSpPr>
          <p:cNvPr id="13" name="Text 11"/>
          <p:cNvSpPr txBox="1"/>
          <p:nvPr/>
        </p:nvSpPr>
        <p:spPr>
          <a:xfrm>
            <a:off x="1444752" y="3236976"/>
            <a:ext cx="5212080" cy="384048"/>
          </a:xfrm>
          <a:prstGeom prst="rect">
            <a:avLst/>
          </a:prstGeom>
          <a:noFill/>
          <a:ln/>
        </p:spPr>
        <p:txBody>
          <a:bodyPr wrap="square" lIns="0" tIns="0" rIns="0" bIns="0" rtlCol="0" anchor="t">
            <a:normAutofit/>
          </a:bodyPr>
          <a:lstStyle/>
          <a:p>
            <a:pPr marL="0" indent="0" algn="l">
              <a:buNone/>
            </a:pPr>
            <a:r>
              <a:rPr lang="en-US" sz="1130" b="1" dirty="0">
                <a:solidFill>
                  <a:srgbClr val="253246"/>
                </a:solidFill>
                <a:latin typeface="Inter" pitchFamily="34" charset="0"/>
                <a:ea typeface="Inter" pitchFamily="34" charset="-122"/>
                <a:cs typeface="Inter" pitchFamily="34" charset="-120"/>
              </a:rPr>
              <a:t>Recent earthquake activity was the strongest regression feature.</a:t>
            </a:r>
            <a:endParaRPr lang="en-US" sz="1130" dirty="0"/>
          </a:p>
        </p:txBody>
      </p:sp>
      <p:sp>
        <p:nvSpPr>
          <p:cNvPr id="14" name="Text 12"/>
          <p:cNvSpPr txBox="1"/>
          <p:nvPr/>
        </p:nvSpPr>
        <p:spPr>
          <a:xfrm>
            <a:off x="1444752" y="3648456"/>
            <a:ext cx="5138928" cy="210312"/>
          </a:xfrm>
          <a:prstGeom prst="rect">
            <a:avLst/>
          </a:prstGeom>
          <a:noFill/>
          <a:ln/>
        </p:spPr>
        <p:txBody>
          <a:bodyPr wrap="square" lIns="0" tIns="0" rIns="0" bIns="0" rtlCol="0" anchor="ctr">
            <a:normAutofit/>
          </a:bodyPr>
          <a:lstStyle/>
          <a:p>
            <a:pPr marL="0" indent="0" algn="l">
              <a:buNone/>
            </a:pPr>
            <a:r>
              <a:rPr lang="en-US" sz="970" dirty="0">
                <a:solidFill>
                  <a:srgbClr val="65748B"/>
                </a:solidFill>
                <a:latin typeface="Inter" pitchFamily="34" charset="0"/>
                <a:ea typeface="Inter" pitchFamily="34" charset="-122"/>
                <a:cs typeface="Inter" pitchFamily="34" charset="-120"/>
              </a:rPr>
              <a:t>30-day rate: 41% importance</a:t>
            </a:r>
            <a:endParaRPr lang="en-US" sz="970" dirty="0"/>
          </a:p>
        </p:txBody>
      </p:sp>
      <p:sp>
        <p:nvSpPr>
          <p:cNvPr id="15" name="Shape 13"/>
          <p:cNvSpPr/>
          <p:nvPr/>
        </p:nvSpPr>
        <p:spPr>
          <a:xfrm>
            <a:off x="932688" y="4242816"/>
            <a:ext cx="329184" cy="329184"/>
          </a:xfrm>
          <a:prstGeom prst="ellipse">
            <a:avLst/>
          </a:prstGeom>
          <a:solidFill>
            <a:srgbClr val="FCEAE6"/>
          </a:solidFill>
          <a:ln w="12700">
            <a:solidFill>
              <a:srgbClr val="FCEAE6">
                <a:alpha val="0"/>
              </a:srgbClr>
            </a:solidFill>
            <a:prstDash val="solid"/>
          </a:ln>
        </p:spPr>
      </p:sp>
      <p:sp>
        <p:nvSpPr>
          <p:cNvPr id="16" name="Text 14"/>
          <p:cNvSpPr txBox="1"/>
          <p:nvPr/>
        </p:nvSpPr>
        <p:spPr>
          <a:xfrm>
            <a:off x="932688" y="4242816"/>
            <a:ext cx="329184" cy="329184"/>
          </a:xfrm>
          <a:prstGeom prst="rect">
            <a:avLst/>
          </a:prstGeom>
          <a:noFill/>
          <a:ln/>
        </p:spPr>
        <p:txBody>
          <a:bodyPr wrap="square" lIns="0" tIns="0" rIns="0" bIns="0" rtlCol="0" anchor="ctr">
            <a:normAutofit/>
          </a:bodyPr>
          <a:lstStyle/>
          <a:p>
            <a:pPr marL="0" indent="0" algn="ctr">
              <a:buNone/>
            </a:pPr>
            <a:r>
              <a:rPr lang="en-US" sz="950" b="1" dirty="0">
                <a:solidFill>
                  <a:srgbClr val="EA6B5B"/>
                </a:solidFill>
                <a:latin typeface="Inter" pitchFamily="34" charset="0"/>
                <a:ea typeface="Inter" pitchFamily="34" charset="-122"/>
                <a:cs typeface="Inter" pitchFamily="34" charset="-120"/>
              </a:rPr>
              <a:t>03</a:t>
            </a:r>
            <a:endParaRPr lang="en-US" sz="950" dirty="0"/>
          </a:p>
        </p:txBody>
      </p:sp>
      <p:sp>
        <p:nvSpPr>
          <p:cNvPr id="17" name="Text 15"/>
          <p:cNvSpPr txBox="1"/>
          <p:nvPr/>
        </p:nvSpPr>
        <p:spPr>
          <a:xfrm>
            <a:off x="1444752" y="4224528"/>
            <a:ext cx="5212080" cy="384048"/>
          </a:xfrm>
          <a:prstGeom prst="rect">
            <a:avLst/>
          </a:prstGeom>
          <a:noFill/>
          <a:ln/>
        </p:spPr>
        <p:txBody>
          <a:bodyPr wrap="square" lIns="0" tIns="0" rIns="0" bIns="0" rtlCol="0" anchor="t">
            <a:normAutofit/>
          </a:bodyPr>
          <a:lstStyle/>
          <a:p>
            <a:pPr marL="0" indent="0" algn="l">
              <a:buNone/>
            </a:pPr>
            <a:r>
              <a:rPr lang="en-US" sz="1130" b="1" dirty="0">
                <a:solidFill>
                  <a:srgbClr val="253246"/>
                </a:solidFill>
                <a:latin typeface="Inter" pitchFamily="34" charset="0"/>
                <a:ea typeface="Inter" pitchFamily="34" charset="-122"/>
                <a:cs typeface="Inter" pitchFamily="34" charset="-120"/>
              </a:rPr>
              <a:t>Temporal validation sharply reduced performance.</a:t>
            </a:r>
            <a:endParaRPr lang="en-US" sz="1130" dirty="0"/>
          </a:p>
        </p:txBody>
      </p:sp>
      <p:sp>
        <p:nvSpPr>
          <p:cNvPr id="18" name="Text 16"/>
          <p:cNvSpPr txBox="1"/>
          <p:nvPr/>
        </p:nvSpPr>
        <p:spPr>
          <a:xfrm>
            <a:off x="1444752" y="4636008"/>
            <a:ext cx="5138928" cy="210312"/>
          </a:xfrm>
          <a:prstGeom prst="rect">
            <a:avLst/>
          </a:prstGeom>
          <a:noFill/>
          <a:ln/>
        </p:spPr>
        <p:txBody>
          <a:bodyPr wrap="square" lIns="0" tIns="0" rIns="0" bIns="0" rtlCol="0" anchor="ctr">
            <a:normAutofit/>
          </a:bodyPr>
          <a:lstStyle/>
          <a:p>
            <a:pPr marL="0" indent="0" algn="l">
              <a:buNone/>
            </a:pPr>
            <a:r>
              <a:rPr lang="en-US" sz="970" dirty="0">
                <a:solidFill>
                  <a:srgbClr val="65748B"/>
                </a:solidFill>
                <a:latin typeface="Inter" pitchFamily="34" charset="0"/>
                <a:ea typeface="Inter" pitchFamily="34" charset="-122"/>
                <a:cs typeface="Inter" pitchFamily="34" charset="-120"/>
              </a:rPr>
              <a:t>Grouped AUROC 0.58 · Kappa 0.03</a:t>
            </a:r>
            <a:endParaRPr lang="en-US" sz="970" dirty="0"/>
          </a:p>
        </p:txBody>
      </p:sp>
      <p:sp>
        <p:nvSpPr>
          <p:cNvPr id="19" name="Shape 17"/>
          <p:cNvSpPr/>
          <p:nvPr/>
        </p:nvSpPr>
        <p:spPr>
          <a:xfrm>
            <a:off x="932688" y="5376672"/>
            <a:ext cx="5833872" cy="0"/>
          </a:xfrm>
          <a:prstGeom prst="line">
            <a:avLst/>
          </a:prstGeom>
          <a:noFill/>
          <a:ln w="9525">
            <a:solidFill>
              <a:srgbClr val="DDE4ED"/>
            </a:solidFill>
            <a:prstDash val="solid"/>
            <a:headEnd type="none"/>
            <a:tailEnd type="none"/>
          </a:ln>
        </p:spPr>
      </p:sp>
      <p:sp>
        <p:nvSpPr>
          <p:cNvPr id="20" name="Text 18"/>
          <p:cNvSpPr txBox="1"/>
          <p:nvPr/>
        </p:nvSpPr>
        <p:spPr>
          <a:xfrm>
            <a:off x="932688" y="5532120"/>
            <a:ext cx="960120" cy="201168"/>
          </a:xfrm>
          <a:prstGeom prst="rect">
            <a:avLst/>
          </a:prstGeom>
          <a:noFill/>
          <a:ln/>
        </p:spPr>
        <p:txBody>
          <a:bodyPr wrap="square" lIns="0" tIns="0" rIns="0" bIns="0" rtlCol="0" anchor="ctr">
            <a:normAutofit/>
          </a:bodyPr>
          <a:lstStyle/>
          <a:p>
            <a:pPr marL="0" indent="0" algn="l">
              <a:buNone/>
            </a:pPr>
            <a:r>
              <a:rPr lang="en-US" sz="1020" b="1" dirty="0">
                <a:solidFill>
                  <a:srgbClr val="087F7A"/>
                </a:solidFill>
                <a:latin typeface="Inter" pitchFamily="34" charset="0"/>
                <a:ea typeface="Inter" pitchFamily="34" charset="-122"/>
                <a:cs typeface="Inter" pitchFamily="34" charset="-120"/>
              </a:rPr>
              <a:t>Next steps</a:t>
            </a:r>
            <a:endParaRPr lang="en-US" sz="1020" dirty="0"/>
          </a:p>
        </p:txBody>
      </p:sp>
      <p:sp>
        <p:nvSpPr>
          <p:cNvPr id="21" name="Text 19"/>
          <p:cNvSpPr txBox="1"/>
          <p:nvPr/>
        </p:nvSpPr>
        <p:spPr>
          <a:xfrm>
            <a:off x="1920240" y="5504688"/>
            <a:ext cx="4590288" cy="310896"/>
          </a:xfrm>
          <a:prstGeom prst="rect">
            <a:avLst/>
          </a:prstGeom>
          <a:noFill/>
          <a:ln/>
        </p:spPr>
        <p:txBody>
          <a:bodyPr wrap="square" lIns="0" tIns="0" rIns="0" bIns="0" rtlCol="0" anchor="ctr">
            <a:normAutofit/>
          </a:bodyPr>
          <a:lstStyle/>
          <a:p>
            <a:pPr marL="0" indent="0" algn="l">
              <a:buNone/>
            </a:pPr>
            <a:r>
              <a:rPr lang="en-US" sz="990" dirty="0">
                <a:solidFill>
                  <a:srgbClr val="253246"/>
                </a:solidFill>
                <a:latin typeface="Inter" pitchFamily="34" charset="0"/>
                <a:ea typeface="Inter" pitchFamily="34" charset="-122"/>
                <a:cs typeface="Inter" pitchFamily="34" charset="-120"/>
              </a:rPr>
              <a:t>Use time-based evaluation and add deformation / gas signals where available.</a:t>
            </a:r>
            <a:endParaRPr lang="en-US" sz="990" dirty="0"/>
          </a:p>
        </p:txBody>
      </p:sp>
      <p:sp>
        <p:nvSpPr>
          <p:cNvPr id="22" name="Shape 20"/>
          <p:cNvSpPr/>
          <p:nvPr/>
        </p:nvSpPr>
        <p:spPr>
          <a:xfrm>
            <a:off x="7296912" y="1508760"/>
            <a:ext cx="4242816" cy="4553712"/>
          </a:xfrm>
          <a:prstGeom prst="roundRect">
            <a:avLst>
              <a:gd name="adj" fmla="val 3017"/>
            </a:avLst>
          </a:prstGeom>
          <a:solidFill>
            <a:srgbClr val="DDF5F1"/>
          </a:solidFill>
          <a:ln w="9525">
            <a:solidFill>
              <a:srgbClr val="DDF5F1"/>
            </a:solidFill>
            <a:prstDash val="solid"/>
          </a:ln>
        </p:spPr>
      </p:sp>
      <p:sp>
        <p:nvSpPr>
          <p:cNvPr id="23" name="Text 21"/>
          <p:cNvSpPr txBox="1"/>
          <p:nvPr/>
        </p:nvSpPr>
        <p:spPr>
          <a:xfrm>
            <a:off x="7607808" y="1764792"/>
            <a:ext cx="3017520" cy="283464"/>
          </a:xfrm>
          <a:prstGeom prst="rect">
            <a:avLst/>
          </a:prstGeom>
          <a:noFill/>
          <a:ln/>
        </p:spPr>
        <p:txBody>
          <a:bodyPr wrap="square" lIns="0" tIns="0" rIns="0" bIns="0" rtlCol="0" anchor="ctr">
            <a:normAutofit/>
          </a:bodyPr>
          <a:lstStyle/>
          <a:p>
            <a:pPr marL="0" indent="0" algn="l">
              <a:buNone/>
            </a:pPr>
            <a:r>
              <a:rPr lang="en-US" sz="1600" b="1" dirty="0">
                <a:solidFill>
                  <a:srgbClr val="101A2C"/>
                </a:solidFill>
                <a:latin typeface="Inter" pitchFamily="34" charset="0"/>
                <a:ea typeface="Inter" pitchFamily="34" charset="-122"/>
                <a:cs typeface="Inter" pitchFamily="34" charset="-120"/>
              </a:rPr>
              <a:t>Live demo flow</a:t>
            </a:r>
            <a:endParaRPr lang="en-US" sz="1600" dirty="0"/>
          </a:p>
        </p:txBody>
      </p:sp>
      <p:sp>
        <p:nvSpPr>
          <p:cNvPr id="24" name="Shape 22"/>
          <p:cNvSpPr/>
          <p:nvPr/>
        </p:nvSpPr>
        <p:spPr>
          <a:xfrm>
            <a:off x="7626096" y="2340864"/>
            <a:ext cx="320040" cy="320040"/>
          </a:xfrm>
          <a:prstGeom prst="ellipse">
            <a:avLst/>
          </a:prstGeom>
          <a:solidFill>
            <a:srgbClr val="FFFFFF"/>
          </a:solidFill>
          <a:ln w="12700">
            <a:solidFill>
              <a:srgbClr val="FFFFFF">
                <a:alpha val="0"/>
              </a:srgbClr>
            </a:solidFill>
            <a:prstDash val="solid"/>
          </a:ln>
        </p:spPr>
      </p:sp>
      <p:sp>
        <p:nvSpPr>
          <p:cNvPr id="25" name="Text 23"/>
          <p:cNvSpPr txBox="1"/>
          <p:nvPr/>
        </p:nvSpPr>
        <p:spPr>
          <a:xfrm>
            <a:off x="7626096" y="2340864"/>
            <a:ext cx="320040" cy="320040"/>
          </a:xfrm>
          <a:prstGeom prst="rect">
            <a:avLst/>
          </a:prstGeom>
          <a:noFill/>
          <a:ln/>
        </p:spPr>
        <p:txBody>
          <a:bodyPr wrap="square" lIns="0" tIns="0" rIns="0" bIns="0" rtlCol="0" anchor="ctr">
            <a:normAutofit/>
          </a:bodyPr>
          <a:lstStyle/>
          <a:p>
            <a:pPr marL="0" indent="0" algn="ctr">
              <a:buNone/>
            </a:pPr>
            <a:r>
              <a:rPr lang="en-US" sz="1000" b="1" dirty="0">
                <a:solidFill>
                  <a:srgbClr val="087F7A"/>
                </a:solidFill>
                <a:latin typeface="Inter" pitchFamily="34" charset="0"/>
                <a:ea typeface="Inter" pitchFamily="34" charset="-122"/>
                <a:cs typeface="Inter" pitchFamily="34" charset="-120"/>
              </a:rPr>
              <a:t>1</a:t>
            </a:r>
            <a:endParaRPr lang="en-US" sz="1000" dirty="0"/>
          </a:p>
        </p:txBody>
      </p:sp>
      <p:sp>
        <p:nvSpPr>
          <p:cNvPr id="26" name="Text 24"/>
          <p:cNvSpPr txBox="1"/>
          <p:nvPr/>
        </p:nvSpPr>
        <p:spPr>
          <a:xfrm>
            <a:off x="8110728" y="2331720"/>
            <a:ext cx="2862072" cy="356616"/>
          </a:xfrm>
          <a:prstGeom prst="rect">
            <a:avLst/>
          </a:prstGeom>
          <a:noFill/>
          <a:ln/>
        </p:spPr>
        <p:txBody>
          <a:bodyPr wrap="square" lIns="0" tIns="0" rIns="0" bIns="0" rtlCol="0" anchor="ctr">
            <a:normAutofit/>
          </a:bodyPr>
          <a:lstStyle/>
          <a:p>
            <a:pPr marL="0" indent="0" algn="l">
              <a:buNone/>
            </a:pPr>
            <a:r>
              <a:rPr lang="en-US" sz="1030" dirty="0">
                <a:solidFill>
                  <a:srgbClr val="253246"/>
                </a:solidFill>
                <a:latin typeface="Inter" pitchFamily="34" charset="0"/>
                <a:ea typeface="Inter" pitchFamily="34" charset="-122"/>
                <a:cs typeface="Inter" pitchFamily="34" charset="-120"/>
              </a:rPr>
              <a:t>Load the two CSV files</a:t>
            </a:r>
            <a:endParaRPr lang="en-US" sz="1030" dirty="0"/>
          </a:p>
        </p:txBody>
      </p:sp>
      <p:sp>
        <p:nvSpPr>
          <p:cNvPr id="27" name="Shape 25"/>
          <p:cNvSpPr/>
          <p:nvPr/>
        </p:nvSpPr>
        <p:spPr>
          <a:xfrm>
            <a:off x="7626096" y="3008376"/>
            <a:ext cx="320040" cy="320040"/>
          </a:xfrm>
          <a:prstGeom prst="ellipse">
            <a:avLst/>
          </a:prstGeom>
          <a:solidFill>
            <a:srgbClr val="FFFFFF"/>
          </a:solidFill>
          <a:ln w="12700">
            <a:solidFill>
              <a:srgbClr val="FFFFFF">
                <a:alpha val="0"/>
              </a:srgbClr>
            </a:solidFill>
            <a:prstDash val="solid"/>
          </a:ln>
        </p:spPr>
      </p:sp>
      <p:sp>
        <p:nvSpPr>
          <p:cNvPr id="28" name="Text 26"/>
          <p:cNvSpPr txBox="1"/>
          <p:nvPr/>
        </p:nvSpPr>
        <p:spPr>
          <a:xfrm>
            <a:off x="7626096" y="3008376"/>
            <a:ext cx="320040" cy="320040"/>
          </a:xfrm>
          <a:prstGeom prst="rect">
            <a:avLst/>
          </a:prstGeom>
          <a:noFill/>
          <a:ln/>
        </p:spPr>
        <p:txBody>
          <a:bodyPr wrap="square" lIns="0" tIns="0" rIns="0" bIns="0" rtlCol="0" anchor="ctr">
            <a:normAutofit/>
          </a:bodyPr>
          <a:lstStyle/>
          <a:p>
            <a:pPr marL="0" indent="0" algn="ctr">
              <a:buNone/>
            </a:pPr>
            <a:r>
              <a:rPr lang="en-US" sz="1000" b="1" dirty="0">
                <a:solidFill>
                  <a:srgbClr val="087F7A"/>
                </a:solidFill>
                <a:latin typeface="Inter" pitchFamily="34" charset="0"/>
                <a:ea typeface="Inter" pitchFamily="34" charset="-122"/>
                <a:cs typeface="Inter" pitchFamily="34" charset="-120"/>
              </a:rPr>
              <a:t>2</a:t>
            </a:r>
            <a:endParaRPr lang="en-US" sz="1000" dirty="0"/>
          </a:p>
        </p:txBody>
      </p:sp>
      <p:sp>
        <p:nvSpPr>
          <p:cNvPr id="29" name="Text 27"/>
          <p:cNvSpPr txBox="1"/>
          <p:nvPr/>
        </p:nvSpPr>
        <p:spPr>
          <a:xfrm>
            <a:off x="8110728" y="2999232"/>
            <a:ext cx="2862072" cy="356616"/>
          </a:xfrm>
          <a:prstGeom prst="rect">
            <a:avLst/>
          </a:prstGeom>
          <a:noFill/>
          <a:ln/>
        </p:spPr>
        <p:txBody>
          <a:bodyPr wrap="square" lIns="0" tIns="0" rIns="0" bIns="0" rtlCol="0" anchor="ctr">
            <a:normAutofit/>
          </a:bodyPr>
          <a:lstStyle/>
          <a:p>
            <a:pPr marL="0" indent="0" algn="l">
              <a:buNone/>
            </a:pPr>
            <a:r>
              <a:rPr lang="en-US" sz="1030" dirty="0">
                <a:solidFill>
                  <a:srgbClr val="253246"/>
                </a:solidFill>
                <a:latin typeface="Inter" pitchFamily="34" charset="0"/>
                <a:ea typeface="Inter" pitchFamily="34" charset="-122"/>
                <a:cs typeface="Inter" pitchFamily="34" charset="-120"/>
              </a:rPr>
              <a:t>Build labels and seven features</a:t>
            </a:r>
            <a:endParaRPr lang="en-US" sz="1030" dirty="0"/>
          </a:p>
        </p:txBody>
      </p:sp>
      <p:sp>
        <p:nvSpPr>
          <p:cNvPr id="30" name="Shape 28"/>
          <p:cNvSpPr/>
          <p:nvPr/>
        </p:nvSpPr>
        <p:spPr>
          <a:xfrm>
            <a:off x="7626096" y="3675888"/>
            <a:ext cx="320040" cy="320040"/>
          </a:xfrm>
          <a:prstGeom prst="ellipse">
            <a:avLst/>
          </a:prstGeom>
          <a:solidFill>
            <a:srgbClr val="FFFFFF"/>
          </a:solidFill>
          <a:ln w="12700">
            <a:solidFill>
              <a:srgbClr val="FFFFFF">
                <a:alpha val="0"/>
              </a:srgbClr>
            </a:solidFill>
            <a:prstDash val="solid"/>
          </a:ln>
        </p:spPr>
      </p:sp>
      <p:sp>
        <p:nvSpPr>
          <p:cNvPr id="31" name="Text 29"/>
          <p:cNvSpPr txBox="1"/>
          <p:nvPr/>
        </p:nvSpPr>
        <p:spPr>
          <a:xfrm>
            <a:off x="7626096" y="3675888"/>
            <a:ext cx="320040" cy="320040"/>
          </a:xfrm>
          <a:prstGeom prst="rect">
            <a:avLst/>
          </a:prstGeom>
          <a:noFill/>
          <a:ln/>
        </p:spPr>
        <p:txBody>
          <a:bodyPr wrap="square" lIns="0" tIns="0" rIns="0" bIns="0" rtlCol="0" anchor="ctr">
            <a:normAutofit/>
          </a:bodyPr>
          <a:lstStyle/>
          <a:p>
            <a:pPr marL="0" indent="0" algn="ctr">
              <a:buNone/>
            </a:pPr>
            <a:r>
              <a:rPr lang="en-US" sz="1000" b="1" dirty="0">
                <a:solidFill>
                  <a:srgbClr val="087F7A"/>
                </a:solidFill>
                <a:latin typeface="Inter" pitchFamily="34" charset="0"/>
                <a:ea typeface="Inter" pitchFamily="34" charset="-122"/>
                <a:cs typeface="Inter" pitchFamily="34" charset="-120"/>
              </a:rPr>
              <a:t>3</a:t>
            </a:r>
            <a:endParaRPr lang="en-US" sz="1000" dirty="0"/>
          </a:p>
        </p:txBody>
      </p:sp>
      <p:sp>
        <p:nvSpPr>
          <p:cNvPr id="32" name="Text 30"/>
          <p:cNvSpPr txBox="1"/>
          <p:nvPr/>
        </p:nvSpPr>
        <p:spPr>
          <a:xfrm>
            <a:off x="8110728" y="3666744"/>
            <a:ext cx="2862072" cy="356616"/>
          </a:xfrm>
          <a:prstGeom prst="rect">
            <a:avLst/>
          </a:prstGeom>
          <a:noFill/>
          <a:ln/>
        </p:spPr>
        <p:txBody>
          <a:bodyPr wrap="square" lIns="0" tIns="0" rIns="0" bIns="0" rtlCol="0" anchor="ctr">
            <a:normAutofit/>
          </a:bodyPr>
          <a:lstStyle/>
          <a:p>
            <a:pPr marL="0" indent="0" algn="l">
              <a:buNone/>
            </a:pPr>
            <a:r>
              <a:rPr lang="en-US" sz="1030" dirty="0">
                <a:solidFill>
                  <a:srgbClr val="253246"/>
                </a:solidFill>
                <a:latin typeface="Inter" pitchFamily="34" charset="0"/>
                <a:ea typeface="Inter" pitchFamily="34" charset="-122"/>
                <a:cs typeface="Inter" pitchFamily="34" charset="-120"/>
              </a:rPr>
              <a:t>Run the trained models</a:t>
            </a:r>
            <a:endParaRPr lang="en-US" sz="1030" dirty="0"/>
          </a:p>
        </p:txBody>
      </p:sp>
      <p:sp>
        <p:nvSpPr>
          <p:cNvPr id="33" name="Shape 31"/>
          <p:cNvSpPr/>
          <p:nvPr/>
        </p:nvSpPr>
        <p:spPr>
          <a:xfrm>
            <a:off x="7626096" y="4343400"/>
            <a:ext cx="320040" cy="320040"/>
          </a:xfrm>
          <a:prstGeom prst="ellipse">
            <a:avLst/>
          </a:prstGeom>
          <a:solidFill>
            <a:srgbClr val="FFFFFF"/>
          </a:solidFill>
          <a:ln w="12700">
            <a:solidFill>
              <a:srgbClr val="FFFFFF">
                <a:alpha val="0"/>
              </a:srgbClr>
            </a:solidFill>
            <a:prstDash val="solid"/>
          </a:ln>
        </p:spPr>
      </p:sp>
      <p:sp>
        <p:nvSpPr>
          <p:cNvPr id="34" name="Text 32"/>
          <p:cNvSpPr txBox="1"/>
          <p:nvPr/>
        </p:nvSpPr>
        <p:spPr>
          <a:xfrm>
            <a:off x="7626096" y="4343400"/>
            <a:ext cx="320040" cy="320040"/>
          </a:xfrm>
          <a:prstGeom prst="rect">
            <a:avLst/>
          </a:prstGeom>
          <a:noFill/>
          <a:ln/>
        </p:spPr>
        <p:txBody>
          <a:bodyPr wrap="square" lIns="0" tIns="0" rIns="0" bIns="0" rtlCol="0" anchor="ctr">
            <a:normAutofit/>
          </a:bodyPr>
          <a:lstStyle/>
          <a:p>
            <a:pPr marL="0" indent="0" algn="ctr">
              <a:buNone/>
            </a:pPr>
            <a:r>
              <a:rPr lang="en-US" sz="1000" b="1" dirty="0">
                <a:solidFill>
                  <a:srgbClr val="087F7A"/>
                </a:solidFill>
                <a:latin typeface="Inter" pitchFamily="34" charset="0"/>
                <a:ea typeface="Inter" pitchFamily="34" charset="-122"/>
                <a:cs typeface="Inter" pitchFamily="34" charset="-120"/>
              </a:rPr>
              <a:t>4</a:t>
            </a:r>
            <a:endParaRPr lang="en-US" sz="1000" dirty="0"/>
          </a:p>
        </p:txBody>
      </p:sp>
      <p:sp>
        <p:nvSpPr>
          <p:cNvPr id="35" name="Text 33"/>
          <p:cNvSpPr txBox="1"/>
          <p:nvPr/>
        </p:nvSpPr>
        <p:spPr>
          <a:xfrm>
            <a:off x="8110728" y="4334256"/>
            <a:ext cx="2862072" cy="356616"/>
          </a:xfrm>
          <a:prstGeom prst="rect">
            <a:avLst/>
          </a:prstGeom>
          <a:noFill/>
          <a:ln/>
        </p:spPr>
        <p:txBody>
          <a:bodyPr wrap="square" lIns="0" tIns="0" rIns="0" bIns="0" rtlCol="0" anchor="ctr">
            <a:normAutofit/>
          </a:bodyPr>
          <a:lstStyle/>
          <a:p>
            <a:pPr marL="0" indent="0" algn="l">
              <a:buNone/>
            </a:pPr>
            <a:r>
              <a:rPr lang="en-US" sz="1030" b="1" dirty="0">
                <a:solidFill>
                  <a:srgbClr val="253246"/>
                </a:solidFill>
                <a:latin typeface="Inter" pitchFamily="34" charset="0"/>
                <a:ea typeface="Inter" pitchFamily="34" charset="-122"/>
                <a:cs typeface="Inter" pitchFamily="34" charset="-120"/>
              </a:rPr>
              <a:t>Show test metrics and limitations</a:t>
            </a:r>
            <a:endParaRPr lang="en-US" sz="1030" dirty="0"/>
          </a:p>
        </p:txBody>
      </p:sp>
      <p:sp>
        <p:nvSpPr>
          <p:cNvPr id="36" name="Shape 34"/>
          <p:cNvSpPr/>
          <p:nvPr/>
        </p:nvSpPr>
        <p:spPr>
          <a:xfrm>
            <a:off x="7607808" y="5212080"/>
            <a:ext cx="3584448" cy="539496"/>
          </a:xfrm>
          <a:prstGeom prst="roundRect">
            <a:avLst>
              <a:gd name="adj" fmla="val 20339"/>
            </a:avLst>
          </a:prstGeom>
          <a:solidFill>
            <a:srgbClr val="101A2C"/>
          </a:solidFill>
          <a:ln w="1270">
            <a:solidFill>
              <a:srgbClr val="101A2C">
                <a:alpha val="0"/>
              </a:srgbClr>
            </a:solidFill>
            <a:prstDash val="solid"/>
          </a:ln>
        </p:spPr>
      </p:sp>
      <p:sp>
        <p:nvSpPr>
          <p:cNvPr id="37" name="Text 35"/>
          <p:cNvSpPr txBox="1"/>
          <p:nvPr/>
        </p:nvSpPr>
        <p:spPr>
          <a:xfrm>
            <a:off x="7799832" y="5330952"/>
            <a:ext cx="3209544" cy="283464"/>
          </a:xfrm>
          <a:prstGeom prst="rect">
            <a:avLst/>
          </a:prstGeom>
          <a:noFill/>
          <a:ln/>
        </p:spPr>
        <p:txBody>
          <a:bodyPr wrap="square" lIns="0" tIns="0" rIns="0" bIns="0" rtlCol="0" anchor="ctr">
            <a:normAutofit/>
          </a:bodyPr>
          <a:lstStyle/>
          <a:p>
            <a:pPr marL="0" indent="0" algn="ctr">
              <a:buNone/>
            </a:pPr>
            <a:r>
              <a:rPr lang="en-US" sz="930" b="1" dirty="0">
                <a:solidFill>
                  <a:srgbClr val="FFFFFF"/>
                </a:solidFill>
                <a:latin typeface="Inter" pitchFamily="34" charset="0"/>
                <a:ea typeface="Inter" pitchFamily="34" charset="-122"/>
                <a:cs typeface="Inter" pitchFamily="34" charset="-120"/>
              </a:rPr>
              <a:t>Prototype only — not an eruption alert system</a:t>
            </a:r>
            <a:endParaRPr lang="en-US" sz="930" dirty="0"/>
          </a:p>
        </p:txBody>
      </p:sp>
      <p:sp>
        <p:nvSpPr>
          <p:cNvPr id="38" name="Shape 36"/>
          <p:cNvSpPr/>
          <p:nvPr/>
        </p:nvSpPr>
        <p:spPr>
          <a:xfrm>
            <a:off x="621792" y="6419088"/>
            <a:ext cx="10945368" cy="0"/>
          </a:xfrm>
          <a:prstGeom prst="line">
            <a:avLst/>
          </a:prstGeom>
          <a:noFill/>
          <a:ln w="8255">
            <a:solidFill>
              <a:srgbClr val="DDE4ED"/>
            </a:solidFill>
            <a:prstDash val="solid"/>
            <a:headEnd type="none"/>
            <a:tailEnd type="none"/>
          </a:ln>
        </p:spPr>
      </p:sp>
      <p:sp>
        <p:nvSpPr>
          <p:cNvPr id="39" name="Text 37"/>
          <p:cNvSpPr txBox="1"/>
          <p:nvPr/>
        </p:nvSpPr>
        <p:spPr>
          <a:xfrm>
            <a:off x="640080" y="6473952"/>
            <a:ext cx="9966960" cy="164592"/>
          </a:xfrm>
          <a:prstGeom prst="rect">
            <a:avLst/>
          </a:prstGeom>
          <a:noFill/>
          <a:ln/>
        </p:spPr>
        <p:txBody>
          <a:bodyPr wrap="square" lIns="0" tIns="0" rIns="0" bIns="0" rtlCol="0" anchor="ctr">
            <a:normAutofit/>
          </a:bodyPr>
          <a:lstStyle/>
          <a:p>
            <a:pPr marL="0" indent="0" algn="l">
              <a:buNone/>
            </a:pPr>
            <a:r>
              <a:rPr lang="en-US" sz="740" dirty="0">
                <a:solidFill>
                  <a:srgbClr val="8A97AA"/>
                </a:solidFill>
                <a:latin typeface="Inter" pitchFamily="34" charset="0"/>
                <a:ea typeface="Inter" pitchFamily="34" charset="-122"/>
                <a:cs typeface="Inter" pitchFamily="34" charset="-120"/>
              </a:rPr>
              <a:t>Conclusion grounded in the supplied Colab result package and its grouped-validation experiment</a:t>
            </a:r>
            <a:endParaRPr lang="en-US" sz="740" dirty="0"/>
          </a:p>
        </p:txBody>
      </p:sp>
      <p:sp>
        <p:nvSpPr>
          <p:cNvPr id="40" name="Text 38"/>
          <p:cNvSpPr txBox="1"/>
          <p:nvPr/>
        </p:nvSpPr>
        <p:spPr>
          <a:xfrm>
            <a:off x="11109960" y="6455664"/>
            <a:ext cx="438912" cy="182880"/>
          </a:xfrm>
          <a:prstGeom prst="rect">
            <a:avLst/>
          </a:prstGeom>
          <a:noFill/>
          <a:ln/>
        </p:spPr>
        <p:txBody>
          <a:bodyPr wrap="square" lIns="0" tIns="0" rIns="0" bIns="0" rtlCol="0" anchor="ctr">
            <a:normAutofit/>
          </a:bodyPr>
          <a:lstStyle/>
          <a:p>
            <a:pPr marL="0" indent="0" algn="r">
              <a:buNone/>
            </a:pPr>
            <a:r>
              <a:rPr lang="en-US" sz="850" b="1" dirty="0">
                <a:solidFill>
                  <a:srgbClr val="65748B"/>
                </a:solidFill>
                <a:latin typeface="Inter" pitchFamily="34" charset="0"/>
                <a:ea typeface="Inter" pitchFamily="34" charset="-122"/>
                <a:cs typeface="Inter"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13232" y="621792"/>
            <a:ext cx="5760720" cy="219456"/>
          </a:xfrm>
          <a:prstGeom prst="rect">
            <a:avLst/>
          </a:prstGeom>
          <a:noFill/>
          <a:ln/>
        </p:spPr>
        <p:txBody>
          <a:bodyPr wrap="square" lIns="0" tIns="0" rIns="0" bIns="0" rtlCol="0" anchor="ctr">
            <a:normAutofit/>
          </a:bodyPr>
          <a:lstStyle/>
          <a:p>
            <a:pPr marL="0" indent="0" algn="l">
              <a:buNone/>
            </a:pPr>
            <a:r>
              <a:rPr lang="en-US" sz="900" b="1" kern="0" spc="130" dirty="0">
                <a:solidFill>
                  <a:srgbClr val="9FE4DF"/>
                </a:solidFill>
                <a:latin typeface="Inter" pitchFamily="34" charset="0"/>
                <a:ea typeface="Inter" pitchFamily="34" charset="-122"/>
                <a:cs typeface="Inter" pitchFamily="34" charset="-120"/>
              </a:rPr>
              <a:t>REFERENCES &amp; PROJECT MATERIALS</a:t>
            </a:r>
            <a:endParaRPr lang="en-US" sz="900" dirty="0"/>
          </a:p>
        </p:txBody>
      </p:sp>
      <p:sp>
        <p:nvSpPr>
          <p:cNvPr id="3" name="Text 1"/>
          <p:cNvSpPr txBox="1"/>
          <p:nvPr/>
        </p:nvSpPr>
        <p:spPr>
          <a:xfrm>
            <a:off x="713232" y="987552"/>
            <a:ext cx="7680960" cy="530352"/>
          </a:xfrm>
          <a:prstGeom prst="rect">
            <a:avLst/>
          </a:prstGeom>
          <a:noFill/>
          <a:ln/>
        </p:spPr>
        <p:txBody>
          <a:bodyPr wrap="square" lIns="0" tIns="0" rIns="0" bIns="0" rtlCol="0" anchor="ctr">
            <a:normAutofit/>
          </a:bodyPr>
          <a:lstStyle/>
          <a:p>
            <a:pPr marL="0" indent="0" algn="l">
              <a:buNone/>
            </a:pPr>
            <a:r>
              <a:rPr lang="en-US" sz="2700" b="1" dirty="0">
                <a:solidFill>
                  <a:srgbClr val="FFFFFF"/>
                </a:solidFill>
                <a:latin typeface="Inter" pitchFamily="34" charset="0"/>
                <a:ea typeface="Inter" pitchFamily="34" charset="-122"/>
                <a:cs typeface="Inter" pitchFamily="34" charset="-120"/>
              </a:rPr>
              <a:t>Sources behind this presentation</a:t>
            </a:r>
            <a:endParaRPr lang="en-US" sz="2700" dirty="0"/>
          </a:p>
        </p:txBody>
      </p:sp>
      <p:sp>
        <p:nvSpPr>
          <p:cNvPr id="4" name="Shape 2"/>
          <p:cNvSpPr/>
          <p:nvPr/>
        </p:nvSpPr>
        <p:spPr>
          <a:xfrm>
            <a:off x="731520" y="1700784"/>
            <a:ext cx="10698480" cy="0"/>
          </a:xfrm>
          <a:prstGeom prst="line">
            <a:avLst/>
          </a:prstGeom>
          <a:noFill/>
          <a:ln w="11430">
            <a:solidFill>
              <a:srgbClr val="30415A"/>
            </a:solidFill>
            <a:prstDash val="solid"/>
            <a:headEnd type="none"/>
            <a:tailEnd type="none"/>
          </a:ln>
        </p:spPr>
      </p:sp>
      <p:sp>
        <p:nvSpPr>
          <p:cNvPr id="5" name="Text 3"/>
          <p:cNvSpPr txBox="1"/>
          <p:nvPr/>
        </p:nvSpPr>
        <p:spPr>
          <a:xfrm>
            <a:off x="749808" y="2011680"/>
            <a:ext cx="1691640" cy="182880"/>
          </a:xfrm>
          <a:prstGeom prst="rect">
            <a:avLst/>
          </a:prstGeom>
          <a:noFill/>
          <a:ln/>
        </p:spPr>
        <p:txBody>
          <a:bodyPr wrap="square" lIns="0" tIns="0" rIns="0" bIns="0" rtlCol="0" anchor="ctr">
            <a:normAutofit/>
          </a:bodyPr>
          <a:lstStyle/>
          <a:p>
            <a:pPr marL="0" indent="0" algn="l">
              <a:buNone/>
            </a:pPr>
            <a:r>
              <a:rPr lang="en-US" sz="830" b="1" kern="0" spc="70" dirty="0">
                <a:solidFill>
                  <a:srgbClr val="9FE4DF"/>
                </a:solidFill>
                <a:latin typeface="Inter" pitchFamily="34" charset="0"/>
                <a:ea typeface="Inter" pitchFamily="34" charset="-122"/>
                <a:cs typeface="Inter" pitchFamily="34" charset="-120"/>
              </a:rPr>
              <a:t>RESEARCH PAPER</a:t>
            </a:r>
            <a:endParaRPr lang="en-US" sz="830" dirty="0"/>
          </a:p>
        </p:txBody>
      </p:sp>
      <p:sp>
        <p:nvSpPr>
          <p:cNvPr id="6" name="Text 4"/>
          <p:cNvSpPr txBox="1"/>
          <p:nvPr/>
        </p:nvSpPr>
        <p:spPr>
          <a:xfrm>
            <a:off x="2468880" y="1984248"/>
            <a:ext cx="8613648" cy="457200"/>
          </a:xfrm>
          <a:prstGeom prst="rect">
            <a:avLst/>
          </a:prstGeom>
          <a:noFill/>
          <a:ln/>
        </p:spPr>
        <p:txBody>
          <a:bodyPr wrap="square" lIns="0" tIns="0" rIns="0" bIns="0" rtlCol="0" anchor="t">
            <a:normAutofit/>
          </a:bodyPr>
          <a:lstStyle/>
          <a:p>
            <a:pPr marL="0" indent="0" algn="l">
              <a:buNone/>
            </a:pPr>
            <a:r>
              <a:rPr lang="en-US" sz="1010" dirty="0">
                <a:solidFill>
                  <a:srgbClr val="D7E1ED"/>
                </a:solidFill>
                <a:latin typeface="Inter" pitchFamily="34" charset="0"/>
                <a:ea typeface="Inter" pitchFamily="34" charset="-122"/>
                <a:cs typeface="Inter" pitchFamily="34" charset="-120"/>
              </a:rPr>
              <a:t>Mullet, B., Singh, A. &amp; Wong, Y. Q. “Predicting Eruptive Events at Volcanoes from Earthquake Data.” Stanford CS229, 2019.</a:t>
            </a:r>
            <a:endParaRPr lang="en-US" sz="1010" dirty="0"/>
          </a:p>
        </p:txBody>
      </p:sp>
      <p:sp>
        <p:nvSpPr>
          <p:cNvPr id="7" name="Text 5"/>
          <p:cNvSpPr txBox="1"/>
          <p:nvPr/>
        </p:nvSpPr>
        <p:spPr>
          <a:xfrm>
            <a:off x="749808" y="2724912"/>
            <a:ext cx="1691640" cy="182880"/>
          </a:xfrm>
          <a:prstGeom prst="rect">
            <a:avLst/>
          </a:prstGeom>
          <a:noFill/>
          <a:ln/>
        </p:spPr>
        <p:txBody>
          <a:bodyPr wrap="square" lIns="0" tIns="0" rIns="0" bIns="0" rtlCol="0" anchor="ctr">
            <a:normAutofit/>
          </a:bodyPr>
          <a:lstStyle/>
          <a:p>
            <a:pPr marL="0" indent="0" algn="l">
              <a:buNone/>
            </a:pPr>
            <a:r>
              <a:rPr lang="en-US" sz="830" b="1" kern="0" spc="70" dirty="0">
                <a:solidFill>
                  <a:srgbClr val="9FE4DF"/>
                </a:solidFill>
                <a:latin typeface="Inter" pitchFamily="34" charset="0"/>
                <a:ea typeface="Inter" pitchFamily="34" charset="-122"/>
                <a:cs typeface="Inter" pitchFamily="34" charset="-120"/>
              </a:rPr>
              <a:t>EARTHQUAKE CATALOGUE</a:t>
            </a:r>
            <a:endParaRPr lang="en-US" sz="830" dirty="0"/>
          </a:p>
        </p:txBody>
      </p:sp>
      <p:sp>
        <p:nvSpPr>
          <p:cNvPr id="8" name="Text 6"/>
          <p:cNvSpPr txBox="1"/>
          <p:nvPr/>
        </p:nvSpPr>
        <p:spPr>
          <a:xfrm>
            <a:off x="2468880" y="2697480"/>
            <a:ext cx="8613648" cy="457200"/>
          </a:xfrm>
          <a:prstGeom prst="rect">
            <a:avLst/>
          </a:prstGeom>
          <a:noFill/>
          <a:ln/>
        </p:spPr>
        <p:txBody>
          <a:bodyPr wrap="square" lIns="0" tIns="0" rIns="0" bIns="0" rtlCol="0" anchor="t">
            <a:normAutofit/>
          </a:bodyPr>
          <a:lstStyle/>
          <a:p>
            <a:pPr marL="0" indent="0" algn="l">
              <a:buNone/>
            </a:pPr>
            <a:r>
              <a:rPr lang="en-US" sz="1010" dirty="0">
                <a:solidFill>
                  <a:srgbClr val="D7E1ED"/>
                </a:solidFill>
                <a:latin typeface="Inter" pitchFamily="34" charset="0"/>
                <a:ea typeface="Inter" pitchFamily="34" charset="-122"/>
                <a:cs typeface="Inter" pitchFamily="34" charset="-120"/>
              </a:rPr>
              <a:t>Advanced National Seismic System (ANSS), accessed through WOVOdat; Kīlauea catalogue, 1983–1986. Dataset details in the project data card.</a:t>
            </a:r>
            <a:endParaRPr lang="en-US" sz="1010" dirty="0"/>
          </a:p>
        </p:txBody>
      </p:sp>
      <p:sp>
        <p:nvSpPr>
          <p:cNvPr id="9" name="Text 7"/>
          <p:cNvSpPr txBox="1"/>
          <p:nvPr/>
        </p:nvSpPr>
        <p:spPr>
          <a:xfrm>
            <a:off x="749808" y="3438144"/>
            <a:ext cx="1691640" cy="182880"/>
          </a:xfrm>
          <a:prstGeom prst="rect">
            <a:avLst/>
          </a:prstGeom>
          <a:noFill/>
          <a:ln/>
        </p:spPr>
        <p:txBody>
          <a:bodyPr wrap="square" lIns="0" tIns="0" rIns="0" bIns="0" rtlCol="0" anchor="ctr">
            <a:normAutofit/>
          </a:bodyPr>
          <a:lstStyle/>
          <a:p>
            <a:pPr marL="0" indent="0" algn="l">
              <a:buNone/>
            </a:pPr>
            <a:r>
              <a:rPr lang="en-US" sz="830" b="1" kern="0" spc="70" dirty="0">
                <a:solidFill>
                  <a:srgbClr val="9FE4DF"/>
                </a:solidFill>
                <a:latin typeface="Inter" pitchFamily="34" charset="0"/>
                <a:ea typeface="Inter" pitchFamily="34" charset="-122"/>
                <a:cs typeface="Inter" pitchFamily="34" charset="-120"/>
              </a:rPr>
              <a:t>ERUPTION CHRONOLOGY</a:t>
            </a:r>
            <a:endParaRPr lang="en-US" sz="830" dirty="0"/>
          </a:p>
        </p:txBody>
      </p:sp>
      <p:sp>
        <p:nvSpPr>
          <p:cNvPr id="10" name="Text 8"/>
          <p:cNvSpPr txBox="1"/>
          <p:nvPr/>
        </p:nvSpPr>
        <p:spPr>
          <a:xfrm>
            <a:off x="2468880" y="3410712"/>
            <a:ext cx="8613648" cy="457200"/>
          </a:xfrm>
          <a:prstGeom prst="rect">
            <a:avLst/>
          </a:prstGeom>
          <a:noFill/>
          <a:ln/>
        </p:spPr>
        <p:txBody>
          <a:bodyPr wrap="square" lIns="0" tIns="0" rIns="0" bIns="0" rtlCol="0" anchor="t">
            <a:normAutofit/>
          </a:bodyPr>
          <a:lstStyle/>
          <a:p>
            <a:pPr marL="0" indent="0" algn="l">
              <a:buNone/>
            </a:pPr>
            <a:r>
              <a:rPr lang="en-US" sz="1010" dirty="0">
                <a:solidFill>
                  <a:srgbClr val="D7E1ED"/>
                </a:solidFill>
                <a:latin typeface="Inter" pitchFamily="34" charset="0"/>
                <a:ea typeface="Inter" pitchFamily="34" charset="-122"/>
                <a:cs typeface="Inter" pitchFamily="34" charset="-120"/>
              </a:rPr>
              <a:t>Hawaii Center for Volcanology, Pu‘u ‘O‘o eruption episodes chronology; historical eruption starts and durations.</a:t>
            </a:r>
            <a:endParaRPr lang="en-US" sz="1010" dirty="0"/>
          </a:p>
        </p:txBody>
      </p:sp>
      <p:sp>
        <p:nvSpPr>
          <p:cNvPr id="11" name="Text 9"/>
          <p:cNvSpPr txBox="1"/>
          <p:nvPr/>
        </p:nvSpPr>
        <p:spPr>
          <a:xfrm>
            <a:off x="749808" y="4151376"/>
            <a:ext cx="1691640" cy="182880"/>
          </a:xfrm>
          <a:prstGeom prst="rect">
            <a:avLst/>
          </a:prstGeom>
          <a:noFill/>
          <a:ln/>
        </p:spPr>
        <p:txBody>
          <a:bodyPr wrap="square" lIns="0" tIns="0" rIns="0" bIns="0" rtlCol="0" anchor="ctr">
            <a:normAutofit/>
          </a:bodyPr>
          <a:lstStyle/>
          <a:p>
            <a:pPr marL="0" indent="0" algn="l">
              <a:buNone/>
            </a:pPr>
            <a:r>
              <a:rPr lang="en-US" sz="830" b="1" kern="0" spc="70" dirty="0">
                <a:solidFill>
                  <a:srgbClr val="F4C15D"/>
                </a:solidFill>
                <a:latin typeface="Inter" pitchFamily="34" charset="0"/>
                <a:ea typeface="Inter" pitchFamily="34" charset="-122"/>
                <a:cs typeface="Inter" pitchFamily="34" charset="-120"/>
              </a:rPr>
              <a:t>EXPERIMENT RESULTS</a:t>
            </a:r>
            <a:endParaRPr lang="en-US" sz="830" dirty="0"/>
          </a:p>
        </p:txBody>
      </p:sp>
      <p:sp>
        <p:nvSpPr>
          <p:cNvPr id="12" name="Text 10"/>
          <p:cNvSpPr txBox="1"/>
          <p:nvPr/>
        </p:nvSpPr>
        <p:spPr>
          <a:xfrm>
            <a:off x="2468880" y="4123944"/>
            <a:ext cx="8613648" cy="457200"/>
          </a:xfrm>
          <a:prstGeom prst="rect">
            <a:avLst/>
          </a:prstGeom>
          <a:noFill/>
          <a:ln/>
        </p:spPr>
        <p:txBody>
          <a:bodyPr wrap="square" lIns="0" tIns="0" rIns="0" bIns="0" rtlCol="0" anchor="t">
            <a:normAutofit/>
          </a:bodyPr>
          <a:lstStyle/>
          <a:p>
            <a:pPr marL="0" indent="0" algn="l">
              <a:buNone/>
            </a:pPr>
            <a:r>
              <a:rPr lang="en-US" sz="1010" dirty="0">
                <a:solidFill>
                  <a:srgbClr val="D7E1ED"/>
                </a:solidFill>
                <a:latin typeface="Inter" pitchFamily="34" charset="0"/>
                <a:ea typeface="Inter" pitchFamily="34" charset="-122"/>
                <a:cs typeface="Inter" pitchFamily="34" charset="-120"/>
              </a:rPr>
              <a:t>Supplied `notebook_results.zip` / `RESULTS.md`, identified as a Google Colab run dated 13 Oct 2026; seed 42. Results are reported as recorded, not independently reproduced here.</a:t>
            </a:r>
            <a:endParaRPr lang="en-US" sz="1010" dirty="0"/>
          </a:p>
        </p:txBody>
      </p:sp>
      <p:sp>
        <p:nvSpPr>
          <p:cNvPr id="13" name="Text 11"/>
          <p:cNvSpPr txBox="1"/>
          <p:nvPr/>
        </p:nvSpPr>
        <p:spPr>
          <a:xfrm>
            <a:off x="749808" y="4864608"/>
            <a:ext cx="1691640" cy="182880"/>
          </a:xfrm>
          <a:prstGeom prst="rect">
            <a:avLst/>
          </a:prstGeom>
          <a:noFill/>
          <a:ln/>
        </p:spPr>
        <p:txBody>
          <a:bodyPr wrap="square" lIns="0" tIns="0" rIns="0" bIns="0" rtlCol="0" anchor="ctr">
            <a:normAutofit/>
          </a:bodyPr>
          <a:lstStyle/>
          <a:p>
            <a:pPr marL="0" indent="0" algn="l">
              <a:buNone/>
            </a:pPr>
            <a:r>
              <a:rPr lang="en-US" sz="830" b="1" kern="0" spc="70" dirty="0">
                <a:solidFill>
                  <a:srgbClr val="9FE4DF"/>
                </a:solidFill>
                <a:latin typeface="Inter" pitchFamily="34" charset="0"/>
                <a:ea typeface="Inter" pitchFamily="34" charset="-122"/>
                <a:cs typeface="Inter" pitchFamily="34" charset="-120"/>
              </a:rPr>
              <a:t>PROJECT REPOSITORY</a:t>
            </a:r>
            <a:endParaRPr lang="en-US" sz="830" dirty="0"/>
          </a:p>
        </p:txBody>
      </p:sp>
      <p:sp>
        <p:nvSpPr>
          <p:cNvPr id="14" name="Text 12"/>
          <p:cNvSpPr txBox="1"/>
          <p:nvPr/>
        </p:nvSpPr>
        <p:spPr>
          <a:xfrm>
            <a:off x="2468880" y="4837176"/>
            <a:ext cx="8613648" cy="457200"/>
          </a:xfrm>
          <a:prstGeom prst="rect">
            <a:avLst/>
          </a:prstGeom>
          <a:noFill/>
          <a:ln/>
        </p:spPr>
        <p:txBody>
          <a:bodyPr wrap="square" lIns="0" tIns="0" rIns="0" bIns="0" rtlCol="0" anchor="t">
            <a:normAutofit/>
          </a:bodyPr>
          <a:lstStyle/>
          <a:p>
            <a:pPr marL="0" indent="0" algn="l">
              <a:buNone/>
            </a:pPr>
            <a:r>
              <a:rPr lang="en-US" sz="1010" dirty="0">
                <a:solidFill>
                  <a:srgbClr val="D7E1ED"/>
                </a:solidFill>
                <a:latin typeface="Inter" pitchFamily="34" charset="0"/>
                <a:ea typeface="Inter" pitchFamily="34" charset="-122"/>
                <a:cs typeface="Inter" pitchFamily="34" charset="-120"/>
              </a:rPr>
              <a:t>github.com/mohit2007malur-png/volcano-eruption-prediction</a:t>
            </a:r>
            <a:endParaRPr lang="en-US" sz="1010" dirty="0"/>
          </a:p>
        </p:txBody>
      </p:sp>
      <p:sp>
        <p:nvSpPr>
          <p:cNvPr id="15" name="Shape 13"/>
          <p:cNvSpPr/>
          <p:nvPr/>
        </p:nvSpPr>
        <p:spPr>
          <a:xfrm>
            <a:off x="749808" y="5733288"/>
            <a:ext cx="10634472" cy="0"/>
          </a:xfrm>
          <a:prstGeom prst="line">
            <a:avLst/>
          </a:prstGeom>
          <a:noFill/>
          <a:ln w="11430">
            <a:solidFill>
              <a:srgbClr val="30415A"/>
            </a:solidFill>
            <a:prstDash val="solid"/>
            <a:headEnd type="none"/>
            <a:tailEnd type="none"/>
          </a:ln>
        </p:spPr>
      </p:sp>
      <p:sp>
        <p:nvSpPr>
          <p:cNvPr id="16" name="Text 14"/>
          <p:cNvSpPr txBox="1"/>
          <p:nvPr/>
        </p:nvSpPr>
        <p:spPr>
          <a:xfrm>
            <a:off x="749808" y="5961888"/>
            <a:ext cx="2743200" cy="384048"/>
          </a:xfrm>
          <a:prstGeom prst="rect">
            <a:avLst/>
          </a:prstGeom>
          <a:noFill/>
          <a:ln/>
        </p:spPr>
        <p:txBody>
          <a:bodyPr wrap="square" lIns="0" tIns="0" rIns="0" bIns="0" rtlCol="0" anchor="ctr">
            <a:normAutofit/>
          </a:bodyPr>
          <a:lstStyle/>
          <a:p>
            <a:pPr marL="0" indent="0" algn="l">
              <a:buNone/>
            </a:pPr>
            <a:r>
              <a:rPr lang="en-US" sz="2000" b="1" dirty="0">
                <a:solidFill>
                  <a:srgbClr val="FFFFFF"/>
                </a:solidFill>
                <a:latin typeface="Inter" pitchFamily="34" charset="0"/>
                <a:ea typeface="Inter" pitchFamily="34" charset="-122"/>
                <a:cs typeface="Inter"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Machine Learning Mini-Project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Eruptive Events at Kilauea from Earthquake Data</dc:title>
  <dc:subject>Machine Learning Mini-Project: Predicting volcanic eruptive events from earthquake data</dc:subject>
  <dc:creator>OpenAI</dc:creator>
  <cp:lastModifiedBy>OpenAI</cp:lastModifiedBy>
  <cp:revision>12</cp:revision>
  <dcterms:created xsi:type="dcterms:W3CDTF">2026-10-13T06:14:35Z</dcterms:created>
  <dcterms:modified xsi:type="dcterms:W3CDTF">2026-10-13T07:20:42Z</dcterms:modified>
</cp:coreProperties>
</file>